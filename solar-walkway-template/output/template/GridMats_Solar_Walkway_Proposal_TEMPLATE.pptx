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osal" id="{811d329f-3893-2be1-fbbc-2feb05dfdf6f}">
          <p14:sldIdLst>
            <p14:sldId id="256"/>
            <p14:sldId id="257"/>
            <p14:sldId id="258"/>
          </p14:sldIdLst>
        </p14:section>
        <p14:section name="Technology" id="{d4586df5-8861-ad9a-6f4d-ea40864d9fbf}">
          <p14:sldIdLst>
            <p14:sldId id="259"/>
            <p14:sldId id="260"/>
            <p14:sldId id="261"/>
          </p14:sldIdLst>
        </p14:section>
        <p14:section name="Pilot" id="{f4986492-3c3b-1224-ac73-311b73a588d2}">
          <p14:sldIdLst>
            <p14:sldId id="262"/>
            <p14:sldId id="263"/>
            <p14:sldId id="264"/>
          </p14:sldIdLst>
        </p14:section>
        <p14:section name="Economics" id="{21e76c53-df7d-1606-d680-28ea0a606516}">
          <p14:sldIdLst>
            <p14:sldId id="265"/>
            <p14:sldId id="266"/>
            <p14:sldId id="267"/>
          </p14:sldIdLst>
        </p14:section>
        <p14:section name="Plan" id="{dcc1163d-73a6-18f6-c1c2-78c9baeb7d98}">
          <p14:sldIdLst>
            <p14:sldId id="268"/>
            <p14:sldId id="269"/>
            <p14:sldId id="270"/>
            <p14:sldId id="271"/>
          </p14:sldIdLst>
        </p14:section>
        <p14:section name="Close" id="{b3e89f62-e30b-51e5-1903-237cb65e5e43}">
          <p14:sldIdLst>
            <p14:sldId id="272"/>
          </p14:sldIdLst>
        </p14:section>
        <p14:section name="Appendix" id="{56cd68a0-3350-aac7-6eca-6224b92fe79b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Where the energy goes: base-case losses (performance ratio 73%)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C2293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Heat</c:v>
                  </c:pt>
                  <c:pt idx="1">
                    <c:v>Dust</c:v>
                  </c:pt>
                  <c:pt idx="2">
                    <c:v>Footfall shade</c:v>
                  </c:pt>
                  <c:pt idx="3">
                    <c:v>Reflection</c:v>
                  </c:pt>
                  <c:pt idx="4">
                    <c:v>Wiring, mismatch</c:v>
                  </c:pt>
                  <c:pt idx="5">
                    <c:v>Inverter</c:v>
                  </c:pt>
                  <c:pt idx="6">
                    <c:v>Availability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7.829999999999999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3.5000000000000004</c:v>
                </c:pt>
                <c:pt idx="6">
                  <c:v>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F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Pilot generation by month (kWh), 3.2 kWp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</c:v>
                </c:pt>
              </c:strCache>
            </c:strRef>
          </c:tx>
          <c:spPr>
            <a:solidFill>
              <a:srgbClr val="B8750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372.377696947681</c:v>
                </c:pt>
                <c:pt idx="1">
                  <c:v>386.169463501299</c:v>
                </c:pt>
                <c:pt idx="2">
                  <c:v>455.128296269388</c:v>
                </c:pt>
                <c:pt idx="3">
                  <c:v>433.773302896044</c:v>
                </c:pt>
                <c:pt idx="4">
                  <c:v>413.752996608535</c:v>
                </c:pt>
                <c:pt idx="5">
                  <c:v>320.324900600156</c:v>
                </c:pt>
                <c:pt idx="6">
                  <c:v>296.522980902783</c:v>
                </c:pt>
                <c:pt idx="7">
                  <c:v>317.21063073321</c:v>
                </c:pt>
                <c:pt idx="8">
                  <c:v>333.671771458496</c:v>
                </c:pt>
                <c:pt idx="9">
                  <c:v>331.002397286828</c:v>
                </c:pt>
                <c:pt idx="10">
                  <c:v>306.978029741816</c:v>
                </c:pt>
                <c:pt idx="11">
                  <c:v>337.898280563637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F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Campus rollout: cumulative net cash (₹ lakh), 1,000 m²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net cash (₹ lakh)</c:v>
                </c:pt>
              </c:strCache>
            </c:strRef>
          </c:tx>
          <c:spPr>
            <a:solidFill>
              <a:srgbClr val="2E6B3A"/>
            </a:solidFill>
            <a:ln w="38100" cap="flat">
              <a:solidFill>
                <a:srgbClr val="2E6B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6B3A"/>
              </a:solidFill>
              <a:ln w="9525" cap="flat">
                <a:solidFill>
                  <a:srgbClr val="2E6B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-188.2045</c:v>
                </c:pt>
                <c:pt idx="1">
                  <c:v>-172.02963561984402</c:v>
                </c:pt>
                <c:pt idx="2">
                  <c:v>-155.397952902302</c:v>
                </c:pt>
                <c:pt idx="3">
                  <c:v>-138.298570434578</c:v>
                </c:pt>
                <c:pt idx="4">
                  <c:v>-120.720347608623</c:v>
                </c:pt>
                <c:pt idx="5">
                  <c:v>-102.651878447104</c:v>
                </c:pt>
                <c:pt idx="6">
                  <c:v>-84.0814852823077</c:v>
                </c:pt>
                <c:pt idx="7">
                  <c:v>-64.9972122844758</c:v>
                </c:pt>
                <c:pt idx="8">
                  <c:v>-45.3868188359855</c:v>
                </c:pt>
                <c:pt idx="9">
                  <c:v>-25.2377727477022</c:v>
                </c:pt>
                <c:pt idx="10">
                  <c:v>-4.537243313746</c:v>
                </c:pt>
                <c:pt idx="11">
                  <c:v>16.7279057991771</c:v>
                </c:pt>
                <c:pt idx="12">
                  <c:v>32.1711238318199</c:v>
                </c:pt>
                <c:pt idx="13">
                  <c:v>54.6061803858504</c:v>
                </c:pt>
                <c:pt idx="14">
                  <c:v>77.6471730548478</c:v>
                </c:pt>
                <c:pt idx="15">
                  <c:v>101.308535237071</c:v>
                </c:pt>
                <c:pt idx="16">
                  <c:v>125.605044134324</c:v>
                </c:pt>
                <c:pt idx="17">
                  <c:v>150.55182894136001</c:v>
                </c:pt>
                <c:pt idx="18">
                  <c:v>176.16437923035</c:v>
                </c:pt>
                <c:pt idx="19">
                  <c:v>202.45855353507298</c:v>
                </c:pt>
                <c:pt idx="20">
                  <c:v>229.450588139585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F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F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Installed cost per kWp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per kWp</c:v>
                </c:pt>
              </c:strCache>
            </c:strRef>
          </c:tx>
          <c:spPr>
            <a:solidFill>
              <a:srgbClr val="0E2E4F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C&amp;I rooftop</c:v>
                  </c:pt>
                  <c:pt idx="1">
                    <c:v>Solar carport</c:v>
                  </c:pt>
                  <c:pt idx="2">
                    <c:v>GridMats Solar Walkway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40000</c:v>
                </c:pt>
                <c:pt idx="1">
                  <c:v>61000</c:v>
                </c:pt>
                <c:pt idx="2">
                  <c:v>125127.8125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F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idea: a 20 m² walkway on the [Client] campus that people walk on and that generates power. It is a pilot: GridMats Solar Walkway is pre-commercial, and the pilot exists to measure output, heat, grip and upkeep on [Client]'s own site before any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lines and one ask. The ask: a 20 m² pilot for which [Client] pays about ₹2.66 L ex-GST, with GridMats carrying design, 50% of the PV layer, supervision and a 12-month performance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site: the roof is already committed, walkways are open sky that is paved anyway, and a walkway is where people see it. The three chevrons are the GridMats Solar Walkway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 plus the ground beneath them. Walkable PV on top, MLP lumber that carries the wiring and lets water and air through, the patented GridMats base, and a prepared bed: compacted soil, geotextile, WMM and M-sand. The WMM is 100 mm where the soil CBR is under 8 and 50 mm otherwise, so the site soil test matters. Design basis about 160 W per square metre of walkway.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steps, then safety. Be clear that walkability, load and heat are pilot measurements; GridMats does not claim test results it does not yet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technology matters more on a walkway than on a roof: the modules lie flat, run hot and collect dust. TOPCon's lower temperature coefficient and slower degradation are worth a few percent of lifetime energy over PERC; HJT, which Reliance makes at Jamnagar, is slightly better again and is a candidate for a co-developed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pilot as drawn: four modules across, one per 500 mm grid, the cable run to an inverter and meter, then to the nearest low-voltage board. Sensor positions are indicative.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Generation follows the sun: strongest in March to May, weakest in the monsoon. The pilot will measure the real monthly figures against this curve; that comparison is the first line of the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offer: [Client] pays for the ground preparation, the base, 50% of the PV layer, the electrical work and installation; GridMats carries engineering, 50% of the PV layer, supervision and the monitoring study. Prices shown per sq ft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the two cases. The pilot is an evidence purchase, made cheaper by co-funding. The rollout case at today's prices pays back in 10.2 years and delivers power at ₹11.98/kWh against ₹9.00 from the grid, so say plainly that it is not yet a pure energy-savings case. It improves with the walkway credit, a higher tariff, volume pricing and measured yield; the pilot measures the yield.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here: per kWp, a roof is cheaper and pays back faster. The walkway is not a replacement for rooftop solar; it adds generation where the roof is full and turns a walkway budget into a generating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numbers drive everything: the landed power price at the campus and the real performance ratio of flat, walk-on modules. The bill gives the first; the pilot gives the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scorecard is the decision tool: ten measures, weighted, agreed before a single module goes down. The dashboard makes the data visible to the client's team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Indicative timing. The supply date is fixed in the purchase order once the site is ready; GridMats does not promise a fixed number of days before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rollout path. Each phase is a decision on its own, taken on measured data from the one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Credentials with the approved figures. Make the distinction explicit: customers and metrics are for the existing GridMats platform; the Solar Walkway is entering its first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site walk: name the walkway, the connection point and the facilities contact, and the pilot can be engineered within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Every value here is an editable input in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8308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20440"/>
            <a:ext cx="5029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Shape 0"/>
          <p:cNvSpPr/>
          <p:nvPr/>
        </p:nvSpPr>
        <p:spPr>
          <a:xfrm>
            <a:off x="10104120" y="256032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user/gridmats-monitor/solar-walkway-template/assets/logo_gridmats_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1691640" cy="4069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64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GRIDMATS®  |  GroundReality Enterprises Pvt. Ltd.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8778240" y="6446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www.gridmats.com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9144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Shape 0"/>
          <p:cNvSpPr/>
          <p:nvPr/>
        </p:nvSpPr>
        <p:spPr>
          <a:xfrm>
            <a:off x="10104120" y="256032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user/gridmats-monitor/solar-walkway-template/assets/logo_gridmats_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1691640" cy="4069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cept visualization of a GridMats Solar Walkway through a campu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0"/>
            <a:ext cx="6430975" cy="6858000"/>
          </a:xfrm>
          <a:prstGeom prst="rect">
            <a:avLst/>
          </a:prstGeom>
        </p:spPr>
      </p:pic>
      <p:sp>
        <p:nvSpPr>
          <p:cNvPr id="3" name="logo-box"/>
          <p:cNvSpPr/>
          <p:nvPr/>
        </p:nvSpPr>
        <p:spPr>
          <a:xfrm>
            <a:off x="10104120" y="256032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1" descr="GridMats Solar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29184"/>
            <a:ext cx="1691640" cy="406908"/>
          </a:xfrm>
          <a:prstGeom prst="rect">
            <a:avLst/>
          </a:prstGeom>
        </p:spPr>
      </p:pic>
      <p:sp>
        <p:nvSpPr>
          <p:cNvPr id="5" name="pill"/>
          <p:cNvSpPr/>
          <p:nvPr/>
        </p:nvSpPr>
        <p:spPr>
          <a:xfrm>
            <a:off x="548640" y="1097280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097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PILOT PROPOSAL  ·  [CLIENT]</a:t>
            </a:r>
            <a:endParaRPr lang="en-US" sz="1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783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GridMats® Solar Walkway</a:t>
            </a:r>
            <a:endParaRPr lang="en-US" sz="40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3520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pilot walkway that generates power on your campus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92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Prepared for [Client legal entity]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[Campus or site name], [City, State]  ·  [Month Year]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172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GroundReality Enterprises Pvt. Ltd., Bengaluru  ·  Indian Patent 398992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058400" y="6492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bg1"/>
                </a:solidFill>
              </a:rPr>
              <a:t>Concept 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proposal on one page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20 m² generating walkway on the [Client] campus, measured for 3 months before any rollout decision.</a:t>
            </a:r>
            <a:endParaRPr lang="en-US" sz="1500" dirty="0"/>
          </a:p>
        </p:txBody>
      </p:sp>
      <p:sp>
        <p:nvSpPr>
          <p:cNvPr id="4" name="badge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276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5681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 m² GridMats Solar Walkway: 80 walkable 40 W modules on a recycled-plastic GridMats base, 3.2 kWp in all.</a:t>
            </a:r>
            <a:endParaRPr lang="en-US" sz="1400" dirty="0"/>
          </a:p>
        </p:txBody>
      </p:sp>
      <p:sp>
        <p:nvSpPr>
          <p:cNvPr id="8" name="badge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249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5409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About 4,300 kWh a year (11.8 kWh a day on average), metered and sensed from day one.</a:t>
            </a:r>
            <a:endParaRPr lang="en-US" sz="1400" dirty="0"/>
          </a:p>
        </p:txBody>
      </p:sp>
      <p:sp>
        <p:nvSpPr>
          <p:cNvPr id="12" name="badge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22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15137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[Client] pays ₹2.66 L ex-GST (₹1,234/sq ft). GridMats contributes ₹4.14 L: design, 50% of the PV layer, supervision, IoT study.</a:t>
            </a:r>
            <a:endParaRPr lang="en-US" sz="1400" dirty="0"/>
          </a:p>
        </p:txBody>
      </p:sp>
      <p:sp>
        <p:nvSpPr>
          <p:cNvPr id="16" name="badge"/>
          <p:cNvSpPr/>
          <p:nvPr/>
        </p:nvSpPr>
        <p:spPr>
          <a:xfrm>
            <a:off x="548640" y="493776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1947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Decision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4865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3-month evaluation against an agreed scorecard, monitoring for 12 months. At campus scale (1,000 m²) the model shows a 10.2-year payback at today's prices.</a:t>
            </a:r>
            <a:endParaRPr lang="en-US" sz="1400" dirty="0"/>
          </a:p>
        </p:txBody>
      </p:sp>
      <p:sp>
        <p:nvSpPr>
          <p:cNvPr id="20" name="glance-card"/>
          <p:cNvSpPr/>
          <p:nvPr/>
        </p:nvSpPr>
        <p:spPr>
          <a:xfrm>
            <a:off x="7635240" y="1645920"/>
            <a:ext cx="4005072" cy="4206240"/>
          </a:xfrm>
          <a:prstGeom prst="roundRect">
            <a:avLst>
              <a:gd name="adj" fmla="val 182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THE PILOT AT A GLANCE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3.2 kWp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880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on 20 m² (80 modules)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4,300 kWh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738360" y="2880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year, estimated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₹2.66 L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572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[Client] pays, ex-GST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7.6 years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4572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payback on [Client]'s outlay</a:t>
            </a:r>
            <a:endParaRPr lang="en-US" sz="1200" dirty="0"/>
          </a:p>
        </p:txBody>
      </p:sp>
      <p:sp>
        <p:nvSpPr>
          <p:cNvPr id="30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All figures from the companion model (base case). Money ex-GST. The GridMats Solar Walkway is pre-commercial; yield, life and upkeep are estimates the pilot measures.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a walkway at [Client]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Every paved surface can do more: use it, build it from recycled plastic, and make power on it.</a:t>
            </a:r>
            <a:endParaRPr lang="en-US" sz="1500" dirty="0"/>
          </a:p>
        </p:txBody>
      </p:sp>
      <p:sp>
        <p:nvSpPr>
          <p:cNvPr id="4" name="why-card"/>
          <p:cNvSpPr/>
          <p:nvPr/>
        </p:nvSpPr>
        <p:spPr>
          <a:xfrm>
            <a:off x="548640" y="164592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icon-badge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mage 0" descr="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802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470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Roofs are already busy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128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Roofs carry plant, tanks and access; walkways are open sky that is paved anyway.</a:t>
            </a:r>
            <a:endParaRPr lang="en-US" sz="1300" dirty="0"/>
          </a:p>
        </p:txBody>
      </p:sp>
      <p:sp>
        <p:nvSpPr>
          <p:cNvPr id="9" name="why-card"/>
          <p:cNvSpPr/>
          <p:nvPr/>
        </p:nvSpPr>
        <p:spPr>
          <a:xfrm>
            <a:off x="6172200" y="164592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icon-badge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0802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8470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visible proof point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2128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People walk on the power plant every day: sustainability goals made tangible.</a:t>
            </a:r>
            <a:endParaRPr lang="en-US" sz="1300" dirty="0"/>
          </a:p>
        </p:txBody>
      </p:sp>
      <p:sp>
        <p:nvSpPr>
          <p:cNvPr id="14" name="why-card"/>
          <p:cNvSpPr/>
          <p:nvPr/>
        </p:nvSpPr>
        <p:spPr>
          <a:xfrm>
            <a:off x="54864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5" name="icon-badge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Microc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6804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4472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Measured and connected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8130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tile is metered and sensed, with a live dashboard.</a:t>
            </a:r>
            <a:endParaRPr lang="en-US" sz="1300" dirty="0"/>
          </a:p>
        </p:txBody>
      </p:sp>
      <p:sp>
        <p:nvSpPr>
          <p:cNvPr id="19" name="why-card"/>
          <p:cNvSpPr/>
          <p:nvPr/>
        </p:nvSpPr>
        <p:spPr>
          <a:xfrm>
            <a:off x="617220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0" name="icon-badge"/>
          <p:cNvSpPr/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Image 3" descr="ShoePri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36804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4472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Small, safe first step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38130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pilot of 20-25 m², low-voltage DC, built in days; decide on rollout with measured data.</a:t>
            </a:r>
            <a:endParaRPr lang="en-US" sz="1300" dirty="0"/>
          </a:p>
        </p:txBody>
      </p:sp>
      <p:sp>
        <p:nvSpPr>
          <p:cNvPr id="24" name="chevron"/>
          <p:cNvSpPr/>
          <p:nvPr/>
        </p:nvSpPr>
        <p:spPr>
          <a:xfrm>
            <a:off x="548640" y="5029200"/>
            <a:ext cx="3566160" cy="685800"/>
          </a:xfrm>
          <a:prstGeom prst="chevron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USE EXISTING SURFACES</a:t>
            </a:r>
            <a:endParaRPr lang="en-US" sz="1300" dirty="0"/>
          </a:p>
        </p:txBody>
      </p:sp>
      <p:sp>
        <p:nvSpPr>
          <p:cNvPr id="26" name="chevron"/>
          <p:cNvSpPr/>
          <p:nvPr/>
        </p:nvSpPr>
        <p:spPr>
          <a:xfrm>
            <a:off x="4297680" y="5029200"/>
            <a:ext cx="3566160" cy="685800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66344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RECYCLE INTO STRUCTURE</a:t>
            </a:r>
            <a:endParaRPr lang="en-US" sz="1300" dirty="0"/>
          </a:p>
        </p:txBody>
      </p:sp>
      <p:sp>
        <p:nvSpPr>
          <p:cNvPr id="28" name="chevron"/>
          <p:cNvSpPr/>
          <p:nvPr/>
        </p:nvSpPr>
        <p:spPr>
          <a:xfrm>
            <a:off x="8046720" y="5029200"/>
            <a:ext cx="3566160" cy="685800"/>
          </a:xfrm>
          <a:prstGeom prst="chevron">
            <a:avLst/>
          </a:prstGeom>
          <a:solidFill>
            <a:srgbClr val="E7F0E8"/>
          </a:solidFill>
          <a:ln w="12700">
            <a:solidFill>
              <a:srgbClr val="E7F0E8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41248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GENERATE CLEAN ENERGY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it is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modular surface that carries people and produces electricity.</a:t>
            </a:r>
            <a:endParaRPr lang="en-US" sz="1500" dirty="0"/>
          </a:p>
        </p:txBody>
      </p:sp>
      <p:pic>
        <p:nvPicPr>
          <p:cNvPr id="4" name="Image 0" descr="Exploded view: PV module, MLP lumber, GridMats base on prepared grou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76072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9204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Concept visualization</a:t>
            </a:r>
            <a:endParaRPr lang="en-US" sz="1000" dirty="0"/>
          </a:p>
        </p:txBody>
      </p:sp>
      <p:sp>
        <p:nvSpPr>
          <p:cNvPr id="6" name="layer-card"/>
          <p:cNvSpPr/>
          <p:nvPr/>
        </p:nvSpPr>
        <p:spPr>
          <a:xfrm>
            <a:off x="6583680" y="1600200"/>
            <a:ext cx="5056632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" name="badge"/>
          <p:cNvSpPr/>
          <p:nvPr/>
        </p:nvSpPr>
        <p:spPr>
          <a:xfrm>
            <a:off x="6748272" y="1764792"/>
            <a:ext cx="493776" cy="49377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48272" y="1764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PV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6642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Walkable photovoltaic layer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192024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 mm toughened glass over a 40 W module; modular, so one module can be replaced without lifting the walkway.</a:t>
            </a:r>
            <a:endParaRPr lang="en-US" sz="1100" dirty="0"/>
          </a:p>
        </p:txBody>
      </p:sp>
      <p:sp>
        <p:nvSpPr>
          <p:cNvPr id="11" name="layer-card"/>
          <p:cNvSpPr/>
          <p:nvPr/>
        </p:nvSpPr>
        <p:spPr>
          <a:xfrm>
            <a:off x="6583680" y="2505456"/>
            <a:ext cx="5056632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6748272" y="2670048"/>
            <a:ext cx="493776" cy="493776"/>
          </a:xfrm>
          <a:prstGeom prst="ellipse">
            <a:avLst/>
          </a:prstGeom>
          <a:solidFill>
            <a:srgbClr val="B87503"/>
          </a:solidFill>
          <a:ln w="12700">
            <a:solidFill>
              <a:srgbClr val="B8750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48272" y="2670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5694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MLP lumber electrical layer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28254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40 × 40 mm recycled MLP lumber carries the wiring, with about 50 mm open gaps for airflow and drainage.</a:t>
            </a:r>
            <a:endParaRPr lang="en-US" sz="1100" dirty="0"/>
          </a:p>
        </p:txBody>
      </p:sp>
      <p:sp>
        <p:nvSpPr>
          <p:cNvPr id="16" name="layer-card"/>
          <p:cNvSpPr/>
          <p:nvPr/>
        </p:nvSpPr>
        <p:spPr>
          <a:xfrm>
            <a:off x="6583680" y="3410712"/>
            <a:ext cx="5056632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748272" y="3575304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48272" y="3575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GM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34747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Patented GridMats structural base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373075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100% recycled polypropylene grid (500 × 500 mm, 4 per m²) gives confinement, stability and a level bed.</a:t>
            </a:r>
            <a:endParaRPr lang="en-US" sz="1100" dirty="0"/>
          </a:p>
        </p:txBody>
      </p:sp>
      <p:sp>
        <p:nvSpPr>
          <p:cNvPr id="21" name="layer-card"/>
          <p:cNvSpPr/>
          <p:nvPr/>
        </p:nvSpPr>
        <p:spPr>
          <a:xfrm>
            <a:off x="6583680" y="4315968"/>
            <a:ext cx="5056632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6748272" y="4480560"/>
            <a:ext cx="493776" cy="49377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48272" y="4480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437997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 Prepared ground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463600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Well-compacted subgrade, geotextile fabric, 100 mm wet mix macadam and 20 mm M-sand bedding (soil CBR under 8).</a:t>
            </a:r>
            <a:endParaRPr lang="en-US" sz="1100" dirty="0"/>
          </a:p>
        </p:txBody>
      </p:sp>
      <p:sp>
        <p:nvSpPr>
          <p:cNvPr id="26" name="basis-card"/>
          <p:cNvSpPr/>
          <p:nvPr/>
        </p:nvSpPr>
        <p:spPr>
          <a:xfrm>
            <a:off x="548640" y="525780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7F0E8"/>
          </a:solidFill>
          <a:ln w="9525">
            <a:solidFill>
              <a:srgbClr val="E7F0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2578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Design basis:  40 W per 550 × 400 mm module  ·  4 modules per m²  ·  about 160 W per m² of walkway  ·  15-16% surface efficiency  ·  no extra land or mounting</a:t>
            </a:r>
            <a:endParaRPr lang="en-US" sz="1400" dirty="0"/>
          </a:p>
        </p:txBody>
      </p:sp>
      <p:sp>
        <p:nvSpPr>
          <p:cNvPr id="28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GridMats Solar Walkway flier (6 Oct 2026) and Client/Partner Deck v2. Status: pre-commercial; pilot validation under way.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works, and how it stays safe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proven GridMats platform extended into distributed energy; safety is designed in and verified in the pilot.</a:t>
            </a:r>
            <a:endParaRPr lang="en-US" sz="1500" dirty="0"/>
          </a:p>
        </p:txBody>
      </p:sp>
      <p:sp>
        <p:nvSpPr>
          <p:cNvPr id="4" name="badge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Capture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385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Walkable PV modules harvest sunlight on a surface already in use.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48640" y="2670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517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626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Low-voltage DC wiring runs inside the MLP lumber, out of sight and out of the way.</a:t>
            </a:r>
            <a:endParaRPr lang="en-US" sz="1300" dirty="0"/>
          </a:p>
        </p:txBody>
      </p:sp>
      <p:sp>
        <p:nvSpPr>
          <p:cNvPr id="12" name="badge"/>
          <p:cNvSpPr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75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867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 inverter feeds the campus low-voltage board, behind the meter.</a:t>
            </a:r>
            <a:endParaRPr lang="en-US" sz="1300" dirty="0"/>
          </a:p>
        </p:txBody>
      </p:sp>
      <p:sp>
        <p:nvSpPr>
          <p:cNvPr id="16" name="badge"/>
          <p:cNvSpPr/>
          <p:nvPr/>
        </p:nvSpPr>
        <p:spPr>
          <a:xfrm>
            <a:off x="548640" y="47183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18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7000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 and measure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109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kWh is metered; sensors log module heat, moisture and uptime.</a:t>
            </a:r>
            <a:endParaRPr lang="en-US" sz="1300" dirty="0"/>
          </a:p>
        </p:txBody>
      </p:sp>
      <p:sp>
        <p:nvSpPr>
          <p:cNvPr id="20" name="safety-card"/>
          <p:cNvSpPr/>
          <p:nvPr/>
        </p:nvSpPr>
        <p:spPr>
          <a:xfrm>
            <a:off x="6355080" y="1645920"/>
            <a:ext cx="5285232" cy="4160520"/>
          </a:xfrm>
          <a:prstGeom prst="roundRect">
            <a:avLst>
              <a:gd name="adj" fmla="val 175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1" name="icon-badge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0" descr="Shiel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96596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2694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Safety by design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256032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Textured toughened glass: target R11 or wet PTV ≥ 36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Load target 4 kN/m² and 4.5 kN point load (IS 875 Part 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Extra-low-voltage DC strings; IP68 junction boxes at grade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BIS-registered modules (IS 14286, IS/IEC 61730)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50 mm gaps drain and cool; edge ramps; one-module repairs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2B33D"/>
                </a:solidFill>
              </a:rPr>
              <a:t>Tested at handover and through the pilot; no result is claimed until it is measured.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 on the latest TOPCon cells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n-type TOPCon runs cooler and ages slower than PERC, which matters on a hot, flat walkway.</a:t>
            </a:r>
            <a:endParaRPr lang="en-US" sz="1500" dirty="0"/>
          </a:p>
        </p:txBody>
      </p:sp>
      <p:sp>
        <p:nvSpPr>
          <p:cNvPr id="4" name="tech-card"/>
          <p:cNvSpPr/>
          <p:nvPr/>
        </p:nvSpPr>
        <p:spPr>
          <a:xfrm>
            <a:off x="54864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stat-value"/>
          <p:cNvSpPr txBox="1"/>
          <p:nvPr/>
        </p:nvSpPr>
        <p:spPr>
          <a:xfrm>
            <a:off x="731520" y="1737360"/>
            <a:ext cx="228600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25.6-26%</a:t>
            </a:r>
            <a:endParaRPr lang="en-US" sz="2400" dirty="0"/>
          </a:p>
        </p:txBody>
      </p:sp>
      <p:sp>
        <p:nvSpPr>
          <p:cNvPr id="6" name="stat-label"/>
          <p:cNvSpPr txBox="1"/>
          <p:nvPr/>
        </p:nvSpPr>
        <p:spPr>
          <a:xfrm>
            <a:off x="731520" y="21705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TOPCon cell efficiency in mass production (2026)</a:t>
            </a:r>
            <a:endParaRPr lang="en-US" sz="1300" dirty="0"/>
          </a:p>
        </p:txBody>
      </p:sp>
      <p:sp>
        <p:nvSpPr>
          <p:cNvPr id="7" name="tech-card"/>
          <p:cNvSpPr/>
          <p:nvPr/>
        </p:nvSpPr>
        <p:spPr>
          <a:xfrm>
            <a:off x="329184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tat-value"/>
          <p:cNvSpPr txBox="1"/>
          <p:nvPr/>
        </p:nvSpPr>
        <p:spPr>
          <a:xfrm>
            <a:off x="3474720" y="1737360"/>
            <a:ext cx="228600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26.66%</a:t>
            </a:r>
            <a:endParaRPr lang="en-US" sz="2400" dirty="0"/>
          </a:p>
        </p:txBody>
      </p:sp>
      <p:sp>
        <p:nvSpPr>
          <p:cNvPr id="9" name="stat-label"/>
          <p:cNvSpPr txBox="1"/>
          <p:nvPr/>
        </p:nvSpPr>
        <p:spPr>
          <a:xfrm>
            <a:off x="3474720" y="21705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record industrial TOPCon cell, M10 wafer (Feb 2026)</a:t>
            </a:r>
            <a:endParaRPr lang="en-US" sz="1300" dirty="0"/>
          </a:p>
        </p:txBody>
      </p:sp>
      <p:sp>
        <p:nvSpPr>
          <p:cNvPr id="10" name="tech-card"/>
          <p:cNvSpPr/>
          <p:nvPr/>
        </p:nvSpPr>
        <p:spPr>
          <a:xfrm>
            <a:off x="548640" y="306324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" name="stat-value"/>
          <p:cNvSpPr txBox="1"/>
          <p:nvPr/>
        </p:nvSpPr>
        <p:spPr>
          <a:xfrm>
            <a:off x="731520" y="3200400"/>
            <a:ext cx="228600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B87503"/>
                </a:solidFill>
              </a:rPr>
              <a:t>−0.29%/°C</a:t>
            </a:r>
            <a:endParaRPr lang="en-US" sz="2400" dirty="0"/>
          </a:p>
        </p:txBody>
      </p:sp>
      <p:sp>
        <p:nvSpPr>
          <p:cNvPr id="12" name="stat-label"/>
          <p:cNvSpPr txBox="1"/>
          <p:nvPr/>
        </p:nvSpPr>
        <p:spPr>
          <a:xfrm>
            <a:off x="731520" y="36336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power loss per degree, against −0.35%/°C for PERC</a:t>
            </a:r>
            <a:endParaRPr lang="en-US" sz="1300" dirty="0"/>
          </a:p>
        </p:txBody>
      </p:sp>
      <p:sp>
        <p:nvSpPr>
          <p:cNvPr id="13" name="tech-card"/>
          <p:cNvSpPr/>
          <p:nvPr/>
        </p:nvSpPr>
        <p:spPr>
          <a:xfrm>
            <a:off x="3291840" y="306324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stat-value"/>
          <p:cNvSpPr txBox="1"/>
          <p:nvPr/>
        </p:nvSpPr>
        <p:spPr>
          <a:xfrm>
            <a:off x="3474720" y="3200400"/>
            <a:ext cx="228600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1% + 0.4%/yr</a:t>
            </a:r>
            <a:endParaRPr lang="en-US" sz="2400" dirty="0"/>
          </a:p>
        </p:txBody>
      </p:sp>
      <p:sp>
        <p:nvSpPr>
          <p:cNvPr id="15" name="stat-label"/>
          <p:cNvSpPr txBox="1"/>
          <p:nvPr/>
        </p:nvSpPr>
        <p:spPr>
          <a:xfrm>
            <a:off x="3474720" y="36336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degradation: first year, then each year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188720"/>
                <a:gridCol w="118872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4 kWp pilot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20-yr MWh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W/m² (derived)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 PERC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2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TOPCon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HJT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Chart 0" descr=""/>
          <p:cNvGraphicFramePr/>
          <p:nvPr/>
        </p:nvGraphicFramePr>
        <p:xfrm>
          <a:off x="6263640" y="1600200"/>
          <a:ext cx="5376672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263640" y="534924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TOPCon generates 3.8% more than PERC over 20 years on this walkway. Rated on the 40 W design basis; a TOPCon-derived rating of about 176 W/m² is the upgrade path, to be validated.</a:t>
            </a:r>
            <a:endParaRPr lang="en-US" sz="12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10819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pv-magazine (25 Feb 2026); taiyangnews; Canadian Solar TOPHiKu6 and Jinko Tiger Neo datasheets; JMK Research (Apr 2026). Losses are model assumptions the pilot measures.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pilot on the [Client] campus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[Campus or site name]: 10.0 m × 2.0 m of walkway, 80 modules, behind the meter.</a:t>
            </a:r>
            <a:endParaRPr lang="en-US" sz="1500" dirty="0"/>
          </a:p>
        </p:txBody>
      </p:sp>
      <p:sp>
        <p:nvSpPr>
          <p:cNvPr id="4" name="walkway-edge"/>
          <p:cNvSpPr/>
          <p:nvPr/>
        </p:nvSpPr>
        <p:spPr>
          <a:xfrm>
            <a:off x="658368" y="2121408"/>
            <a:ext cx="6729984" cy="1463040"/>
          </a:xfrm>
          <a:prstGeom prst="rect">
            <a:avLst/>
          </a:prstGeom>
          <a:solidFill>
            <a:srgbClr val="D9D4C7"/>
          </a:solidFill>
          <a:ln w="9525">
            <a:solidFill>
              <a:srgbClr val="B8B1A3"/>
            </a:solidFill>
            <a:prstDash val="solid"/>
          </a:ln>
        </p:spPr>
      </p:sp>
      <p:sp>
        <p:nvSpPr>
          <p:cNvPr id="5" name="module"/>
          <p:cNvSpPr/>
          <p:nvPr/>
        </p:nvSpPr>
        <p:spPr>
          <a:xfrm>
            <a:off x="751271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" name="module"/>
          <p:cNvSpPr/>
          <p:nvPr/>
        </p:nvSpPr>
        <p:spPr>
          <a:xfrm>
            <a:off x="751271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" name="module"/>
          <p:cNvSpPr/>
          <p:nvPr/>
        </p:nvSpPr>
        <p:spPr>
          <a:xfrm>
            <a:off x="751271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" name="module"/>
          <p:cNvSpPr/>
          <p:nvPr/>
        </p:nvSpPr>
        <p:spPr>
          <a:xfrm>
            <a:off x="751271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" name="module"/>
          <p:cNvSpPr/>
          <p:nvPr/>
        </p:nvSpPr>
        <p:spPr>
          <a:xfrm>
            <a:off x="1080455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0" name="module"/>
          <p:cNvSpPr/>
          <p:nvPr/>
        </p:nvSpPr>
        <p:spPr>
          <a:xfrm>
            <a:off x="1080455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1" name="module"/>
          <p:cNvSpPr/>
          <p:nvPr/>
        </p:nvSpPr>
        <p:spPr>
          <a:xfrm>
            <a:off x="1080455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2" name="module"/>
          <p:cNvSpPr/>
          <p:nvPr/>
        </p:nvSpPr>
        <p:spPr>
          <a:xfrm>
            <a:off x="1080455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3" name="module"/>
          <p:cNvSpPr/>
          <p:nvPr/>
        </p:nvSpPr>
        <p:spPr>
          <a:xfrm>
            <a:off x="1409639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4" name="module"/>
          <p:cNvSpPr/>
          <p:nvPr/>
        </p:nvSpPr>
        <p:spPr>
          <a:xfrm>
            <a:off x="1409639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5" name="module"/>
          <p:cNvSpPr/>
          <p:nvPr/>
        </p:nvSpPr>
        <p:spPr>
          <a:xfrm>
            <a:off x="1409639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6" name="module"/>
          <p:cNvSpPr/>
          <p:nvPr/>
        </p:nvSpPr>
        <p:spPr>
          <a:xfrm>
            <a:off x="1409639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7" name="module"/>
          <p:cNvSpPr/>
          <p:nvPr/>
        </p:nvSpPr>
        <p:spPr>
          <a:xfrm>
            <a:off x="1738823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8" name="module"/>
          <p:cNvSpPr/>
          <p:nvPr/>
        </p:nvSpPr>
        <p:spPr>
          <a:xfrm>
            <a:off x="1738823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9" name="module"/>
          <p:cNvSpPr/>
          <p:nvPr/>
        </p:nvSpPr>
        <p:spPr>
          <a:xfrm>
            <a:off x="1738823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0" name="module"/>
          <p:cNvSpPr/>
          <p:nvPr/>
        </p:nvSpPr>
        <p:spPr>
          <a:xfrm>
            <a:off x="1738823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1" name="module"/>
          <p:cNvSpPr/>
          <p:nvPr/>
        </p:nvSpPr>
        <p:spPr>
          <a:xfrm>
            <a:off x="2068007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2" name="module"/>
          <p:cNvSpPr/>
          <p:nvPr/>
        </p:nvSpPr>
        <p:spPr>
          <a:xfrm>
            <a:off x="2068007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3" name="module"/>
          <p:cNvSpPr/>
          <p:nvPr/>
        </p:nvSpPr>
        <p:spPr>
          <a:xfrm>
            <a:off x="2068007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4" name="module"/>
          <p:cNvSpPr/>
          <p:nvPr/>
        </p:nvSpPr>
        <p:spPr>
          <a:xfrm>
            <a:off x="2068007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5" name="module"/>
          <p:cNvSpPr/>
          <p:nvPr/>
        </p:nvSpPr>
        <p:spPr>
          <a:xfrm>
            <a:off x="2397191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6" name="module"/>
          <p:cNvSpPr/>
          <p:nvPr/>
        </p:nvSpPr>
        <p:spPr>
          <a:xfrm>
            <a:off x="2397191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7" name="module"/>
          <p:cNvSpPr/>
          <p:nvPr/>
        </p:nvSpPr>
        <p:spPr>
          <a:xfrm>
            <a:off x="2397191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8" name="module"/>
          <p:cNvSpPr/>
          <p:nvPr/>
        </p:nvSpPr>
        <p:spPr>
          <a:xfrm>
            <a:off x="2397191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9" name="module"/>
          <p:cNvSpPr/>
          <p:nvPr/>
        </p:nvSpPr>
        <p:spPr>
          <a:xfrm>
            <a:off x="2726375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0" name="module"/>
          <p:cNvSpPr/>
          <p:nvPr/>
        </p:nvSpPr>
        <p:spPr>
          <a:xfrm>
            <a:off x="2726375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1" name="module"/>
          <p:cNvSpPr/>
          <p:nvPr/>
        </p:nvSpPr>
        <p:spPr>
          <a:xfrm>
            <a:off x="2726375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2" name="module"/>
          <p:cNvSpPr/>
          <p:nvPr/>
        </p:nvSpPr>
        <p:spPr>
          <a:xfrm>
            <a:off x="2726375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3" name="module"/>
          <p:cNvSpPr/>
          <p:nvPr/>
        </p:nvSpPr>
        <p:spPr>
          <a:xfrm>
            <a:off x="3055559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4" name="module"/>
          <p:cNvSpPr/>
          <p:nvPr/>
        </p:nvSpPr>
        <p:spPr>
          <a:xfrm>
            <a:off x="3055559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5" name="module"/>
          <p:cNvSpPr/>
          <p:nvPr/>
        </p:nvSpPr>
        <p:spPr>
          <a:xfrm>
            <a:off x="3055559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6" name="module"/>
          <p:cNvSpPr/>
          <p:nvPr/>
        </p:nvSpPr>
        <p:spPr>
          <a:xfrm>
            <a:off x="3055559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7" name="module"/>
          <p:cNvSpPr/>
          <p:nvPr/>
        </p:nvSpPr>
        <p:spPr>
          <a:xfrm>
            <a:off x="3384743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8" name="module"/>
          <p:cNvSpPr/>
          <p:nvPr/>
        </p:nvSpPr>
        <p:spPr>
          <a:xfrm>
            <a:off x="3384743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9" name="module"/>
          <p:cNvSpPr/>
          <p:nvPr/>
        </p:nvSpPr>
        <p:spPr>
          <a:xfrm>
            <a:off x="3384743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0" name="module"/>
          <p:cNvSpPr/>
          <p:nvPr/>
        </p:nvSpPr>
        <p:spPr>
          <a:xfrm>
            <a:off x="3384743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1" name="module"/>
          <p:cNvSpPr/>
          <p:nvPr/>
        </p:nvSpPr>
        <p:spPr>
          <a:xfrm>
            <a:off x="3713927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2" name="module"/>
          <p:cNvSpPr/>
          <p:nvPr/>
        </p:nvSpPr>
        <p:spPr>
          <a:xfrm>
            <a:off x="3713927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3" name="module"/>
          <p:cNvSpPr/>
          <p:nvPr/>
        </p:nvSpPr>
        <p:spPr>
          <a:xfrm>
            <a:off x="3713927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4" name="module"/>
          <p:cNvSpPr/>
          <p:nvPr/>
        </p:nvSpPr>
        <p:spPr>
          <a:xfrm>
            <a:off x="3713927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5" name="module"/>
          <p:cNvSpPr/>
          <p:nvPr/>
        </p:nvSpPr>
        <p:spPr>
          <a:xfrm>
            <a:off x="4043111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6" name="module"/>
          <p:cNvSpPr/>
          <p:nvPr/>
        </p:nvSpPr>
        <p:spPr>
          <a:xfrm>
            <a:off x="4043111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7" name="module"/>
          <p:cNvSpPr/>
          <p:nvPr/>
        </p:nvSpPr>
        <p:spPr>
          <a:xfrm>
            <a:off x="4043111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8" name="module"/>
          <p:cNvSpPr/>
          <p:nvPr/>
        </p:nvSpPr>
        <p:spPr>
          <a:xfrm>
            <a:off x="4043111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9" name="module"/>
          <p:cNvSpPr/>
          <p:nvPr/>
        </p:nvSpPr>
        <p:spPr>
          <a:xfrm>
            <a:off x="4372295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0" name="module"/>
          <p:cNvSpPr/>
          <p:nvPr/>
        </p:nvSpPr>
        <p:spPr>
          <a:xfrm>
            <a:off x="4372295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1" name="module"/>
          <p:cNvSpPr/>
          <p:nvPr/>
        </p:nvSpPr>
        <p:spPr>
          <a:xfrm>
            <a:off x="4372295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2" name="module"/>
          <p:cNvSpPr/>
          <p:nvPr/>
        </p:nvSpPr>
        <p:spPr>
          <a:xfrm>
            <a:off x="4372295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3" name="module"/>
          <p:cNvSpPr/>
          <p:nvPr/>
        </p:nvSpPr>
        <p:spPr>
          <a:xfrm>
            <a:off x="4701479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4" name="module"/>
          <p:cNvSpPr/>
          <p:nvPr/>
        </p:nvSpPr>
        <p:spPr>
          <a:xfrm>
            <a:off x="4701479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5" name="module"/>
          <p:cNvSpPr/>
          <p:nvPr/>
        </p:nvSpPr>
        <p:spPr>
          <a:xfrm>
            <a:off x="4701479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6" name="module"/>
          <p:cNvSpPr/>
          <p:nvPr/>
        </p:nvSpPr>
        <p:spPr>
          <a:xfrm>
            <a:off x="4701479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7" name="module"/>
          <p:cNvSpPr/>
          <p:nvPr/>
        </p:nvSpPr>
        <p:spPr>
          <a:xfrm>
            <a:off x="5030663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8" name="module"/>
          <p:cNvSpPr/>
          <p:nvPr/>
        </p:nvSpPr>
        <p:spPr>
          <a:xfrm>
            <a:off x="5030663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9" name="module"/>
          <p:cNvSpPr/>
          <p:nvPr/>
        </p:nvSpPr>
        <p:spPr>
          <a:xfrm>
            <a:off x="5030663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0" name="module"/>
          <p:cNvSpPr/>
          <p:nvPr/>
        </p:nvSpPr>
        <p:spPr>
          <a:xfrm>
            <a:off x="5030663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1" name="module"/>
          <p:cNvSpPr/>
          <p:nvPr/>
        </p:nvSpPr>
        <p:spPr>
          <a:xfrm>
            <a:off x="5359847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2" name="module"/>
          <p:cNvSpPr/>
          <p:nvPr/>
        </p:nvSpPr>
        <p:spPr>
          <a:xfrm>
            <a:off x="5359847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3" name="module"/>
          <p:cNvSpPr/>
          <p:nvPr/>
        </p:nvSpPr>
        <p:spPr>
          <a:xfrm>
            <a:off x="5359847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4" name="module"/>
          <p:cNvSpPr/>
          <p:nvPr/>
        </p:nvSpPr>
        <p:spPr>
          <a:xfrm>
            <a:off x="5359847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5" name="module"/>
          <p:cNvSpPr/>
          <p:nvPr/>
        </p:nvSpPr>
        <p:spPr>
          <a:xfrm>
            <a:off x="5689031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6" name="module"/>
          <p:cNvSpPr/>
          <p:nvPr/>
        </p:nvSpPr>
        <p:spPr>
          <a:xfrm>
            <a:off x="5689031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7" name="module"/>
          <p:cNvSpPr/>
          <p:nvPr/>
        </p:nvSpPr>
        <p:spPr>
          <a:xfrm>
            <a:off x="5689031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8" name="module"/>
          <p:cNvSpPr/>
          <p:nvPr/>
        </p:nvSpPr>
        <p:spPr>
          <a:xfrm>
            <a:off x="5689031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9" name="module"/>
          <p:cNvSpPr/>
          <p:nvPr/>
        </p:nvSpPr>
        <p:spPr>
          <a:xfrm>
            <a:off x="6018215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0" name="module"/>
          <p:cNvSpPr/>
          <p:nvPr/>
        </p:nvSpPr>
        <p:spPr>
          <a:xfrm>
            <a:off x="6018215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1" name="module"/>
          <p:cNvSpPr/>
          <p:nvPr/>
        </p:nvSpPr>
        <p:spPr>
          <a:xfrm>
            <a:off x="6018215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2" name="module"/>
          <p:cNvSpPr/>
          <p:nvPr/>
        </p:nvSpPr>
        <p:spPr>
          <a:xfrm>
            <a:off x="6018215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3" name="module"/>
          <p:cNvSpPr/>
          <p:nvPr/>
        </p:nvSpPr>
        <p:spPr>
          <a:xfrm>
            <a:off x="6347399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4" name="module"/>
          <p:cNvSpPr/>
          <p:nvPr/>
        </p:nvSpPr>
        <p:spPr>
          <a:xfrm>
            <a:off x="6347399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5" name="module"/>
          <p:cNvSpPr/>
          <p:nvPr/>
        </p:nvSpPr>
        <p:spPr>
          <a:xfrm>
            <a:off x="6347399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6" name="module"/>
          <p:cNvSpPr/>
          <p:nvPr/>
        </p:nvSpPr>
        <p:spPr>
          <a:xfrm>
            <a:off x="6347399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7" name="module"/>
          <p:cNvSpPr/>
          <p:nvPr/>
        </p:nvSpPr>
        <p:spPr>
          <a:xfrm>
            <a:off x="6676583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8" name="module"/>
          <p:cNvSpPr/>
          <p:nvPr/>
        </p:nvSpPr>
        <p:spPr>
          <a:xfrm>
            <a:off x="6676583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9" name="module"/>
          <p:cNvSpPr/>
          <p:nvPr/>
        </p:nvSpPr>
        <p:spPr>
          <a:xfrm>
            <a:off x="6676583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0" name="module"/>
          <p:cNvSpPr/>
          <p:nvPr/>
        </p:nvSpPr>
        <p:spPr>
          <a:xfrm>
            <a:off x="6676583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1" name="module"/>
          <p:cNvSpPr/>
          <p:nvPr/>
        </p:nvSpPr>
        <p:spPr>
          <a:xfrm>
            <a:off x="7005767" y="2214311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2" name="module"/>
          <p:cNvSpPr/>
          <p:nvPr/>
        </p:nvSpPr>
        <p:spPr>
          <a:xfrm>
            <a:off x="7005767" y="2543495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3" name="module"/>
          <p:cNvSpPr/>
          <p:nvPr/>
        </p:nvSpPr>
        <p:spPr>
          <a:xfrm>
            <a:off x="7005767" y="2872679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4" name="module"/>
          <p:cNvSpPr/>
          <p:nvPr/>
        </p:nvSpPr>
        <p:spPr>
          <a:xfrm>
            <a:off x="7005767" y="3201863"/>
            <a:ext cx="289682" cy="289682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31520" y="36484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10.0 m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7424928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2.0 m</a:t>
            </a:r>
            <a:endParaRPr lang="en-US" sz="1200" dirty="0"/>
          </a:p>
        </p:txBody>
      </p:sp>
      <p:sp>
        <p:nvSpPr>
          <p:cNvPr id="87" name="sensor"/>
          <p:cNvSpPr/>
          <p:nvPr/>
        </p:nvSpPr>
        <p:spPr>
          <a:xfrm>
            <a:off x="1645920" y="2516429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ensor"/>
          <p:cNvSpPr/>
          <p:nvPr/>
        </p:nvSpPr>
        <p:spPr>
          <a:xfrm>
            <a:off x="3621024" y="3043123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ensor"/>
          <p:cNvSpPr/>
          <p:nvPr/>
        </p:nvSpPr>
        <p:spPr>
          <a:xfrm>
            <a:off x="5596128" y="2516429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ensor"/>
          <p:cNvSpPr/>
          <p:nvPr/>
        </p:nvSpPr>
        <p:spPr>
          <a:xfrm>
            <a:off x="6912864" y="3043123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cable"/>
          <p:cNvSpPr/>
          <p:nvPr/>
        </p:nvSpPr>
        <p:spPr>
          <a:xfrm>
            <a:off x="7315200" y="3511296"/>
            <a:ext cx="0" cy="868680"/>
          </a:xfrm>
          <a:prstGeom prst="line">
            <a:avLst/>
          </a:prstGeom>
          <a:noFill/>
          <a:ln w="25400">
            <a:solidFill>
              <a:srgbClr val="B87503"/>
            </a:solidFill>
            <a:prstDash val="dash"/>
          </a:ln>
        </p:spPr>
      </p:sp>
      <p:sp>
        <p:nvSpPr>
          <p:cNvPr id="92" name="cable"/>
          <p:cNvSpPr/>
          <p:nvPr/>
        </p:nvSpPr>
        <p:spPr>
          <a:xfrm>
            <a:off x="6903720" y="4379976"/>
            <a:ext cx="411480" cy="0"/>
          </a:xfrm>
          <a:prstGeom prst="line">
            <a:avLst/>
          </a:prstGeom>
          <a:noFill/>
          <a:ln w="25400">
            <a:solidFill>
              <a:srgbClr val="B87503"/>
            </a:solidFill>
            <a:prstDash val="dash"/>
          </a:ln>
        </p:spPr>
      </p:sp>
      <p:sp>
        <p:nvSpPr>
          <p:cNvPr id="93" name="inverter"/>
          <p:cNvSpPr/>
          <p:nvPr/>
        </p:nvSpPr>
        <p:spPr>
          <a:xfrm>
            <a:off x="5577840" y="4197096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577840" y="419709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Inverter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energy meter</a:t>
            </a:r>
            <a:endParaRPr lang="en-US" sz="1100" dirty="0"/>
          </a:p>
        </p:txBody>
      </p:sp>
      <p:sp>
        <p:nvSpPr>
          <p:cNvPr id="95" name="board"/>
          <p:cNvSpPr/>
          <p:nvPr/>
        </p:nvSpPr>
        <p:spPr>
          <a:xfrm>
            <a:off x="3840480" y="4197096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840480" y="41970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Campus LV 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(≤ 30 m)</a:t>
            </a:r>
            <a:endParaRPr lang="en-US" sz="1100" dirty="0"/>
          </a:p>
        </p:txBody>
      </p:sp>
      <p:sp>
        <p:nvSpPr>
          <p:cNvPr id="97" name="cable"/>
          <p:cNvSpPr/>
          <p:nvPr/>
        </p:nvSpPr>
        <p:spPr>
          <a:xfrm>
            <a:off x="5257800" y="4480560"/>
            <a:ext cx="320040" cy="0"/>
          </a:xfrm>
          <a:prstGeom prst="line">
            <a:avLst/>
          </a:prstGeom>
          <a:noFill/>
          <a:ln w="25400">
            <a:solidFill>
              <a:srgbClr val="B87503"/>
            </a:solidFill>
            <a:prstDash val="dash"/>
          </a:ln>
        </p:spPr>
      </p:sp>
      <p:sp>
        <p:nvSpPr>
          <p:cNvPr id="98" name="legend"/>
          <p:cNvSpPr/>
          <p:nvPr/>
        </p:nvSpPr>
        <p:spPr>
          <a:xfrm>
            <a:off x="731520" y="4800600"/>
            <a:ext cx="228600" cy="228600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51560" y="4782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40 W module on a 500 × 500 mm GridMats grid</a:t>
            </a:r>
            <a:endParaRPr lang="en-US" sz="1200" dirty="0"/>
          </a:p>
        </p:txBody>
      </p:sp>
      <p:sp>
        <p:nvSpPr>
          <p:cNvPr id="100" name="legend"/>
          <p:cNvSpPr/>
          <p:nvPr/>
        </p:nvSpPr>
        <p:spPr>
          <a:xfrm>
            <a:off x="768096" y="521208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51560" y="5166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Sensors: module temperature, moisture, reference cell</a:t>
            </a:r>
            <a:endParaRPr lang="en-US" sz="1200" dirty="0"/>
          </a:p>
        </p:txBody>
      </p:sp>
      <p:sp>
        <p:nvSpPr>
          <p:cNvPr id="102" name="legend"/>
          <p:cNvSpPr/>
          <p:nvPr/>
        </p:nvSpPr>
        <p:spPr>
          <a:xfrm>
            <a:off x="685800" y="5687568"/>
            <a:ext cx="320040" cy="0"/>
          </a:xfrm>
          <a:prstGeom prst="line">
            <a:avLst/>
          </a:prstGeom>
          <a:noFill/>
          <a:ln w="25400">
            <a:solidFill>
              <a:srgbClr val="B87503"/>
            </a:solidFill>
            <a:prstDash val="dash"/>
          </a:ln>
        </p:spPr>
      </p:sp>
      <p:sp>
        <p:nvSpPr>
          <p:cNvPr id="103" name="Text 101"/>
          <p:cNvSpPr txBox="1"/>
          <p:nvPr/>
        </p:nvSpPr>
        <p:spPr>
          <a:xfrm>
            <a:off x="1051560" y="5550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Low-voltage cable route</a:t>
            </a:r>
            <a:endParaRPr lang="en-US" sz="1200" dirty="0"/>
          </a:p>
        </p:txBody>
      </p:sp>
      <p:sp>
        <p:nvSpPr>
          <p:cNvPr id="104" name="spec-card"/>
          <p:cNvSpPr/>
          <p:nvPr/>
        </p:nvSpPr>
        <p:spPr>
          <a:xfrm>
            <a:off x="7863840" y="1645920"/>
            <a:ext cx="3776472" cy="4206240"/>
          </a:xfrm>
          <a:prstGeom prst="roundRect">
            <a:avLst>
              <a:gd name="adj" fmla="val 193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09244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Pilot specification</a:t>
            </a:r>
            <a:endParaRPr lang="en-US" sz="1600" dirty="0"/>
          </a:p>
        </p:txBody>
      </p:sp>
      <p:sp>
        <p:nvSpPr>
          <p:cNvPr id="106" name="Text 104"/>
          <p:cNvSpPr txBox="1"/>
          <p:nvPr/>
        </p:nvSpPr>
        <p:spPr>
          <a:xfrm>
            <a:off x="8092440" y="2194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Area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9372600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20.0 m² (215 sq ft)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8092440" y="2633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Modules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9372600" y="26334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80 × 40 W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8092440" y="3072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Cells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9372600" y="30723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TOPCon (n-type)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8092440" y="3511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Rated power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9372600" y="35112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3.2 kWp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8092440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Build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9372600" y="3950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 walkway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8092440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Connection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9372600" y="4389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Behind the meter, campus LV board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8092440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9372600" y="4828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 months, live dashboard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809244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Install time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9372600" y="52669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2-3 days on site</a:t>
            </a:r>
            <a:endParaRPr lang="en-US" sz="1300" dirty="0"/>
          </a:p>
        </p:txBody>
      </p:sp>
      <p:sp>
        <p:nvSpPr>
          <p:cNvPr id="122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Indicative layout; final layout follows the site assessment (shade, footfall, drainage, connection point).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it will generate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Bengaluru sunshine, TOPCon (n-type) modules, 73% performance ratio after losses, 5% site shading.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value"/>
          <p:cNvSpPr txBox="1"/>
          <p:nvPr/>
        </p:nvSpPr>
        <p:spPr>
          <a:xfrm>
            <a:off x="8001000" y="1691640"/>
            <a:ext cx="3657600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4,300 kWh</a:t>
            </a:r>
            <a:endParaRPr lang="en-US" sz="2600" dirty="0"/>
          </a:p>
        </p:txBody>
      </p:sp>
      <p:sp>
        <p:nvSpPr>
          <p:cNvPr id="6" name="stat-label"/>
          <p:cNvSpPr txBox="1"/>
          <p:nvPr/>
        </p:nvSpPr>
        <p:spPr>
          <a:xfrm>
            <a:off x="8001000" y="2156407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year, estimated</a:t>
            </a:r>
            <a:endParaRPr lang="en-US" sz="1300" dirty="0"/>
          </a:p>
        </p:txBody>
      </p:sp>
      <p:sp>
        <p:nvSpPr>
          <p:cNvPr id="7" name="stat-value"/>
          <p:cNvSpPr txBox="1"/>
          <p:nvPr/>
        </p:nvSpPr>
        <p:spPr>
          <a:xfrm>
            <a:off x="8001000" y="2743200"/>
            <a:ext cx="3657600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11.8 kWh</a:t>
            </a:r>
            <a:endParaRPr lang="en-US" sz="2600" dirty="0"/>
          </a:p>
        </p:txBody>
      </p:sp>
      <p:sp>
        <p:nvSpPr>
          <p:cNvPr id="8" name="stat-label"/>
          <p:cNvSpPr txBox="1"/>
          <p:nvPr/>
        </p:nvSpPr>
        <p:spPr>
          <a:xfrm>
            <a:off x="8001000" y="3207967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day on average</a:t>
            </a:r>
            <a:endParaRPr lang="en-US" sz="1300" dirty="0"/>
          </a:p>
        </p:txBody>
      </p:sp>
      <p:sp>
        <p:nvSpPr>
          <p:cNvPr id="9" name="stat-value"/>
          <p:cNvSpPr txBox="1"/>
          <p:nvPr/>
        </p:nvSpPr>
        <p:spPr>
          <a:xfrm>
            <a:off x="8001000" y="3794760"/>
            <a:ext cx="3657600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455 / 297</a:t>
            </a:r>
            <a:endParaRPr lang="en-US" sz="2600" dirty="0"/>
          </a:p>
        </p:txBody>
      </p:sp>
      <p:sp>
        <p:nvSpPr>
          <p:cNvPr id="10" name="stat-label"/>
          <p:cNvSpPr txBox="1"/>
          <p:nvPr/>
        </p:nvSpPr>
        <p:spPr>
          <a:xfrm>
            <a:off x="8001000" y="4259527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kWh in the best and the monsoon month</a:t>
            </a:r>
            <a:endParaRPr lang="en-US" sz="1300" dirty="0"/>
          </a:p>
        </p:txBody>
      </p:sp>
      <p:sp>
        <p:nvSpPr>
          <p:cNvPr id="11" name="stat-value"/>
          <p:cNvSpPr txBox="1"/>
          <p:nvPr/>
        </p:nvSpPr>
        <p:spPr>
          <a:xfrm>
            <a:off x="8001000" y="4846320"/>
            <a:ext cx="3657600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3.1 t</a:t>
            </a:r>
            <a:endParaRPr lang="en-US" sz="2600" dirty="0"/>
          </a:p>
        </p:txBody>
      </p:sp>
      <p:sp>
        <p:nvSpPr>
          <p:cNvPr id="12" name="stat-label"/>
          <p:cNvSpPr txBox="1"/>
          <p:nvPr/>
        </p:nvSpPr>
        <p:spPr>
          <a:xfrm>
            <a:off x="8001000" y="5311087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CO2 avoided a year (CEA grid factor)</a:t>
            </a:r>
            <a:endParaRPr lang="en-US" sz="1300" dirty="0"/>
          </a:p>
        </p:txBody>
      </p:sp>
      <p:sp>
        <p:nvSpPr>
          <p:cNvPr id="13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Sunshine: typical-year Bengaluru profile, 1,935 kWh/m²/yr (replace with site data after the site walk). Specific yield 1,345 kWh/kWp/yr.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pilot costs, and who pays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List value of the pilot scope against what [Client] pays. Ex-GST; GST extra at the applicable rate.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143000"/>
                <a:gridCol w="1234440"/>
                <a:gridCol w="118872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GridMats covers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[Client] pays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93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assessment and engineering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₹0.40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₹0.40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 preparation and GridMats OC-LW 40 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₹0.21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₹0.21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Walkable PV layer (80 × 40 W, MLP lumber, wiring)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₹3.27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₹1.64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₹1.64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BOS, grid integration and metering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₹0.46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₹0.46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 and installation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₹0.34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₹0.34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GridMats supervision, training and travel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₹0.85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₹0.85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sensors, dashboard and performance study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₹1.25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₹1.25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Total, ex-GST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₹6.79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₹4.14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22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₹2.66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y-card"/>
          <p:cNvSpPr/>
          <p:nvPr/>
        </p:nvSpPr>
        <p:spPr>
          <a:xfrm>
            <a:off x="8183880" y="1600200"/>
            <a:ext cx="3456432" cy="4251960"/>
          </a:xfrm>
          <a:prstGeom prst="roundRect">
            <a:avLst>
              <a:gd name="adj" fmla="val 2116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stat-value"/>
          <p:cNvSpPr txBox="1"/>
          <p:nvPr/>
        </p:nvSpPr>
        <p:spPr>
          <a:xfrm>
            <a:off x="8412480" y="1783080"/>
            <a:ext cx="30175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₹2.66 L</a:t>
            </a:r>
            <a:endParaRPr lang="en-US" sz="3000" dirty="0"/>
          </a:p>
        </p:txBody>
      </p:sp>
      <p:sp>
        <p:nvSpPr>
          <p:cNvPr id="7" name="stat-label"/>
          <p:cNvSpPr txBox="1"/>
          <p:nvPr/>
        </p:nvSpPr>
        <p:spPr>
          <a:xfrm>
            <a:off x="8412480" y="231091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[Client] pays, ex-GST: ₹1,234/sq ft (₹2.89 L with GST)</a:t>
            </a:r>
            <a:endParaRPr lang="en-US" sz="1300" dirty="0"/>
          </a:p>
        </p:txBody>
      </p:sp>
      <p:sp>
        <p:nvSpPr>
          <p:cNvPr id="8" name="stat-value"/>
          <p:cNvSpPr txBox="1"/>
          <p:nvPr/>
        </p:nvSpPr>
        <p:spPr>
          <a:xfrm>
            <a:off x="8412480" y="3154680"/>
            <a:ext cx="30175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₹4.14 L</a:t>
            </a:r>
            <a:endParaRPr lang="en-US" sz="3000" dirty="0"/>
          </a:p>
        </p:txBody>
      </p:sp>
      <p:sp>
        <p:nvSpPr>
          <p:cNvPr id="9" name="stat-label"/>
          <p:cNvSpPr txBox="1"/>
          <p:nvPr/>
        </p:nvSpPr>
        <p:spPr>
          <a:xfrm>
            <a:off x="8412480" y="368251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GridMats contributes (61% of list): design, 50% of the PV layer, supervision, IoT study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Defect liability: 12 months from handover, with joint inspections. PV layer price ₹1,521/sq ft (₹16,373/m²).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Co-funding of the PV layer: 50% (pilot offer, needs MD approval). Full physical installed cost before co-funding: ₹4.29 L (₹1,994/sq ft).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Pilot economics, and what rollout looks like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pilot is for evidence; the business case is the campus rollout at 1,000 m².</a:t>
            </a:r>
            <a:endParaRPr lang="en-US" sz="1500" dirty="0"/>
          </a:p>
        </p:txBody>
      </p:sp>
      <p:sp>
        <p:nvSpPr>
          <p:cNvPr id="4" name="pilot-econ"/>
          <p:cNvSpPr/>
          <p:nvPr/>
        </p:nvSpPr>
        <p:spPr>
          <a:xfrm>
            <a:off x="548640" y="1600200"/>
            <a:ext cx="3520440" cy="425196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PILOT</a:t>
            </a:r>
            <a:endParaRPr lang="en-US" sz="1300" dirty="0"/>
          </a:p>
        </p:txBody>
      </p:sp>
      <p:sp>
        <p:nvSpPr>
          <p:cNvPr id="6" name="stat-value"/>
          <p:cNvSpPr txBox="1"/>
          <p:nvPr/>
        </p:nvSpPr>
        <p:spPr>
          <a:xfrm>
            <a:off x="777240" y="2103120"/>
            <a:ext cx="3108960" cy="4414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7.6 years</a:t>
            </a:r>
            <a:endParaRPr lang="en-US" sz="2800" dirty="0"/>
          </a:p>
        </p:txBody>
      </p:sp>
      <p:sp>
        <p:nvSpPr>
          <p:cNvPr id="7" name="stat-label"/>
          <p:cNvSpPr txBox="1"/>
          <p:nvPr/>
        </p:nvSpPr>
        <p:spPr>
          <a:xfrm>
            <a:off x="777240" y="259941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payback on [Client]'s ₹2.66 L outlay</a:t>
            </a:r>
            <a:endParaRPr lang="en-US" sz="1300" dirty="0"/>
          </a:p>
        </p:txBody>
      </p:sp>
      <p:sp>
        <p:nvSpPr>
          <p:cNvPr id="8" name="stat-value"/>
          <p:cNvSpPr txBox="1"/>
          <p:nvPr/>
        </p:nvSpPr>
        <p:spPr>
          <a:xfrm>
            <a:off x="777240" y="3337560"/>
            <a:ext cx="3108960" cy="4414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11.8 years</a:t>
            </a:r>
            <a:endParaRPr lang="en-US" sz="2800" dirty="0"/>
          </a:p>
        </p:txBody>
      </p:sp>
      <p:sp>
        <p:nvSpPr>
          <p:cNvPr id="9" name="stat-label"/>
          <p:cNvSpPr txBox="1"/>
          <p:nvPr/>
        </p:nvSpPr>
        <p:spPr>
          <a:xfrm>
            <a:off x="777240" y="383385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payback on the full ₹4.29 L installed cost, without co-funding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Year-1 bill saving about ₹38,400 at ₹9.00/kWh.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251960" y="1600200"/>
          <a:ext cx="4800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tat-value"/>
          <p:cNvSpPr txBox="1"/>
          <p:nvPr/>
        </p:nvSpPr>
        <p:spPr>
          <a:xfrm>
            <a:off x="9281160" y="1645920"/>
            <a:ext cx="237744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₹1,860/sq ft</a:t>
            </a:r>
            <a:endParaRPr lang="en-US" sz="2200" dirty="0"/>
          </a:p>
        </p:txBody>
      </p:sp>
      <p:sp>
        <p:nvSpPr>
          <p:cNvPr id="13" name="stat-label"/>
          <p:cNvSpPr txBox="1"/>
          <p:nvPr/>
        </p:nvSpPr>
        <p:spPr>
          <a:xfrm>
            <a:off x="9281160" y="204762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installed at rollout (₹20,020/m²)</a:t>
            </a:r>
            <a:endParaRPr lang="en-US" sz="1300" dirty="0"/>
          </a:p>
        </p:txBody>
      </p:sp>
      <p:sp>
        <p:nvSpPr>
          <p:cNvPr id="14" name="stat-value"/>
          <p:cNvSpPr txBox="1"/>
          <p:nvPr/>
        </p:nvSpPr>
        <p:spPr>
          <a:xfrm>
            <a:off x="9281160" y="2697480"/>
            <a:ext cx="237744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10.2 years</a:t>
            </a:r>
            <a:endParaRPr lang="en-US" sz="2200" dirty="0"/>
          </a:p>
        </p:txBody>
      </p:sp>
      <p:sp>
        <p:nvSpPr>
          <p:cNvPr id="15" name="stat-label"/>
          <p:cNvSpPr txBox="1"/>
          <p:nvPr/>
        </p:nvSpPr>
        <p:spPr>
          <a:xfrm>
            <a:off x="9281160" y="309918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payback, net of the walkway it replaces</a:t>
            </a:r>
            <a:endParaRPr lang="en-US" sz="1300" dirty="0"/>
          </a:p>
        </p:txBody>
      </p:sp>
      <p:sp>
        <p:nvSpPr>
          <p:cNvPr id="16" name="stat-value"/>
          <p:cNvSpPr txBox="1"/>
          <p:nvPr/>
        </p:nvSpPr>
        <p:spPr>
          <a:xfrm>
            <a:off x="9281160" y="3749040"/>
            <a:ext cx="237744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8%</a:t>
            </a:r>
            <a:endParaRPr lang="en-US" sz="2200" dirty="0"/>
          </a:p>
        </p:txBody>
      </p:sp>
      <p:sp>
        <p:nvSpPr>
          <p:cNvPr id="17" name="stat-label"/>
          <p:cNvSpPr txBox="1"/>
          <p:nvPr/>
        </p:nvSpPr>
        <p:spPr>
          <a:xfrm>
            <a:off x="9281160" y="415074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IRR over 20 years, pre-tax</a:t>
            </a:r>
            <a:endParaRPr lang="en-US" sz="1300" dirty="0"/>
          </a:p>
        </p:txBody>
      </p:sp>
      <p:sp>
        <p:nvSpPr>
          <p:cNvPr id="18" name="stat-value"/>
          <p:cNvSpPr txBox="1"/>
          <p:nvPr/>
        </p:nvSpPr>
        <p:spPr>
          <a:xfrm>
            <a:off x="9281160" y="4800600"/>
            <a:ext cx="237744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₹11.98</a:t>
            </a:r>
            <a:endParaRPr lang="en-US" sz="2200" dirty="0"/>
          </a:p>
        </p:txBody>
      </p:sp>
      <p:sp>
        <p:nvSpPr>
          <p:cNvPr id="19" name="stat-label"/>
          <p:cNvSpPr txBox="1"/>
          <p:nvPr/>
        </p:nvSpPr>
        <p:spPr>
          <a:xfrm>
            <a:off x="9281160" y="520230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 kWh, against grid power at ₹9.00</a:t>
            </a:r>
            <a:endParaRPr lang="en-US" sz="1300" dirty="0"/>
          </a:p>
        </p:txBody>
      </p:sp>
      <p:sp>
        <p:nvSpPr>
          <p:cNvPr id="20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Rollout uses the rollout PV-layer price (₹15,984/m²), the GridMats price ladder and a ₹1,200/m² credit for the paver walkway it replaces. 3% tariff escalation, 10% discount rate.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compares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Rooftop solar is cheaper per kWp. The walkway wins where roofs are full and a walkway is being built anyway.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2120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56052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960120"/>
                <a:gridCol w="1078992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the same footprint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9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Pavers + rooftop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 (years)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Walking surface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Shade, not a walkway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 or 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Steel canopy and footings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Recycled plastic (t)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35040" y="4754880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Positioning: on walkways that are being built or relaid, on campuses where the roof is spoken for, and where visibility matters.</a:t>
            </a:r>
            <a:endParaRPr lang="en-US" sz="140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Footprint 1,000 m². Rooftop ₹40/Wp and carport ₹61/Wp all-in (earlier GridMats ROI model benchmarks). Payback on year-1 figures, before any walkway credit.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moves the payback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Campus-rollout payback in years: power price against performance ratio. Base case: ₹9.00/kWh, 73%.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87552"/>
                <a:gridCol w="987552"/>
                <a:gridCol w="987552"/>
                <a:gridCol w="987552"/>
                <a:gridCol w="9875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 / kWh  ↓   ·   PR  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5" name="sens-card"/>
          <p:cNvSpPr/>
          <p:nvPr/>
        </p:nvSpPr>
        <p:spPr>
          <a:xfrm>
            <a:off x="7680960" y="1600200"/>
            <a:ext cx="3959352" cy="4251960"/>
          </a:xfrm>
          <a:prstGeom prst="roundRect">
            <a:avLst>
              <a:gd name="adj" fmla="val 18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Reading the table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148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B3A"/>
                </a:solidFill>
              </a:rPr>
              <a:t>Green: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 years or less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7503"/>
                </a:solidFill>
              </a:rPr>
              <a:t>Amber: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 to 9 years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22935"/>
                </a:solidFill>
              </a:rPr>
              <a:t>Red: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above 9 years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Pilot payback on [Client]'s outlay vs GridMats co-funding of the PV layer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3886200"/>
          <a:ext cx="3520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594360"/>
                <a:gridCol w="594360"/>
                <a:gridCol w="594360"/>
                <a:gridCol w="5943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Co-funding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 (yrs)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909560" y="4892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pilot measures the performance ratio; the electricity bill sets the power price.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Model sheet 'Sensitivity'. Simple payback on year-1 figures, net of the walkway it replaces.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Measured, not assumed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scorecard agreed with [Client] before installation and reviewed at 3 months.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01752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generation vs estimate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 of the model's monthly estimate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ratio achieved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PR used in the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Pedestrian and maintenance-cart 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kN/m² uniform and 4.5 kN point load (IS 875 Part 2); no cracking or movement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 temperature (peak)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module specification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Slip resistance and walking comfort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R11 (DIN 51130) or wet pendulum PTV ≥ 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Drainage and water ingress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ponding, no ingress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uptime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Cleaning and maintenance effort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O&amp;M assumption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survival and repairability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irreparable failures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finish and user acceptance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acceptance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ash-card"/>
          <p:cNvSpPr/>
          <p:nvPr/>
        </p:nvSpPr>
        <p:spPr>
          <a:xfrm>
            <a:off x="7818120" y="1572768"/>
            <a:ext cx="3822192" cy="4297680"/>
          </a:xfrm>
          <a:prstGeom prst="roundRect">
            <a:avLst>
              <a:gd name="adj" fmla="val 191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icon-badge"/>
          <p:cNvSpPr/>
          <p:nvPr/>
        </p:nvSpPr>
        <p:spPr>
          <a:xfrm>
            <a:off x="8046720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Micro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8928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3252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Live pilot dashboard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251460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Energy: kWh per day and W per m²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Module temperature and ventilation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Moisture, rainfall and drainage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Uptime and fault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Data exportable to the campus IoT stack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49377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2B33D"/>
                </a:solidFill>
              </a:rPr>
              <a:t>GridMats Pavement Monitor, extended for the Solar Walkway.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KPIs and weights from the earlier GridMats Solar Walkway ROI model (pilot scorecard). Targets are finalised jointly before installation.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site walk to switch-on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About six weeks to switch-on, a 3-month evaluation, then monitoring through the monsoon.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52533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90265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27998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5730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03463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41195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78928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16660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54393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492125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29858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67590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105323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Site walk, shading and generation estimate</a:t>
            </a:r>
            <a:endParaRPr lang="en-US" sz="1300" dirty="0"/>
          </a:p>
        </p:txBody>
      </p:sp>
      <p:sp>
        <p:nvSpPr>
          <p:cNvPr id="19" name="gantt"/>
          <p:cNvSpPr/>
          <p:nvPr/>
        </p:nvSpPr>
        <p:spPr>
          <a:xfrm>
            <a:off x="4114800" y="2011680"/>
            <a:ext cx="215093" cy="274320"/>
          </a:xfrm>
          <a:prstGeom prst="roundRect">
            <a:avLst>
              <a:gd name="adj" fmla="val 2550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Engineering, electrical and safety approvals</a:t>
            </a:r>
            <a:endParaRPr lang="en-US" sz="1300" dirty="0"/>
          </a:p>
        </p:txBody>
      </p:sp>
      <p:sp>
        <p:nvSpPr>
          <p:cNvPr id="21" name="gantt"/>
          <p:cNvSpPr/>
          <p:nvPr/>
        </p:nvSpPr>
        <p:spPr>
          <a:xfrm>
            <a:off x="4276120" y="2487168"/>
            <a:ext cx="376413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9169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Order; supply date fixed in the PO</a:t>
            </a:r>
            <a:endParaRPr lang="en-US" sz="1300" dirty="0"/>
          </a:p>
        </p:txBody>
      </p:sp>
      <p:sp>
        <p:nvSpPr>
          <p:cNvPr id="23" name="gantt"/>
          <p:cNvSpPr/>
          <p:nvPr/>
        </p:nvSpPr>
        <p:spPr>
          <a:xfrm>
            <a:off x="4598759" y="2962656"/>
            <a:ext cx="268866" cy="274320"/>
          </a:xfrm>
          <a:prstGeom prst="roundRect">
            <a:avLst>
              <a:gd name="adj" fmla="val 2040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392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Install (2-3 days) and commission</a:t>
            </a:r>
            <a:endParaRPr lang="en-US" sz="1300" dirty="0"/>
          </a:p>
        </p:txBody>
      </p:sp>
      <p:sp>
        <p:nvSpPr>
          <p:cNvPr id="25" name="gantt"/>
          <p:cNvSpPr/>
          <p:nvPr/>
        </p:nvSpPr>
        <p:spPr>
          <a:xfrm>
            <a:off x="4867626" y="3438144"/>
            <a:ext cx="137160" cy="27432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867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Evaluation against the scorecard (3 months)</a:t>
            </a:r>
            <a:endParaRPr lang="en-US" sz="1300" dirty="0"/>
          </a:p>
        </p:txBody>
      </p:sp>
      <p:sp>
        <p:nvSpPr>
          <p:cNvPr id="27" name="gantt"/>
          <p:cNvSpPr/>
          <p:nvPr/>
        </p:nvSpPr>
        <p:spPr>
          <a:xfrm>
            <a:off x="4975172" y="3913632"/>
            <a:ext cx="1613198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343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Decision gate: rollout or refine</a:t>
            </a:r>
            <a:endParaRPr lang="en-US" sz="1300" dirty="0"/>
          </a:p>
        </p:txBody>
      </p:sp>
      <p:sp>
        <p:nvSpPr>
          <p:cNvPr id="29" name="gantt"/>
          <p:cNvSpPr/>
          <p:nvPr/>
        </p:nvSpPr>
        <p:spPr>
          <a:xfrm>
            <a:off x="6588370" y="4389120"/>
            <a:ext cx="137160" cy="27432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818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Monitoring, live dashboard (12 months)</a:t>
            </a:r>
            <a:endParaRPr lang="en-US" sz="1300" dirty="0"/>
          </a:p>
        </p:txBody>
      </p:sp>
      <p:sp>
        <p:nvSpPr>
          <p:cNvPr id="31" name="gantt"/>
          <p:cNvSpPr/>
          <p:nvPr/>
        </p:nvSpPr>
        <p:spPr>
          <a:xfrm>
            <a:off x="4975172" y="4864608"/>
            <a:ext cx="6452790" cy="274320"/>
          </a:xfrm>
          <a:prstGeom prst="roundRect">
            <a:avLst>
              <a:gd name="adj" fmla="val 20000"/>
            </a:avLst>
          </a:prstGeom>
          <a:solidFill>
            <a:srgbClr val="B87503"/>
          </a:solidFill>
          <a:ln w="12700">
            <a:solidFill>
              <a:srgbClr val="B87503"/>
            </a:solidFill>
            <a:prstDash val="solid"/>
          </a:ln>
        </p:spPr>
      </p:sp>
      <p:sp>
        <p:nvSpPr>
          <p:cNvPr id="32" name="promise-card"/>
          <p:cNvSpPr/>
          <p:nvPr/>
        </p:nvSpPr>
        <p:spPr>
          <a:xfrm>
            <a:off x="548640" y="5532120"/>
            <a:ext cx="11094415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5321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Built by teams GridMats trains, with a GridMats engineer on site for the whole installation.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pilot to campus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Year-1 figures at each step; later phases use rollout prices for their area.</a:t>
            </a:r>
            <a:endParaRPr lang="en-US" sz="1500" dirty="0"/>
          </a:p>
        </p:txBody>
      </p:sp>
      <p:sp>
        <p:nvSpPr>
          <p:cNvPr id="4" name="phase-card"/>
          <p:cNvSpPr/>
          <p:nvPr/>
        </p:nvSpPr>
        <p:spPr>
          <a:xfrm>
            <a:off x="548640" y="16002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phase-head"/>
          <p:cNvSpPr/>
          <p:nvPr/>
        </p:nvSpPr>
        <p:spPr>
          <a:xfrm>
            <a:off x="548640" y="16002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Pilot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20 m²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3.2 kWp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rated power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71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4.3 MWh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₹0.4 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electricity saved a year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3.1 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CO2 avoided a year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12.5 years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 at full pilot cost</a:t>
            </a:r>
            <a:endParaRPr lang="en-US" sz="1100" dirty="0"/>
          </a:p>
        </p:txBody>
      </p:sp>
      <p:sp>
        <p:nvSpPr>
          <p:cNvPr id="18" name="phase-card"/>
          <p:cNvSpPr/>
          <p:nvPr/>
        </p:nvSpPr>
        <p:spPr>
          <a:xfrm>
            <a:off x="3364992" y="16002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9" name="phase-head"/>
          <p:cNvSpPr/>
          <p:nvPr/>
        </p:nvSpPr>
        <p:spPr>
          <a:xfrm>
            <a:off x="3364992" y="16002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47872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Phase 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47872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200 m²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47872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32 kWp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2697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rated power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547872" y="2971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43.0 MWh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547872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47872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₹3.9 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547872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electricity saved a year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547872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30.6 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CO2 avoided a year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11.7 years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547872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payback, net of walkway credit</a:t>
            </a:r>
            <a:endParaRPr lang="en-US" sz="1100" dirty="0"/>
          </a:p>
        </p:txBody>
      </p:sp>
      <p:sp>
        <p:nvSpPr>
          <p:cNvPr id="32" name="phase-card"/>
          <p:cNvSpPr/>
          <p:nvPr/>
        </p:nvSpPr>
        <p:spPr>
          <a:xfrm>
            <a:off x="6181344" y="16002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phase-head"/>
          <p:cNvSpPr/>
          <p:nvPr/>
        </p:nvSpPr>
        <p:spPr>
          <a:xfrm>
            <a:off x="6181344" y="16002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64224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Campus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1,000 m²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64224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160 kWp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2697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rated power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2971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215 MWh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64224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364224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₹19.4 L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364224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electricity saved a year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364224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152.8 t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CO2 avoided a year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364224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11.5 years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364224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payback, net of walkway credit</a:t>
            </a:r>
            <a:endParaRPr lang="en-US" sz="1100" dirty="0"/>
          </a:p>
        </p:txBody>
      </p:sp>
      <p:sp>
        <p:nvSpPr>
          <p:cNvPr id="46" name="phase-card"/>
          <p:cNvSpPr/>
          <p:nvPr/>
        </p:nvSpPr>
        <p:spPr>
          <a:xfrm>
            <a:off x="8997696" y="16002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7" name="phase-head"/>
          <p:cNvSpPr/>
          <p:nvPr/>
        </p:nvSpPr>
        <p:spPr>
          <a:xfrm>
            <a:off x="8997696" y="16002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80576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Portfolio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180576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5,000 m²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180576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800 kWp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180576" y="2697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rated power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180576" y="2971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1,076 MWh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9180576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9180576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₹96.9 L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9180576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electricity saved a year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9180576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764.1 t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9180576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CO2 avoided a year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180576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11.4 years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9180576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payback, net of walkway credit</a:t>
            </a:r>
            <a:endParaRPr lang="en-US" sz="1100" dirty="0"/>
          </a:p>
        </p:txBody>
      </p:sp>
      <p:sp>
        <p:nvSpPr>
          <p:cNvPr id="60" name="source"/>
          <p:cNvSpPr txBox="1"/>
          <p:nvPr/>
        </p:nvSpPr>
        <p:spPr>
          <a:xfrm>
            <a:off x="548640" y="54406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Portfolio: [Other sites] (illustrative). Phase areas are editable on the model's 'Client' sheet.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 on the GridMats platform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structural platform is proven in roads and surfaces; the Solar Walkway is the next product on it.</a:t>
            </a:r>
            <a:endParaRPr lang="en-US" sz="1500" dirty="0"/>
          </a:p>
        </p:txBody>
      </p:sp>
      <p:sp>
        <p:nvSpPr>
          <p:cNvPr id="4" name="cred-card"/>
          <p:cNvSpPr/>
          <p:nvPr/>
        </p:nvSpPr>
        <p:spPr>
          <a:xfrm>
            <a:off x="54864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32 sites, 65,081 m²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built across 12 states</a:t>
            </a:r>
            <a:endParaRPr lang="en-US" sz="1200" dirty="0"/>
          </a:p>
        </p:txBody>
      </p:sp>
      <p:sp>
        <p:nvSpPr>
          <p:cNvPr id="7" name="cred-card"/>
          <p:cNvSpPr/>
          <p:nvPr/>
        </p:nvSpPr>
        <p:spPr>
          <a:xfrm>
            <a:off x="278892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million+ sq ft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GridMats supplied</a:t>
            </a:r>
            <a:endParaRPr lang="en-US" sz="1200" dirty="0"/>
          </a:p>
        </p:txBody>
      </p:sp>
      <p:sp>
        <p:nvSpPr>
          <p:cNvPr id="10" name="cred-card"/>
          <p:cNvSpPr/>
          <p:nvPr/>
        </p:nvSpPr>
        <p:spPr>
          <a:xfrm>
            <a:off x="502920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Indian Patent 398992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patented 3D recycled-polymer grid</a:t>
            </a:r>
            <a:endParaRPr lang="en-US" sz="1200" dirty="0"/>
          </a:p>
        </p:txBody>
      </p:sp>
      <p:sp>
        <p:nvSpPr>
          <p:cNvPr id="13" name="cred-card"/>
          <p:cNvSpPr/>
          <p:nvPr/>
        </p:nvSpPr>
        <p:spPr>
          <a:xfrm>
            <a:off x="548640" y="292608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CII GreenPro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certified green product</a:t>
            </a:r>
            <a:endParaRPr lang="en-US" sz="1200" dirty="0"/>
          </a:p>
        </p:txBody>
      </p:sp>
      <p:sp>
        <p:nvSpPr>
          <p:cNvPr id="16" name="cred-card"/>
          <p:cNvSpPr/>
          <p:nvPr/>
        </p:nvSpPr>
        <p:spPr>
          <a:xfrm>
            <a:off x="2788920" y="292608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IISc · IIT Hyderabad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R&amp;D and pavement testing partners</a:t>
            </a:r>
            <a:endParaRPr lang="en-US" sz="1200" dirty="0"/>
          </a:p>
        </p:txBody>
      </p:sp>
      <p:sp>
        <p:nvSpPr>
          <p:cNvPr id="19" name="cred-card"/>
          <p:cNvSpPr/>
          <p:nvPr/>
        </p:nvSpPr>
        <p:spPr>
          <a:xfrm>
            <a:off x="5029200" y="292608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6636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100% recycled PP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post-consumer polypropylene base</a:t>
            </a:r>
            <a:endParaRPr lang="en-US" sz="1200" dirty="0"/>
          </a:p>
        </p:txBody>
      </p:sp>
      <p:pic>
        <p:nvPicPr>
          <p:cNvPr id="22" name="Image 0" descr="Existing GridMats custo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6583680" cy="1655064"/>
          </a:xfrm>
          <a:prstGeom prst="rect">
            <a:avLst/>
          </a:prstGeom>
        </p:spPr>
      </p:pic>
      <p:sp>
        <p:nvSpPr>
          <p:cNvPr id="23" name="founder-card"/>
          <p:cNvSpPr/>
          <p:nvPr/>
        </p:nvSpPr>
        <p:spPr>
          <a:xfrm>
            <a:off x="7452360" y="1600200"/>
            <a:ext cx="4187952" cy="4398264"/>
          </a:xfrm>
          <a:prstGeom prst="roundRect">
            <a:avLst>
              <a:gd name="adj" fmla="val 174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pic>
        <p:nvPicPr>
          <p:cNvPr id="24" name="Image 1" descr="Dr. Prathap Bhimasena Ra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0960" y="1783080"/>
            <a:ext cx="1463040" cy="201168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281160" y="1828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Dr. Prathap Bhimasena Rao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28116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Founder &amp; Managing Director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26 years in leadership and innovation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Ex-Indian Air Force; Global VP, Hewlett-Packard (2010-11)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Two PhDs in management science</a:t>
            </a:r>
            <a:endParaRPr lang="en-US" sz="1200" dirty="0"/>
          </a:p>
        </p:txBody>
      </p:sp>
      <p:sp>
        <p:nvSpPr>
          <p:cNvPr id="28" name="source"/>
          <p:cNvSpPr txBox="1"/>
          <p:nvPr/>
        </p:nvSpPr>
        <p:spPr>
          <a:xfrm>
            <a:off x="548640" y="6080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Figures and customers relate to existing (non-solar) GridMats road and surface applications. The Solar Walkway is pre-commercial.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Let's walk the site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What GridMats needs from [Client], and the four steps to a measured result.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FROM [CLIENT]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sunny 10-14 m stretch of walkway, about 2 m wide, with little shade from 9 am to 4 pm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low-voltage connection point within about 30 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Permission for a 2-3 day installation window and a safety induction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soaked CBR test of the subgrade at the pilot stretch (done at the site walk, one test per 25 m²)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facilities contact for monthly readings and the 3-month review</a:t>
            </a:r>
            <a:endParaRPr lang="en-US" sz="1400" dirty="0"/>
          </a:p>
        </p:txBody>
      </p:sp>
      <p:sp>
        <p:nvSpPr>
          <p:cNvPr id="6" name="badge"/>
          <p:cNvSpPr/>
          <p:nvPr/>
        </p:nvSpPr>
        <p:spPr>
          <a:xfrm>
            <a:off x="63093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8562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Site walk and opportunity assessment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Shade, footfall, drainage and the electrical connection.</a:t>
            </a:r>
            <a:endParaRPr lang="en-US" sz="1300" dirty="0"/>
          </a:p>
        </p:txBody>
      </p:sp>
      <p:sp>
        <p:nvSpPr>
          <p:cNvPr id="10" name="badge"/>
          <p:cNvSpPr/>
          <p:nvPr/>
        </p:nvSpPr>
        <p:spPr>
          <a:xfrm>
            <a:off x="6309360" y="2834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8163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Concept layout and generation estimate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3127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Module layout, monthly kWh, final price.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630936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7764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Pilot engineering and order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4087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Electrical, safety and monitoring details; PO with the supply date.</a:t>
            </a:r>
            <a:endParaRPr lang="en-US" sz="1300" dirty="0"/>
          </a:p>
        </p:txBody>
      </p:sp>
      <p:sp>
        <p:nvSpPr>
          <p:cNvPr id="18" name="badge"/>
          <p:cNvSpPr/>
          <p:nvPr/>
        </p:nvSpPr>
        <p:spPr>
          <a:xfrm>
            <a:off x="6309360" y="4754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7365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Install, measure, decide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5047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2-3 days on site; 3-month scorecard review.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Dr. Prathap Bhimasena Rao  ·  prathap@gridmats.com  ·  sales@gridmats.com  ·  +91 63626 46287  ·  www.gridmats.com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Key assumptions and sources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Every value is an input in the companion model; change it there and rebuild the deck.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9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/ 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W module · 4 per m² · 160 W/m²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Flier (6 Oct 2026); Client/Partner Deck v2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Sunshine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Bengaluru: 1,935 kWh/m²/yr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year; replace with site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technology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TOPCon (n-type): -0.29%/°C; 1% then 0.6%/yr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datasheets; walk-on wear +0.2%/yr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ratio; shading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 (seven losses); 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stack on 'Product &amp; Costs'; site assessment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price; escalation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₹9.00/kWh; 3%/yr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[Site electricity bill]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layer 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₹1,521/sq ft pilot; ₹1,485/sq ft rollout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GridMats pilot and volume pricing, Oct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Ground, base, electrical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 ₹34/sq ft (100 mm WMM); OC-LW 40 ₹64/sq ft; electrical ₹6.7/Wp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soil CBR 6% (confirm by test); price ladder Sep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O&amp;M; life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 of capex/yr; 20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Earlier ROI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Rooftop; carport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₹40/Wp; ₹61/Wp all-in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Earlier ROI model benchmarks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8.9% composite (5% goods, 18% services)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Notification 9/2025, from 22 Sep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48640" y="59893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Walkway power is the 160 W/m² design basis (Oct 2026). Prices are GridMats pilot prices, ex-GST. Performance ratio 73% from a seven-loss stack, not a flat figure.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Mats Solar">
  <a:themeElements>
    <a:clrScheme name="GridMats Solar">
      <a:dk1>
        <a:srgbClr val="1A1A1A"/>
      </a:dk1>
      <a:lt1>
        <a:srgbClr val="FFFFFF"/>
      </a:lt1>
      <a:dk2>
        <a:srgbClr val="111A22"/>
      </a:dk2>
      <a:lt2>
        <a:srgbClr val="F6F6F4"/>
      </a:lt2>
      <a:accent1>
        <a:srgbClr val="C22935"/>
      </a:accent1>
      <a:accent2>
        <a:srgbClr val="2E6B3A"/>
      </a:accent2>
      <a:accent3>
        <a:srgbClr val="B87503"/>
      </a:accent3>
      <a:accent4>
        <a:srgbClr val="6F6F6F"/>
      </a:accent4>
      <a:accent5>
        <a:srgbClr val="FBEAEC"/>
      </a:accent5>
      <a:accent6>
        <a:srgbClr val="0E2E4F"/>
      </a:accent6>
      <a:hlink>
        <a:srgbClr val="C22935"/>
      </a:hlink>
      <a:folHlink>
        <a:srgbClr val="A11F2A"/>
      </a:folHlink>
    </a:clrScheme>
    <a:fontScheme name="GridMats Sol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GridMats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GridMats Solar Walkway: pilot proposal for [Client]</dc:title>
  <dc:subject>GridMats Solar Walkway pilot and rollout proposal</dc:subject>
  <dc:creator>GridMats (GroundReality Enterprises Pvt Ltd)</dc:creator>
  <cp:lastModifiedBy>GridMats (GroundReality Enterprises Pvt Ltd)</cp:lastModifiedBy>
  <cp:revision>1</cp:revision>
  <dcterms:created xsi:type="dcterms:W3CDTF">2026-10-07T10:29:02Z</dcterms:created>
  <dcterms:modified xsi:type="dcterms:W3CDTF">2026-10-07T10:29:02Z</dcterms:modified>
</cp:coreProperties>
</file>