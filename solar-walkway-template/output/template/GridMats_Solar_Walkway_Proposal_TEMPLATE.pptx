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posal" id="{d4443278-e3c0-e076-52a0-04a43e070ba4}">
          <p14:sldIdLst>
            <p14:sldId id="256"/>
            <p14:sldId id="257"/>
            <p14:sldId id="258"/>
          </p14:sldIdLst>
        </p14:section>
        <p14:section name="Technology" id="{3d76f64c-cf4e-7b83-209a-f0527e94b3f5}">
          <p14:sldIdLst>
            <p14:sldId id="259"/>
            <p14:sldId id="260"/>
            <p14:sldId id="261"/>
          </p14:sldIdLst>
        </p14:section>
        <p14:section name="Pilot" id="{40380be0-e8ea-8839-d859-d71781e1f51f}">
          <p14:sldIdLst>
            <p14:sldId id="262"/>
            <p14:sldId id="263"/>
            <p14:sldId id="264"/>
          </p14:sldIdLst>
        </p14:section>
        <p14:section name="Economics" id="{66ac812b-dc75-f441-33c5-80c766cc97b8}">
          <p14:sldIdLst>
            <p14:sldId id="265"/>
            <p14:sldId id="266"/>
            <p14:sldId id="267"/>
          </p14:sldIdLst>
        </p14:section>
        <p14:section name="Plan" id="{1688fdfd-aa40-92ae-fcb4-08fb2a2d8546}">
          <p14:sldIdLst>
            <p14:sldId id="268"/>
            <p14:sldId id="269"/>
            <p14:sldId id="270"/>
            <p14:sldId id="271"/>
          </p14:sldIdLst>
        </p14:section>
        <p14:section name="Close" id="{985b91e1-a66c-a88c-5330-1b9fbdd6cbe7}">
          <p14:sldIdLst>
            <p14:sldId id="272"/>
          </p14:sldIdLst>
        </p14:section>
        <p14:section name="Appendix" id="{d47146b9-154c-f1ea-8383-ad8158a485d2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A1A1A"/>
                </a:solidFill>
                <a:latin typeface="+mn-lt"/>
              </a:rPr>
              <a:t>Where the energy goes: base-case losses (performance ratio 73%)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Loss</c:v>
                </c:pt>
              </c:strCache>
            </c:strRef>
          </c:tx>
          <c:spPr>
            <a:solidFill>
              <a:srgbClr val="C2293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Heat</c:v>
                  </c:pt>
                  <c:pt idx="1">
                    <c:v>Dust</c:v>
                  </c:pt>
                  <c:pt idx="2">
                    <c:v>Footfall shade</c:v>
                  </c:pt>
                  <c:pt idx="3">
                    <c:v>Reflection</c:v>
                  </c:pt>
                  <c:pt idx="4">
                    <c:v>Wiring, mismatch</c:v>
                  </c:pt>
                  <c:pt idx="5">
                    <c:v>Inverter</c:v>
                  </c:pt>
                  <c:pt idx="6">
                    <c:v>Availability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7.829999999999999</c:v>
                </c:pt>
                <c:pt idx="1">
                  <c:v>8</c:v>
                </c:pt>
                <c:pt idx="2">
                  <c:v>4</c:v>
                </c:pt>
                <c:pt idx="3">
                  <c:v>3</c:v>
                </c:pt>
                <c:pt idx="4">
                  <c:v>3</c:v>
                </c:pt>
                <c:pt idx="5">
                  <c:v>3.5000000000000004</c:v>
                </c:pt>
                <c:pt idx="6">
                  <c:v>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9A9A9A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6F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A1A1A"/>
                </a:solidFill>
                <a:latin typeface="+mn-lt"/>
              </a:rPr>
              <a:t>Pilot generation by month (kWh), 3.2 kWp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kWh</c:v>
                </c:pt>
              </c:strCache>
            </c:strRef>
          </c:tx>
          <c:spPr>
            <a:solidFill>
              <a:srgbClr val="B8750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372.377696947681</c:v>
                </c:pt>
                <c:pt idx="1">
                  <c:v>386.169463501299</c:v>
                </c:pt>
                <c:pt idx="2">
                  <c:v>455.128296269388</c:v>
                </c:pt>
                <c:pt idx="3">
                  <c:v>433.773302896044</c:v>
                </c:pt>
                <c:pt idx="4">
                  <c:v>413.752996608535</c:v>
                </c:pt>
                <c:pt idx="5">
                  <c:v>320.324900600156</c:v>
                </c:pt>
                <c:pt idx="6">
                  <c:v>296.522980902783</c:v>
                </c:pt>
                <c:pt idx="7">
                  <c:v>317.21063073321</c:v>
                </c:pt>
                <c:pt idx="8">
                  <c:v>333.671771458496</c:v>
                </c:pt>
                <c:pt idx="9">
                  <c:v>331.002397286828</c:v>
                </c:pt>
                <c:pt idx="10">
                  <c:v>306.978029741816</c:v>
                </c:pt>
                <c:pt idx="11">
                  <c:v>337.898280563637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A9A9A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6F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A1A1A"/>
                </a:solidFill>
                <a:latin typeface="+mn-lt"/>
              </a:rPr>
              <a:t>Campus rollout: cumulative net cash (₹ lakh), 1,000 m²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net cash (₹ lakh)</c:v>
                </c:pt>
              </c:strCache>
            </c:strRef>
          </c:tx>
          <c:spPr>
            <a:solidFill>
              <a:srgbClr val="2E6B3A"/>
            </a:solidFill>
            <a:ln w="38100" cap="flat">
              <a:solidFill>
                <a:srgbClr val="2E6B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E6B3A"/>
              </a:solidFill>
              <a:ln w="9525" cap="flat">
                <a:solidFill>
                  <a:srgbClr val="2E6B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-104.329</c:v>
                </c:pt>
                <c:pt idx="1">
                  <c:v>-86.89600311984351</c:v>
                </c:pt>
                <c:pt idx="2">
                  <c:v>-69.0061879023017</c:v>
                </c:pt>
                <c:pt idx="3">
                  <c:v>-50.6486729345781</c:v>
                </c:pt>
                <c:pt idx="4">
                  <c:v>-31.8123176086233</c:v>
                </c:pt>
                <c:pt idx="5">
                  <c:v>-12.485715947104199</c:v>
                </c:pt>
                <c:pt idx="6">
                  <c:v>7.34280971769228</c:v>
                </c:pt>
                <c:pt idx="7">
                  <c:v>27.685215215524202</c:v>
                </c:pt>
                <c:pt idx="8">
                  <c:v>48.5537411640145</c:v>
                </c:pt>
                <c:pt idx="9">
                  <c:v>69.9609197522978</c:v>
                </c:pt>
                <c:pt idx="10">
                  <c:v>91.91958168625399</c:v>
                </c:pt>
                <c:pt idx="11">
                  <c:v>114.44286329917699</c:v>
                </c:pt>
                <c:pt idx="12">
                  <c:v>131.14421383182</c:v>
                </c:pt>
                <c:pt idx="13">
                  <c:v>154.83740288585</c:v>
                </c:pt>
                <c:pt idx="14">
                  <c:v>179.13652805484801</c:v>
                </c:pt>
                <c:pt idx="15">
                  <c:v>204.056022737071</c:v>
                </c:pt>
                <c:pt idx="16">
                  <c:v>229.610664134324</c:v>
                </c:pt>
                <c:pt idx="17">
                  <c:v>255.81558144136</c:v>
                </c:pt>
                <c:pt idx="18">
                  <c:v>282.68626423035</c:v>
                </c:pt>
                <c:pt idx="19">
                  <c:v>310.238571035073</c:v>
                </c:pt>
                <c:pt idx="20">
                  <c:v>338.48873813958505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A9A9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F3F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6F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A1A1A"/>
                </a:solidFill>
                <a:latin typeface="+mn-lt"/>
              </a:rPr>
              <a:t>Installed cost per kWp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₹ per kWp</c:v>
                </c:pt>
              </c:strCache>
            </c:strRef>
          </c:tx>
          <c:spPr>
            <a:solidFill>
              <a:srgbClr val="0E2E4F"/>
            </a:solidFill>
            <a:effectLst/>
          </c:spPr>
          <c:invertIfNegative val="0"/>
          <c:dLbls>
            <c:numFmt formatCode="₹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C&amp;I rooftop</c:v>
                  </c:pt>
                  <c:pt idx="1">
                    <c:v>Solar carport</c:v>
                  </c:pt>
                  <c:pt idx="2">
                    <c:v>GridMats Solar Walkway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40000</c:v>
                </c:pt>
                <c:pt idx="1">
                  <c:v>61000</c:v>
                </c:pt>
                <c:pt idx="2">
                  <c:v>72705.625</c:v>
                </c:pt>
              </c:numCache>
            </c:numRef>
          </c:val>
        </c:ser>
        <c:dLbls>
          <c:numFmt formatCode="₹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9A9A9A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6F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idea: a 20 m² walkway on the [Client] campus that people walk on and that generates power. It is a pilot: GridMats Solar Walkway is pre-commercial, and the pilot exists to measure output, heat, grip and upkeep on [Client]'s own site before any rollout.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lines and one ask. The ask: a 20 m² pilot for which [Client] pays about ₹1.82 L ex-GST, with GridMats carrying design, half the PV layer, supervision and a 12-month performance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site: the roof is already committed, walkways are open sky that is paved anyway, and a walkway is where people see it. The three chevrons are the GridMats Solar Walkway proposition.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layers. Walkable PV on top, MLP lumber that carries the wiring and lets water and air through, and the patented GridMats base. Design basis about 160 W per square metre of walkway.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four steps, then safety. Be clear that walkability, load and heat are pilot measurements; GridMats does not claim test results it does not yet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Cell technology matters more on a walkway than on a roof: the modules lie flat, run hot and collect dust. TOPCon's lower temperature coefficient and slower degradation are worth a few percent of lifetime energy over PERC; HJT, which Reliance makes at Jamnagar, is slightly better again and is a candidate for a co-developed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pilot as drawn: four modules across, one per 500 mm grid, the cable run to an inverter and meter, then to the nearest low-voltage board. Sensor positions are indicative.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Generation follows the sun: strongest in March to May, weakest in the monsoon. The pilot will measure the real monthly figures against this curve; that comparison is the first line of the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offer: [Client] pays for the base, half the PV layer, the electrical work and installation; GridMats carries engineering, the other half of the PV layer, supervision and the monitoring study. Prices shown per sq ft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Separate the two cases. The pilot is an evidence purchase, made cheap by co-funding. The business case is rollout: at campus scale, with rollout prices and a credit for the walkway that would be built anyway, payback is a little under five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here: per kWp, a roof is cheaper and pays back faster. The walkway is not a replacement for rooftop solar; it adds generation where the roof is full and turns a walkway budget into a generating asset.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numbers drive everything: the landed power price at the campus and the real performance ratio of flat, walk-on modules. The bill gives the first; the pilot gives the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scorecard is the decision tool: ten measures, weighted, agreed before a single module goes down. The dashboard makes the data visible to the client's team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Indicative timing. The supply date is fixed in the purchase order once the site is ready; GridMats does not promise a fixed number of days before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rollout path. Each phase is a decision on its own, taken on measured data from the one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Credentials with the approved figures. Make the distinction explicit: customers and metrics are for the existing GridMats platform; the Solar Walkway is entering its first pilots.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site walk: name the walkway, the connection point and the facilities contact, and the pilot can be engineered within weeks.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slide. Every value here is an editable input in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83080"/>
            <a:ext cx="51206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20440"/>
            <a:ext cx="5029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Shape 0"/>
          <p:cNvSpPr/>
          <p:nvPr/>
        </p:nvSpPr>
        <p:spPr>
          <a:xfrm>
            <a:off x="10104120" y="256032"/>
            <a:ext cx="18745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/home/user/gridmats-monitor/solar-walkway-template/assets/logo_gridmats_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329184"/>
            <a:ext cx="1691640" cy="40690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864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GRIDMATS®  |  GroundReality Enterprises Pvt. Ltd.</a:t>
            </a:r>
            <a:endParaRPr lang="en-US" sz="1000" dirty="0"/>
          </a:p>
        </p:txBody>
      </p:sp>
      <p:sp>
        <p:nvSpPr>
          <p:cNvPr id="7" name="Text 2"/>
          <p:cNvSpPr/>
          <p:nvPr/>
        </p:nvSpPr>
        <p:spPr>
          <a:xfrm>
            <a:off x="8778240" y="6446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www.gridmats.com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9144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43000"/>
            <a:ext cx="91440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Shape 0"/>
          <p:cNvSpPr/>
          <p:nvPr/>
        </p:nvSpPr>
        <p:spPr>
          <a:xfrm>
            <a:off x="10104120" y="256032"/>
            <a:ext cx="18745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/home/user/gridmats-monitor/solar-walkway-template/assets/logo_gridmats_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329184"/>
            <a:ext cx="1691640" cy="4069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cept visualization of a GridMats Solar Walkway through a campu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0"/>
            <a:ext cx="6430975" cy="6858000"/>
          </a:xfrm>
          <a:prstGeom prst="rect">
            <a:avLst/>
          </a:prstGeom>
        </p:spPr>
      </p:pic>
      <p:sp>
        <p:nvSpPr>
          <p:cNvPr id="3" name="logo-box"/>
          <p:cNvSpPr/>
          <p:nvPr/>
        </p:nvSpPr>
        <p:spPr>
          <a:xfrm>
            <a:off x="10104120" y="256032"/>
            <a:ext cx="18745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1" descr="GridMats Solar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329184"/>
            <a:ext cx="1691640" cy="406908"/>
          </a:xfrm>
          <a:prstGeom prst="rect">
            <a:avLst/>
          </a:prstGeom>
        </p:spPr>
      </p:pic>
      <p:sp>
        <p:nvSpPr>
          <p:cNvPr id="5" name="pill"/>
          <p:cNvSpPr/>
          <p:nvPr/>
        </p:nvSpPr>
        <p:spPr>
          <a:xfrm>
            <a:off x="548640" y="109728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85800" y="10972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PILOT PROPOSAL  ·  [CLIENT]</a:t>
            </a:r>
            <a:endParaRPr lang="en-US" sz="12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178308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GridMats® Solar Walkway</a:t>
            </a:r>
            <a:endParaRPr lang="en-US" sz="40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35204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pilot walkway that generates power on your campus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920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Prepared for [Client legal entity]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[Campus or site name], [City, State]  ·  [Month Year]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172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GroundReality Enterprises Pvt. Ltd., Bengaluru  ·  Indian Patent 398992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10058400" y="64922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bg1"/>
                </a:solidFill>
              </a:rPr>
              <a:t>Concept visualization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proposal on one page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20 m² generating walkway on the [Client] campus, measured for 3 months before any rollout decision.</a:t>
            </a:r>
            <a:endParaRPr lang="en-US" sz="1500" dirty="0"/>
          </a:p>
        </p:txBody>
      </p:sp>
      <p:sp>
        <p:nvSpPr>
          <p:cNvPr id="4" name="badge"/>
          <p:cNvSpPr/>
          <p:nvPr/>
        </p:nvSpPr>
        <p:spPr>
          <a:xfrm>
            <a:off x="548640" y="164592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2763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5681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 m² GridMats Solar Walkway: 80 walkable 40 W modules on a recycled-plastic GridMats base, 3.2 kWp in all.</a:t>
            </a:r>
            <a:endParaRPr lang="en-US" sz="1400" dirty="0"/>
          </a:p>
        </p:txBody>
      </p:sp>
      <p:sp>
        <p:nvSpPr>
          <p:cNvPr id="8" name="badge"/>
          <p:cNvSpPr/>
          <p:nvPr/>
        </p:nvSpPr>
        <p:spPr>
          <a:xfrm>
            <a:off x="548640" y="274320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743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2491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05409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About 4,300 kWh a year (11.8 kWh a day on average), metered and sensed from day one.</a:t>
            </a:r>
            <a:endParaRPr lang="en-US" sz="1400" dirty="0"/>
          </a:p>
        </p:txBody>
      </p:sp>
      <p:sp>
        <p:nvSpPr>
          <p:cNvPr id="12" name="badge"/>
          <p:cNvSpPr/>
          <p:nvPr/>
        </p:nvSpPr>
        <p:spPr>
          <a:xfrm>
            <a:off x="548640" y="38404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40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82219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Cost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15137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[Client] pays ₹1.82 L ex-GST (₹848/sq ft). GridMats contributes ₹3.45 L: design, half the PV layer, supervision and the performance study.</a:t>
            </a:r>
            <a:endParaRPr lang="en-US" sz="1400" dirty="0"/>
          </a:p>
        </p:txBody>
      </p:sp>
      <p:sp>
        <p:nvSpPr>
          <p:cNvPr id="16" name="badge"/>
          <p:cNvSpPr/>
          <p:nvPr/>
        </p:nvSpPr>
        <p:spPr>
          <a:xfrm>
            <a:off x="548640" y="4937760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91947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Decision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24865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3-month evaluation against an agreed scorecard, monitoring for 12 months. At campus scale (1,000 m²) the model shows a 5.6-year payback.</a:t>
            </a:r>
            <a:endParaRPr lang="en-US" sz="1400" dirty="0"/>
          </a:p>
        </p:txBody>
      </p:sp>
      <p:sp>
        <p:nvSpPr>
          <p:cNvPr id="20" name="glance-card"/>
          <p:cNvSpPr/>
          <p:nvPr/>
        </p:nvSpPr>
        <p:spPr>
          <a:xfrm>
            <a:off x="7635240" y="1645920"/>
            <a:ext cx="4005072" cy="4206240"/>
          </a:xfrm>
          <a:prstGeom prst="roundRect">
            <a:avLst>
              <a:gd name="adj" fmla="val 1826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09560" y="1828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33D"/>
                </a:solidFill>
              </a:rPr>
              <a:t>THE PILOT AT A GLANCE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90956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3.2 kWp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909560" y="2880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on 20 m² (80 modules)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73836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4,300 kWh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9738360" y="2880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a year, estimated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909560" y="40233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₹1.82 L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7909560" y="45720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[Client] pays, ex-GST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738360" y="40233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5.1 years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9738360" y="45720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payback on [Client]'s outlay</a:t>
            </a:r>
            <a:endParaRPr lang="en-US" sz="1200" dirty="0"/>
          </a:p>
        </p:txBody>
      </p:sp>
      <p:sp>
        <p:nvSpPr>
          <p:cNvPr id="30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All figures from the companion model (base case). Money ex-GST. The GridMats Solar Walkway is pre-commercial; yield, life and upkeep are estimates the pilot measures.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a walkway at [Client]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Every paved surface can do more: use it, build it from recycled plastic, and make power on it.</a:t>
            </a:r>
            <a:endParaRPr lang="en-US" sz="1500" dirty="0"/>
          </a:p>
        </p:txBody>
      </p:sp>
      <p:sp>
        <p:nvSpPr>
          <p:cNvPr id="4" name="why-card"/>
          <p:cNvSpPr/>
          <p:nvPr/>
        </p:nvSpPr>
        <p:spPr>
          <a:xfrm>
            <a:off x="548640" y="164592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" name="icon-badge"/>
          <p:cNvSpPr/>
          <p:nvPr/>
        </p:nvSpPr>
        <p:spPr>
          <a:xfrm>
            <a:off x="777240" y="1920240"/>
            <a:ext cx="640080" cy="6400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6" name="Image 0" descr="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802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84708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Roofs are already busy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21284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Roofs carry plant, tanks and access; walkways are open sky that is paved anyway.</a:t>
            </a:r>
            <a:endParaRPr lang="en-US" sz="1300" dirty="0"/>
          </a:p>
        </p:txBody>
      </p:sp>
      <p:sp>
        <p:nvSpPr>
          <p:cNvPr id="9" name="why-card"/>
          <p:cNvSpPr/>
          <p:nvPr/>
        </p:nvSpPr>
        <p:spPr>
          <a:xfrm>
            <a:off x="6172200" y="164592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icon-badge"/>
          <p:cNvSpPr/>
          <p:nvPr/>
        </p:nvSpPr>
        <p:spPr>
          <a:xfrm>
            <a:off x="6400800" y="19202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820" y="208026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184708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visible proof point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223760" y="221284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People walk on the power plant every day: sustainability goals made tangible.</a:t>
            </a:r>
            <a:endParaRPr lang="en-US" sz="1300" dirty="0"/>
          </a:p>
        </p:txBody>
      </p:sp>
      <p:sp>
        <p:nvSpPr>
          <p:cNvPr id="14" name="why-card"/>
          <p:cNvSpPr/>
          <p:nvPr/>
        </p:nvSpPr>
        <p:spPr>
          <a:xfrm>
            <a:off x="548640" y="324612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5" name="icon-badge"/>
          <p:cNvSpPr/>
          <p:nvPr/>
        </p:nvSpPr>
        <p:spPr>
          <a:xfrm>
            <a:off x="777240" y="35204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mage 2" descr="Microc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368046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344728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Measured and connected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600200" y="381304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Every tile is metered and sensed, with a live dashboard.</a:t>
            </a:r>
            <a:endParaRPr lang="en-US" sz="1300" dirty="0"/>
          </a:p>
        </p:txBody>
      </p:sp>
      <p:sp>
        <p:nvSpPr>
          <p:cNvPr id="19" name="why-card"/>
          <p:cNvSpPr/>
          <p:nvPr/>
        </p:nvSpPr>
        <p:spPr>
          <a:xfrm>
            <a:off x="6172200" y="324612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0" name="icon-badge"/>
          <p:cNvSpPr/>
          <p:nvPr/>
        </p:nvSpPr>
        <p:spPr>
          <a:xfrm>
            <a:off x="6400800" y="3520440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1" name="Image 3" descr="ShoePrin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0820" y="368046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23760" y="344728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Small, safe first step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223760" y="381304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pilot of 20-25 m², low-voltage DC, built in days; decide on rollout with measured data.</a:t>
            </a:r>
            <a:endParaRPr lang="en-US" sz="1300" dirty="0"/>
          </a:p>
        </p:txBody>
      </p:sp>
      <p:sp>
        <p:nvSpPr>
          <p:cNvPr id="24" name="chevron"/>
          <p:cNvSpPr/>
          <p:nvPr/>
        </p:nvSpPr>
        <p:spPr>
          <a:xfrm>
            <a:off x="548640" y="5029200"/>
            <a:ext cx="3566160" cy="685800"/>
          </a:xfrm>
          <a:prstGeom prst="chevron">
            <a:avLst/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14400" y="50292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USE EXISTING SURFACES</a:t>
            </a:r>
            <a:endParaRPr lang="en-US" sz="1300" dirty="0"/>
          </a:p>
        </p:txBody>
      </p:sp>
      <p:sp>
        <p:nvSpPr>
          <p:cNvPr id="26" name="chevron"/>
          <p:cNvSpPr/>
          <p:nvPr/>
        </p:nvSpPr>
        <p:spPr>
          <a:xfrm>
            <a:off x="4297680" y="5029200"/>
            <a:ext cx="3566160" cy="685800"/>
          </a:xfrm>
          <a:prstGeom prst="chevron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663440" y="50292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RECYCLE INTO STRUCTURE</a:t>
            </a:r>
            <a:endParaRPr lang="en-US" sz="1300" dirty="0"/>
          </a:p>
        </p:txBody>
      </p:sp>
      <p:sp>
        <p:nvSpPr>
          <p:cNvPr id="28" name="chevron"/>
          <p:cNvSpPr/>
          <p:nvPr/>
        </p:nvSpPr>
        <p:spPr>
          <a:xfrm>
            <a:off x="8046720" y="5029200"/>
            <a:ext cx="3566160" cy="685800"/>
          </a:xfrm>
          <a:prstGeom prst="chevron">
            <a:avLst/>
          </a:prstGeom>
          <a:solidFill>
            <a:srgbClr val="E7F0E8"/>
          </a:solidFill>
          <a:ln w="12700">
            <a:solidFill>
              <a:srgbClr val="E7F0E8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412480" y="50292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GENERATE CLEAN ENERGY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it is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modular surface that carries people and produces electricity.</a:t>
            </a:r>
            <a:endParaRPr lang="en-US" sz="1500" dirty="0"/>
          </a:p>
        </p:txBody>
      </p:sp>
      <p:pic>
        <p:nvPicPr>
          <p:cNvPr id="4" name="Image 0" descr="Exploded view: PV module, MLP lumber, GridMats base on aggrega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5760720" cy="3246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92040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Concept visualization</a:t>
            </a:r>
            <a:endParaRPr lang="en-US" sz="1000" dirty="0"/>
          </a:p>
        </p:txBody>
      </p:sp>
      <p:sp>
        <p:nvSpPr>
          <p:cNvPr id="6" name="layer-card"/>
          <p:cNvSpPr/>
          <p:nvPr/>
        </p:nvSpPr>
        <p:spPr>
          <a:xfrm>
            <a:off x="6583680" y="1600200"/>
            <a:ext cx="5056632" cy="987552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" name="badge"/>
          <p:cNvSpPr/>
          <p:nvPr/>
        </p:nvSpPr>
        <p:spPr>
          <a:xfrm>
            <a:off x="6766560" y="1819656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0" y="18196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PV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170992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Walkable photovoltaic layer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498080" y="20116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mm toughened glass over a 40 W module; modular, so one module can be replaced without lifting the walkway.</a:t>
            </a:r>
            <a:endParaRPr lang="en-US" sz="1200" dirty="0"/>
          </a:p>
        </p:txBody>
      </p:sp>
      <p:sp>
        <p:nvSpPr>
          <p:cNvPr id="11" name="layer-card"/>
          <p:cNvSpPr/>
          <p:nvPr/>
        </p:nvSpPr>
        <p:spPr>
          <a:xfrm>
            <a:off x="6583680" y="2715768"/>
            <a:ext cx="5056632" cy="987552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badge"/>
          <p:cNvSpPr/>
          <p:nvPr/>
        </p:nvSpPr>
        <p:spPr>
          <a:xfrm>
            <a:off x="6766560" y="2935224"/>
            <a:ext cx="548640" cy="548640"/>
          </a:xfrm>
          <a:prstGeom prst="ellipse">
            <a:avLst/>
          </a:prstGeom>
          <a:solidFill>
            <a:srgbClr val="B87503"/>
          </a:solidFill>
          <a:ln w="12700">
            <a:solidFill>
              <a:srgbClr val="B8750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66560" y="2935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DC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2825496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MLP lumber electrical layer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498080" y="312724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40 × 40 mm recycled MLP lumber carries the wiring, with about 50 mm open gaps for airflow and drainage.</a:t>
            </a:r>
            <a:endParaRPr lang="en-US" sz="1200" dirty="0"/>
          </a:p>
        </p:txBody>
      </p:sp>
      <p:sp>
        <p:nvSpPr>
          <p:cNvPr id="16" name="layer-card"/>
          <p:cNvSpPr/>
          <p:nvPr/>
        </p:nvSpPr>
        <p:spPr>
          <a:xfrm>
            <a:off x="6583680" y="3831336"/>
            <a:ext cx="5056632" cy="987552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7" name="badge"/>
          <p:cNvSpPr/>
          <p:nvPr/>
        </p:nvSpPr>
        <p:spPr>
          <a:xfrm>
            <a:off x="6766560" y="405079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66560" y="40507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GM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39410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Patented GridMats structural base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7498080" y="424281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100% recycled polypropylene grid (500 × 500 mm, 4 per m²) gives confinement, stability and a level bed.</a:t>
            </a:r>
            <a:endParaRPr lang="en-US" sz="1200" dirty="0"/>
          </a:p>
        </p:txBody>
      </p:sp>
      <p:sp>
        <p:nvSpPr>
          <p:cNvPr id="21" name="basis-card"/>
          <p:cNvSpPr/>
          <p:nvPr/>
        </p:nvSpPr>
        <p:spPr>
          <a:xfrm>
            <a:off x="548640" y="525780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E7F0E8"/>
          </a:solidFill>
          <a:ln w="9525">
            <a:solidFill>
              <a:srgbClr val="E7F0E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77240" y="525780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Design basis:  40 W per 550 × 400 mm module  ·  4 modules per m²  ·  about 160 W per m² of walkway  ·  15-16% surface efficiency  ·  no extra land or mounting</a:t>
            </a:r>
            <a:endParaRPr lang="en-US" sz="1400" dirty="0"/>
          </a:p>
        </p:txBody>
      </p:sp>
      <p:sp>
        <p:nvSpPr>
          <p:cNvPr id="23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GridMats Solar Walkway flier (6 Oct 2026) and Client/Partner Deck v2. Status: pre-commercial; pilot validation under way.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How it works, and how it stays safe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proven GridMats platform extended into distributed energy; safety is designed in and verified in the pilot.</a:t>
            </a:r>
            <a:endParaRPr lang="en-US" sz="1500" dirty="0"/>
          </a:p>
        </p:txBody>
      </p:sp>
      <p:sp>
        <p:nvSpPr>
          <p:cNvPr id="4" name="badge"/>
          <p:cNvSpPr/>
          <p:nvPr/>
        </p:nvSpPr>
        <p:spPr>
          <a:xfrm>
            <a:off x="548640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276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Capture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3852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Walkable PV modules harvest sunlight on a surface already in use.</a:t>
            </a:r>
            <a:endParaRPr lang="en-US" sz="1300" dirty="0"/>
          </a:p>
        </p:txBody>
      </p:sp>
      <p:sp>
        <p:nvSpPr>
          <p:cNvPr id="8" name="badge"/>
          <p:cNvSpPr/>
          <p:nvPr/>
        </p:nvSpPr>
        <p:spPr>
          <a:xfrm>
            <a:off x="548640" y="2670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70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6517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Connect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96265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Low-voltage DC wiring runs inside the MLP lumber, out of sight and out of the way.</a:t>
            </a:r>
            <a:endParaRPr lang="en-US" sz="1300" dirty="0"/>
          </a:p>
        </p:txBody>
      </p:sp>
      <p:sp>
        <p:nvSpPr>
          <p:cNvPr id="12" name="badge"/>
          <p:cNvSpPr/>
          <p:nvPr/>
        </p:nvSpPr>
        <p:spPr>
          <a:xfrm>
            <a:off x="548640" y="369417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694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6758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Convert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98678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 inverter feeds the campus low-voltage board, behind the meter.</a:t>
            </a:r>
            <a:endParaRPr lang="en-US" sz="1300" dirty="0"/>
          </a:p>
        </p:txBody>
      </p:sp>
      <p:sp>
        <p:nvSpPr>
          <p:cNvPr id="16" name="badge"/>
          <p:cNvSpPr/>
          <p:nvPr/>
        </p:nvSpPr>
        <p:spPr>
          <a:xfrm>
            <a:off x="548640" y="471830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7183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7000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and measure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01091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Every kWh is metered; sensors log module heat, moisture and uptime.</a:t>
            </a:r>
            <a:endParaRPr lang="en-US" sz="1300" dirty="0"/>
          </a:p>
        </p:txBody>
      </p:sp>
      <p:sp>
        <p:nvSpPr>
          <p:cNvPr id="20" name="safety-card"/>
          <p:cNvSpPr/>
          <p:nvPr/>
        </p:nvSpPr>
        <p:spPr>
          <a:xfrm>
            <a:off x="6355080" y="1645920"/>
            <a:ext cx="5285232" cy="4160520"/>
          </a:xfrm>
          <a:prstGeom prst="roundRect">
            <a:avLst>
              <a:gd name="adj" fmla="val 1758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1" name="icon-badge"/>
          <p:cNvSpPr/>
          <p:nvPr/>
        </p:nvSpPr>
        <p:spPr>
          <a:xfrm>
            <a:off x="6583680" y="18288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Image 0" descr="Shield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965960"/>
            <a:ext cx="274320" cy="27432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7269480" y="1874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Safety by design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583680" y="2560320"/>
            <a:ext cx="4846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Textured toughened glass: target R11 or wet PTV ≥ 36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Load target 4 kN/m² and 4.5 kN point load (IS 875 Part 2)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Extra-low-voltage DC strings; IP68 junction boxes at grade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BIS-registered modules (IS 14286, IS/IEC 61730)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50 mm gaps drain and cool; edge ramps; one-module repairs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83680" y="47548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2B33D"/>
                </a:solidFill>
              </a:rPr>
              <a:t>Tested at handover and through the pilot; no result is claimed until it is measured.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Built on the latest TOPCon cells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n-type TOPCon runs cooler and ages slower than PERC, which matters on a hot, flat walkway.</a:t>
            </a:r>
            <a:endParaRPr lang="en-US" sz="1500" dirty="0"/>
          </a:p>
        </p:txBody>
      </p:sp>
      <p:sp>
        <p:nvSpPr>
          <p:cNvPr id="4" name="tech-card"/>
          <p:cNvSpPr/>
          <p:nvPr/>
        </p:nvSpPr>
        <p:spPr>
          <a:xfrm>
            <a:off x="548640" y="1600200"/>
            <a:ext cx="260604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" name="stat-value"/>
          <p:cNvSpPr txBox="1"/>
          <p:nvPr/>
        </p:nvSpPr>
        <p:spPr>
          <a:xfrm>
            <a:off x="731520" y="1737360"/>
            <a:ext cx="2286000" cy="3783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25.6-26%</a:t>
            </a:r>
            <a:endParaRPr lang="en-US" sz="2400" dirty="0"/>
          </a:p>
        </p:txBody>
      </p:sp>
      <p:sp>
        <p:nvSpPr>
          <p:cNvPr id="6" name="stat-label"/>
          <p:cNvSpPr txBox="1"/>
          <p:nvPr/>
        </p:nvSpPr>
        <p:spPr>
          <a:xfrm>
            <a:off x="731520" y="217059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TOPCon cell efficiency in mass production (2026)</a:t>
            </a:r>
            <a:endParaRPr lang="en-US" sz="1300" dirty="0"/>
          </a:p>
        </p:txBody>
      </p:sp>
      <p:sp>
        <p:nvSpPr>
          <p:cNvPr id="7" name="tech-card"/>
          <p:cNvSpPr/>
          <p:nvPr/>
        </p:nvSpPr>
        <p:spPr>
          <a:xfrm>
            <a:off x="3291840" y="1600200"/>
            <a:ext cx="260604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stat-value"/>
          <p:cNvSpPr txBox="1"/>
          <p:nvPr/>
        </p:nvSpPr>
        <p:spPr>
          <a:xfrm>
            <a:off x="3474720" y="1737360"/>
            <a:ext cx="2286000" cy="3783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26.66%</a:t>
            </a:r>
            <a:endParaRPr lang="en-US" sz="2400" dirty="0"/>
          </a:p>
        </p:txBody>
      </p:sp>
      <p:sp>
        <p:nvSpPr>
          <p:cNvPr id="9" name="stat-label"/>
          <p:cNvSpPr txBox="1"/>
          <p:nvPr/>
        </p:nvSpPr>
        <p:spPr>
          <a:xfrm>
            <a:off x="3474720" y="217059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record industrial TOPCon cell, M10 wafer (Feb 2026)</a:t>
            </a:r>
            <a:endParaRPr lang="en-US" sz="1300" dirty="0"/>
          </a:p>
        </p:txBody>
      </p:sp>
      <p:sp>
        <p:nvSpPr>
          <p:cNvPr id="10" name="tech-card"/>
          <p:cNvSpPr/>
          <p:nvPr/>
        </p:nvSpPr>
        <p:spPr>
          <a:xfrm>
            <a:off x="548640" y="3063240"/>
            <a:ext cx="260604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1" name="stat-value"/>
          <p:cNvSpPr txBox="1"/>
          <p:nvPr/>
        </p:nvSpPr>
        <p:spPr>
          <a:xfrm>
            <a:off x="731520" y="3200400"/>
            <a:ext cx="2286000" cy="3783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B87503"/>
                </a:solidFill>
              </a:rPr>
              <a:t>−0.29%/°C</a:t>
            </a:r>
            <a:endParaRPr lang="en-US" sz="2400" dirty="0"/>
          </a:p>
        </p:txBody>
      </p:sp>
      <p:sp>
        <p:nvSpPr>
          <p:cNvPr id="12" name="stat-label"/>
          <p:cNvSpPr txBox="1"/>
          <p:nvPr/>
        </p:nvSpPr>
        <p:spPr>
          <a:xfrm>
            <a:off x="731520" y="36336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power loss per degree, against −0.35%/°C for PERC</a:t>
            </a:r>
            <a:endParaRPr lang="en-US" sz="1300" dirty="0"/>
          </a:p>
        </p:txBody>
      </p:sp>
      <p:sp>
        <p:nvSpPr>
          <p:cNvPr id="13" name="tech-card"/>
          <p:cNvSpPr/>
          <p:nvPr/>
        </p:nvSpPr>
        <p:spPr>
          <a:xfrm>
            <a:off x="3291840" y="3063240"/>
            <a:ext cx="260604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stat-value"/>
          <p:cNvSpPr txBox="1"/>
          <p:nvPr/>
        </p:nvSpPr>
        <p:spPr>
          <a:xfrm>
            <a:off x="3474720" y="3200400"/>
            <a:ext cx="2286000" cy="3783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1% + 0.4%/yr</a:t>
            </a:r>
            <a:endParaRPr lang="en-US" sz="2400" dirty="0"/>
          </a:p>
        </p:txBody>
      </p:sp>
      <p:sp>
        <p:nvSpPr>
          <p:cNvPr id="15" name="stat-label"/>
          <p:cNvSpPr txBox="1"/>
          <p:nvPr/>
        </p:nvSpPr>
        <p:spPr>
          <a:xfrm>
            <a:off x="3474720" y="36336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degradation: first year, then each year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53492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188720"/>
                <a:gridCol w="118872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4 kWp pilot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Heat loss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20-yr MWh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W/m² (derived)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 PERC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229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TOPCon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HJT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Chart 0" descr=""/>
          <p:cNvGraphicFramePr/>
          <p:nvPr/>
        </p:nvGraphicFramePr>
        <p:xfrm>
          <a:off x="6263640" y="1600200"/>
          <a:ext cx="5376672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6263640" y="5349240"/>
            <a:ext cx="5376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TOPCon generates 3.8% more than PERC over 20 years on this walkway. Rated on the 40 W design basis; a TOPCon-derived rating of about 176 W/m² is the upgrade path, to be validated.</a:t>
            </a:r>
            <a:endParaRPr lang="en-US" sz="1200" dirty="0"/>
          </a:p>
        </p:txBody>
      </p:sp>
      <p:sp>
        <p:nvSpPr>
          <p:cNvPr id="19" name="source"/>
          <p:cNvSpPr txBox="1"/>
          <p:nvPr/>
        </p:nvSpPr>
        <p:spPr>
          <a:xfrm>
            <a:off x="548640" y="610819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pv-magazine (25 Feb 2026); taiyangnews; Canadian Solar TOPHiKu6 and Jinko Tiger Neo datasheets; JMK Research (Apr 2026). Losses are model assumptions the pilot measures.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pilot on the [Client] campus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[Campus or site name]: 10.0 m × 2.0 m of walkway, 80 modules, behind the meter.</a:t>
            </a:r>
            <a:endParaRPr lang="en-US" sz="1500" dirty="0"/>
          </a:p>
        </p:txBody>
      </p:sp>
      <p:sp>
        <p:nvSpPr>
          <p:cNvPr id="4" name="walkway-edge"/>
          <p:cNvSpPr/>
          <p:nvPr/>
        </p:nvSpPr>
        <p:spPr>
          <a:xfrm>
            <a:off x="658368" y="2121408"/>
            <a:ext cx="6729984" cy="1463040"/>
          </a:xfrm>
          <a:prstGeom prst="rect">
            <a:avLst/>
          </a:prstGeom>
          <a:solidFill>
            <a:srgbClr val="D9D4C7"/>
          </a:solidFill>
          <a:ln w="9525">
            <a:solidFill>
              <a:srgbClr val="B8B1A3"/>
            </a:solidFill>
            <a:prstDash val="solid"/>
          </a:ln>
        </p:spPr>
      </p:sp>
      <p:sp>
        <p:nvSpPr>
          <p:cNvPr id="5" name="module"/>
          <p:cNvSpPr/>
          <p:nvPr/>
        </p:nvSpPr>
        <p:spPr>
          <a:xfrm>
            <a:off x="751271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" name="module"/>
          <p:cNvSpPr/>
          <p:nvPr/>
        </p:nvSpPr>
        <p:spPr>
          <a:xfrm>
            <a:off x="751271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" name="module"/>
          <p:cNvSpPr/>
          <p:nvPr/>
        </p:nvSpPr>
        <p:spPr>
          <a:xfrm>
            <a:off x="751271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" name="module"/>
          <p:cNvSpPr/>
          <p:nvPr/>
        </p:nvSpPr>
        <p:spPr>
          <a:xfrm>
            <a:off x="751271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9" name="module"/>
          <p:cNvSpPr/>
          <p:nvPr/>
        </p:nvSpPr>
        <p:spPr>
          <a:xfrm>
            <a:off x="1080455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0" name="module"/>
          <p:cNvSpPr/>
          <p:nvPr/>
        </p:nvSpPr>
        <p:spPr>
          <a:xfrm>
            <a:off x="1080455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1" name="module"/>
          <p:cNvSpPr/>
          <p:nvPr/>
        </p:nvSpPr>
        <p:spPr>
          <a:xfrm>
            <a:off x="1080455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2" name="module"/>
          <p:cNvSpPr/>
          <p:nvPr/>
        </p:nvSpPr>
        <p:spPr>
          <a:xfrm>
            <a:off x="1080455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3" name="module"/>
          <p:cNvSpPr/>
          <p:nvPr/>
        </p:nvSpPr>
        <p:spPr>
          <a:xfrm>
            <a:off x="1409639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4" name="module"/>
          <p:cNvSpPr/>
          <p:nvPr/>
        </p:nvSpPr>
        <p:spPr>
          <a:xfrm>
            <a:off x="1409639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5" name="module"/>
          <p:cNvSpPr/>
          <p:nvPr/>
        </p:nvSpPr>
        <p:spPr>
          <a:xfrm>
            <a:off x="1409639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6" name="module"/>
          <p:cNvSpPr/>
          <p:nvPr/>
        </p:nvSpPr>
        <p:spPr>
          <a:xfrm>
            <a:off x="1409639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7" name="module"/>
          <p:cNvSpPr/>
          <p:nvPr/>
        </p:nvSpPr>
        <p:spPr>
          <a:xfrm>
            <a:off x="1738823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8" name="module"/>
          <p:cNvSpPr/>
          <p:nvPr/>
        </p:nvSpPr>
        <p:spPr>
          <a:xfrm>
            <a:off x="1738823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9" name="module"/>
          <p:cNvSpPr/>
          <p:nvPr/>
        </p:nvSpPr>
        <p:spPr>
          <a:xfrm>
            <a:off x="1738823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0" name="module"/>
          <p:cNvSpPr/>
          <p:nvPr/>
        </p:nvSpPr>
        <p:spPr>
          <a:xfrm>
            <a:off x="1738823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1" name="module"/>
          <p:cNvSpPr/>
          <p:nvPr/>
        </p:nvSpPr>
        <p:spPr>
          <a:xfrm>
            <a:off x="2068007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2" name="module"/>
          <p:cNvSpPr/>
          <p:nvPr/>
        </p:nvSpPr>
        <p:spPr>
          <a:xfrm>
            <a:off x="2068007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3" name="module"/>
          <p:cNvSpPr/>
          <p:nvPr/>
        </p:nvSpPr>
        <p:spPr>
          <a:xfrm>
            <a:off x="2068007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4" name="module"/>
          <p:cNvSpPr/>
          <p:nvPr/>
        </p:nvSpPr>
        <p:spPr>
          <a:xfrm>
            <a:off x="2068007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5" name="module"/>
          <p:cNvSpPr/>
          <p:nvPr/>
        </p:nvSpPr>
        <p:spPr>
          <a:xfrm>
            <a:off x="2397191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6" name="module"/>
          <p:cNvSpPr/>
          <p:nvPr/>
        </p:nvSpPr>
        <p:spPr>
          <a:xfrm>
            <a:off x="2397191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7" name="module"/>
          <p:cNvSpPr/>
          <p:nvPr/>
        </p:nvSpPr>
        <p:spPr>
          <a:xfrm>
            <a:off x="2397191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8" name="module"/>
          <p:cNvSpPr/>
          <p:nvPr/>
        </p:nvSpPr>
        <p:spPr>
          <a:xfrm>
            <a:off x="2397191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9" name="module"/>
          <p:cNvSpPr/>
          <p:nvPr/>
        </p:nvSpPr>
        <p:spPr>
          <a:xfrm>
            <a:off x="2726375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0" name="module"/>
          <p:cNvSpPr/>
          <p:nvPr/>
        </p:nvSpPr>
        <p:spPr>
          <a:xfrm>
            <a:off x="2726375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1" name="module"/>
          <p:cNvSpPr/>
          <p:nvPr/>
        </p:nvSpPr>
        <p:spPr>
          <a:xfrm>
            <a:off x="2726375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2" name="module"/>
          <p:cNvSpPr/>
          <p:nvPr/>
        </p:nvSpPr>
        <p:spPr>
          <a:xfrm>
            <a:off x="2726375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3" name="module"/>
          <p:cNvSpPr/>
          <p:nvPr/>
        </p:nvSpPr>
        <p:spPr>
          <a:xfrm>
            <a:off x="3055559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4" name="module"/>
          <p:cNvSpPr/>
          <p:nvPr/>
        </p:nvSpPr>
        <p:spPr>
          <a:xfrm>
            <a:off x="3055559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5" name="module"/>
          <p:cNvSpPr/>
          <p:nvPr/>
        </p:nvSpPr>
        <p:spPr>
          <a:xfrm>
            <a:off x="3055559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6" name="module"/>
          <p:cNvSpPr/>
          <p:nvPr/>
        </p:nvSpPr>
        <p:spPr>
          <a:xfrm>
            <a:off x="3055559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7" name="module"/>
          <p:cNvSpPr/>
          <p:nvPr/>
        </p:nvSpPr>
        <p:spPr>
          <a:xfrm>
            <a:off x="3384743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8" name="module"/>
          <p:cNvSpPr/>
          <p:nvPr/>
        </p:nvSpPr>
        <p:spPr>
          <a:xfrm>
            <a:off x="3384743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9" name="module"/>
          <p:cNvSpPr/>
          <p:nvPr/>
        </p:nvSpPr>
        <p:spPr>
          <a:xfrm>
            <a:off x="3384743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0" name="module"/>
          <p:cNvSpPr/>
          <p:nvPr/>
        </p:nvSpPr>
        <p:spPr>
          <a:xfrm>
            <a:off x="3384743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1" name="module"/>
          <p:cNvSpPr/>
          <p:nvPr/>
        </p:nvSpPr>
        <p:spPr>
          <a:xfrm>
            <a:off x="3713927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2" name="module"/>
          <p:cNvSpPr/>
          <p:nvPr/>
        </p:nvSpPr>
        <p:spPr>
          <a:xfrm>
            <a:off x="3713927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3" name="module"/>
          <p:cNvSpPr/>
          <p:nvPr/>
        </p:nvSpPr>
        <p:spPr>
          <a:xfrm>
            <a:off x="3713927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4" name="module"/>
          <p:cNvSpPr/>
          <p:nvPr/>
        </p:nvSpPr>
        <p:spPr>
          <a:xfrm>
            <a:off x="3713927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5" name="module"/>
          <p:cNvSpPr/>
          <p:nvPr/>
        </p:nvSpPr>
        <p:spPr>
          <a:xfrm>
            <a:off x="4043111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6" name="module"/>
          <p:cNvSpPr/>
          <p:nvPr/>
        </p:nvSpPr>
        <p:spPr>
          <a:xfrm>
            <a:off x="4043111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7" name="module"/>
          <p:cNvSpPr/>
          <p:nvPr/>
        </p:nvSpPr>
        <p:spPr>
          <a:xfrm>
            <a:off x="4043111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8" name="module"/>
          <p:cNvSpPr/>
          <p:nvPr/>
        </p:nvSpPr>
        <p:spPr>
          <a:xfrm>
            <a:off x="4043111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9" name="module"/>
          <p:cNvSpPr/>
          <p:nvPr/>
        </p:nvSpPr>
        <p:spPr>
          <a:xfrm>
            <a:off x="4372295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0" name="module"/>
          <p:cNvSpPr/>
          <p:nvPr/>
        </p:nvSpPr>
        <p:spPr>
          <a:xfrm>
            <a:off x="4372295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1" name="module"/>
          <p:cNvSpPr/>
          <p:nvPr/>
        </p:nvSpPr>
        <p:spPr>
          <a:xfrm>
            <a:off x="4372295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2" name="module"/>
          <p:cNvSpPr/>
          <p:nvPr/>
        </p:nvSpPr>
        <p:spPr>
          <a:xfrm>
            <a:off x="4372295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3" name="module"/>
          <p:cNvSpPr/>
          <p:nvPr/>
        </p:nvSpPr>
        <p:spPr>
          <a:xfrm>
            <a:off x="4701479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4" name="module"/>
          <p:cNvSpPr/>
          <p:nvPr/>
        </p:nvSpPr>
        <p:spPr>
          <a:xfrm>
            <a:off x="4701479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5" name="module"/>
          <p:cNvSpPr/>
          <p:nvPr/>
        </p:nvSpPr>
        <p:spPr>
          <a:xfrm>
            <a:off x="4701479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6" name="module"/>
          <p:cNvSpPr/>
          <p:nvPr/>
        </p:nvSpPr>
        <p:spPr>
          <a:xfrm>
            <a:off x="4701479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7" name="module"/>
          <p:cNvSpPr/>
          <p:nvPr/>
        </p:nvSpPr>
        <p:spPr>
          <a:xfrm>
            <a:off x="5030663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8" name="module"/>
          <p:cNvSpPr/>
          <p:nvPr/>
        </p:nvSpPr>
        <p:spPr>
          <a:xfrm>
            <a:off x="5030663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9" name="module"/>
          <p:cNvSpPr/>
          <p:nvPr/>
        </p:nvSpPr>
        <p:spPr>
          <a:xfrm>
            <a:off x="5030663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0" name="module"/>
          <p:cNvSpPr/>
          <p:nvPr/>
        </p:nvSpPr>
        <p:spPr>
          <a:xfrm>
            <a:off x="5030663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1" name="module"/>
          <p:cNvSpPr/>
          <p:nvPr/>
        </p:nvSpPr>
        <p:spPr>
          <a:xfrm>
            <a:off x="5359847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2" name="module"/>
          <p:cNvSpPr/>
          <p:nvPr/>
        </p:nvSpPr>
        <p:spPr>
          <a:xfrm>
            <a:off x="5359847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3" name="module"/>
          <p:cNvSpPr/>
          <p:nvPr/>
        </p:nvSpPr>
        <p:spPr>
          <a:xfrm>
            <a:off x="5359847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4" name="module"/>
          <p:cNvSpPr/>
          <p:nvPr/>
        </p:nvSpPr>
        <p:spPr>
          <a:xfrm>
            <a:off x="5359847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5" name="module"/>
          <p:cNvSpPr/>
          <p:nvPr/>
        </p:nvSpPr>
        <p:spPr>
          <a:xfrm>
            <a:off x="5689031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6" name="module"/>
          <p:cNvSpPr/>
          <p:nvPr/>
        </p:nvSpPr>
        <p:spPr>
          <a:xfrm>
            <a:off x="5689031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7" name="module"/>
          <p:cNvSpPr/>
          <p:nvPr/>
        </p:nvSpPr>
        <p:spPr>
          <a:xfrm>
            <a:off x="5689031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8" name="module"/>
          <p:cNvSpPr/>
          <p:nvPr/>
        </p:nvSpPr>
        <p:spPr>
          <a:xfrm>
            <a:off x="5689031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9" name="module"/>
          <p:cNvSpPr/>
          <p:nvPr/>
        </p:nvSpPr>
        <p:spPr>
          <a:xfrm>
            <a:off x="6018215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0" name="module"/>
          <p:cNvSpPr/>
          <p:nvPr/>
        </p:nvSpPr>
        <p:spPr>
          <a:xfrm>
            <a:off x="6018215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1" name="module"/>
          <p:cNvSpPr/>
          <p:nvPr/>
        </p:nvSpPr>
        <p:spPr>
          <a:xfrm>
            <a:off x="6018215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2" name="module"/>
          <p:cNvSpPr/>
          <p:nvPr/>
        </p:nvSpPr>
        <p:spPr>
          <a:xfrm>
            <a:off x="6018215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3" name="module"/>
          <p:cNvSpPr/>
          <p:nvPr/>
        </p:nvSpPr>
        <p:spPr>
          <a:xfrm>
            <a:off x="6347399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4" name="module"/>
          <p:cNvSpPr/>
          <p:nvPr/>
        </p:nvSpPr>
        <p:spPr>
          <a:xfrm>
            <a:off x="6347399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5" name="module"/>
          <p:cNvSpPr/>
          <p:nvPr/>
        </p:nvSpPr>
        <p:spPr>
          <a:xfrm>
            <a:off x="6347399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6" name="module"/>
          <p:cNvSpPr/>
          <p:nvPr/>
        </p:nvSpPr>
        <p:spPr>
          <a:xfrm>
            <a:off x="6347399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7" name="module"/>
          <p:cNvSpPr/>
          <p:nvPr/>
        </p:nvSpPr>
        <p:spPr>
          <a:xfrm>
            <a:off x="6676583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8" name="module"/>
          <p:cNvSpPr/>
          <p:nvPr/>
        </p:nvSpPr>
        <p:spPr>
          <a:xfrm>
            <a:off x="6676583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9" name="module"/>
          <p:cNvSpPr/>
          <p:nvPr/>
        </p:nvSpPr>
        <p:spPr>
          <a:xfrm>
            <a:off x="6676583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0" name="module"/>
          <p:cNvSpPr/>
          <p:nvPr/>
        </p:nvSpPr>
        <p:spPr>
          <a:xfrm>
            <a:off x="6676583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1" name="module"/>
          <p:cNvSpPr/>
          <p:nvPr/>
        </p:nvSpPr>
        <p:spPr>
          <a:xfrm>
            <a:off x="7005767" y="2214311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2" name="module"/>
          <p:cNvSpPr/>
          <p:nvPr/>
        </p:nvSpPr>
        <p:spPr>
          <a:xfrm>
            <a:off x="7005767" y="2543495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3" name="module"/>
          <p:cNvSpPr/>
          <p:nvPr/>
        </p:nvSpPr>
        <p:spPr>
          <a:xfrm>
            <a:off x="7005767" y="2872679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4" name="module"/>
          <p:cNvSpPr/>
          <p:nvPr/>
        </p:nvSpPr>
        <p:spPr>
          <a:xfrm>
            <a:off x="7005767" y="3201863"/>
            <a:ext cx="289682" cy="289682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731520" y="3648456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10.0 m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7424928" y="27157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2.0 m</a:t>
            </a:r>
            <a:endParaRPr lang="en-US" sz="1200" dirty="0"/>
          </a:p>
        </p:txBody>
      </p:sp>
      <p:sp>
        <p:nvSpPr>
          <p:cNvPr id="87" name="sensor"/>
          <p:cNvSpPr/>
          <p:nvPr/>
        </p:nvSpPr>
        <p:spPr>
          <a:xfrm>
            <a:off x="1645920" y="2516429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sensor"/>
          <p:cNvSpPr/>
          <p:nvPr/>
        </p:nvSpPr>
        <p:spPr>
          <a:xfrm>
            <a:off x="3621024" y="3043123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9" name="sensor"/>
          <p:cNvSpPr/>
          <p:nvPr/>
        </p:nvSpPr>
        <p:spPr>
          <a:xfrm>
            <a:off x="5596128" y="2516429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sensor"/>
          <p:cNvSpPr/>
          <p:nvPr/>
        </p:nvSpPr>
        <p:spPr>
          <a:xfrm>
            <a:off x="6912864" y="3043123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1" name="cable"/>
          <p:cNvSpPr/>
          <p:nvPr/>
        </p:nvSpPr>
        <p:spPr>
          <a:xfrm>
            <a:off x="7315200" y="3511296"/>
            <a:ext cx="0" cy="868680"/>
          </a:xfrm>
          <a:prstGeom prst="line">
            <a:avLst/>
          </a:prstGeom>
          <a:noFill/>
          <a:ln w="25400">
            <a:solidFill>
              <a:srgbClr val="B87503"/>
            </a:solidFill>
            <a:prstDash val="dash"/>
          </a:ln>
        </p:spPr>
      </p:sp>
      <p:sp>
        <p:nvSpPr>
          <p:cNvPr id="92" name="cable"/>
          <p:cNvSpPr/>
          <p:nvPr/>
        </p:nvSpPr>
        <p:spPr>
          <a:xfrm>
            <a:off x="6903720" y="4379976"/>
            <a:ext cx="411480" cy="0"/>
          </a:xfrm>
          <a:prstGeom prst="line">
            <a:avLst/>
          </a:prstGeom>
          <a:noFill/>
          <a:ln w="25400">
            <a:solidFill>
              <a:srgbClr val="B87503"/>
            </a:solidFill>
            <a:prstDash val="dash"/>
          </a:ln>
        </p:spPr>
      </p:sp>
      <p:sp>
        <p:nvSpPr>
          <p:cNvPr id="93" name="inverter"/>
          <p:cNvSpPr/>
          <p:nvPr/>
        </p:nvSpPr>
        <p:spPr>
          <a:xfrm>
            <a:off x="5577840" y="4197096"/>
            <a:ext cx="132588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5577840" y="419709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Inverter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energy meter</a:t>
            </a:r>
            <a:endParaRPr lang="en-US" sz="1100" dirty="0"/>
          </a:p>
        </p:txBody>
      </p:sp>
      <p:sp>
        <p:nvSpPr>
          <p:cNvPr id="95" name="board"/>
          <p:cNvSpPr/>
          <p:nvPr/>
        </p:nvSpPr>
        <p:spPr>
          <a:xfrm>
            <a:off x="3840480" y="4197096"/>
            <a:ext cx="1417320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3840480" y="419709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Campus LV board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(≤ 30 m)</a:t>
            </a:r>
            <a:endParaRPr lang="en-US" sz="1100" dirty="0"/>
          </a:p>
        </p:txBody>
      </p:sp>
      <p:sp>
        <p:nvSpPr>
          <p:cNvPr id="97" name="cable"/>
          <p:cNvSpPr/>
          <p:nvPr/>
        </p:nvSpPr>
        <p:spPr>
          <a:xfrm>
            <a:off x="5257800" y="4480560"/>
            <a:ext cx="320040" cy="0"/>
          </a:xfrm>
          <a:prstGeom prst="line">
            <a:avLst/>
          </a:prstGeom>
          <a:noFill/>
          <a:ln w="25400">
            <a:solidFill>
              <a:srgbClr val="B87503"/>
            </a:solidFill>
            <a:prstDash val="dash"/>
          </a:ln>
        </p:spPr>
      </p:sp>
      <p:sp>
        <p:nvSpPr>
          <p:cNvPr id="98" name="legend"/>
          <p:cNvSpPr/>
          <p:nvPr/>
        </p:nvSpPr>
        <p:spPr>
          <a:xfrm>
            <a:off x="731520" y="4800600"/>
            <a:ext cx="228600" cy="228600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1051560" y="4782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40 W module on a 500 × 500 mm GridMats grid</a:t>
            </a:r>
            <a:endParaRPr lang="en-US" sz="1200" dirty="0"/>
          </a:p>
        </p:txBody>
      </p:sp>
      <p:sp>
        <p:nvSpPr>
          <p:cNvPr id="100" name="legend"/>
          <p:cNvSpPr/>
          <p:nvPr/>
        </p:nvSpPr>
        <p:spPr>
          <a:xfrm>
            <a:off x="768096" y="5212080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1051560" y="5166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Sensors: module temperature, moisture, reference cell</a:t>
            </a:r>
            <a:endParaRPr lang="en-US" sz="1200" dirty="0"/>
          </a:p>
        </p:txBody>
      </p:sp>
      <p:sp>
        <p:nvSpPr>
          <p:cNvPr id="102" name="legend"/>
          <p:cNvSpPr/>
          <p:nvPr/>
        </p:nvSpPr>
        <p:spPr>
          <a:xfrm>
            <a:off x="685800" y="5687568"/>
            <a:ext cx="320040" cy="0"/>
          </a:xfrm>
          <a:prstGeom prst="line">
            <a:avLst/>
          </a:prstGeom>
          <a:noFill/>
          <a:ln w="25400">
            <a:solidFill>
              <a:srgbClr val="B87503"/>
            </a:solidFill>
            <a:prstDash val="dash"/>
          </a:ln>
        </p:spPr>
      </p:sp>
      <p:sp>
        <p:nvSpPr>
          <p:cNvPr id="103" name="Text 101"/>
          <p:cNvSpPr txBox="1"/>
          <p:nvPr/>
        </p:nvSpPr>
        <p:spPr>
          <a:xfrm>
            <a:off x="1051560" y="55504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Low-voltage cable route</a:t>
            </a:r>
            <a:endParaRPr lang="en-US" sz="1200" dirty="0"/>
          </a:p>
        </p:txBody>
      </p:sp>
      <p:sp>
        <p:nvSpPr>
          <p:cNvPr id="104" name="spec-card"/>
          <p:cNvSpPr/>
          <p:nvPr/>
        </p:nvSpPr>
        <p:spPr>
          <a:xfrm>
            <a:off x="7863840" y="164592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092440" y="1783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Pilot specification</a:t>
            </a:r>
            <a:endParaRPr lang="en-US" sz="1600" dirty="0"/>
          </a:p>
        </p:txBody>
      </p:sp>
      <p:sp>
        <p:nvSpPr>
          <p:cNvPr id="106" name="Text 104"/>
          <p:cNvSpPr txBox="1"/>
          <p:nvPr/>
        </p:nvSpPr>
        <p:spPr>
          <a:xfrm>
            <a:off x="8092440" y="21945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Area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9372600" y="21945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20.0 m² (215 sq ft)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8092440" y="26334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Modules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9372600" y="26334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80 × 40 W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8092440" y="30723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Cells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9372600" y="307238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TOPCon (n-type)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8092440" y="351129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Rated power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9372600" y="351129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3.2 kWp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8092440" y="395020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Build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372600" y="395020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New walkway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8092440" y="43891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Connection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372600" y="43891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Behind the meter, campus LV board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8092440" y="482803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Monitoring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9372600" y="48280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12 months, live dashboard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8092440" y="526694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Install time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9372600" y="526694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2-3 days on site</a:t>
            </a:r>
            <a:endParaRPr lang="en-US" sz="1300" dirty="0"/>
          </a:p>
        </p:txBody>
      </p:sp>
      <p:sp>
        <p:nvSpPr>
          <p:cNvPr id="122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Indicative layout; final layout follows the site assessment (shade, footfall, drainage, connection point).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it will generate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Bengaluru sunshine, TOPCon (n-type) modules, 73% performance ratio after losses, 5% site shading.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9494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-value"/>
          <p:cNvSpPr txBox="1"/>
          <p:nvPr/>
        </p:nvSpPr>
        <p:spPr>
          <a:xfrm>
            <a:off x="8001000" y="1691640"/>
            <a:ext cx="3657600" cy="40990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4,300 kWh</a:t>
            </a:r>
            <a:endParaRPr lang="en-US" sz="2600" dirty="0"/>
          </a:p>
        </p:txBody>
      </p:sp>
      <p:sp>
        <p:nvSpPr>
          <p:cNvPr id="6" name="stat-label"/>
          <p:cNvSpPr txBox="1"/>
          <p:nvPr/>
        </p:nvSpPr>
        <p:spPr>
          <a:xfrm>
            <a:off x="8001000" y="2156407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year, estimated</a:t>
            </a:r>
            <a:endParaRPr lang="en-US" sz="1300" dirty="0"/>
          </a:p>
        </p:txBody>
      </p:sp>
      <p:sp>
        <p:nvSpPr>
          <p:cNvPr id="7" name="stat-value"/>
          <p:cNvSpPr txBox="1"/>
          <p:nvPr/>
        </p:nvSpPr>
        <p:spPr>
          <a:xfrm>
            <a:off x="8001000" y="2743200"/>
            <a:ext cx="3657600" cy="40990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11.8 kWh</a:t>
            </a:r>
            <a:endParaRPr lang="en-US" sz="2600" dirty="0"/>
          </a:p>
        </p:txBody>
      </p:sp>
      <p:sp>
        <p:nvSpPr>
          <p:cNvPr id="8" name="stat-label"/>
          <p:cNvSpPr txBox="1"/>
          <p:nvPr/>
        </p:nvSpPr>
        <p:spPr>
          <a:xfrm>
            <a:off x="8001000" y="3207967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day on average</a:t>
            </a:r>
            <a:endParaRPr lang="en-US" sz="1300" dirty="0"/>
          </a:p>
        </p:txBody>
      </p:sp>
      <p:sp>
        <p:nvSpPr>
          <p:cNvPr id="9" name="stat-value"/>
          <p:cNvSpPr txBox="1"/>
          <p:nvPr/>
        </p:nvSpPr>
        <p:spPr>
          <a:xfrm>
            <a:off x="8001000" y="3794760"/>
            <a:ext cx="3657600" cy="40990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455 / 297</a:t>
            </a:r>
            <a:endParaRPr lang="en-US" sz="2600" dirty="0"/>
          </a:p>
        </p:txBody>
      </p:sp>
      <p:sp>
        <p:nvSpPr>
          <p:cNvPr id="10" name="stat-label"/>
          <p:cNvSpPr txBox="1"/>
          <p:nvPr/>
        </p:nvSpPr>
        <p:spPr>
          <a:xfrm>
            <a:off x="8001000" y="4259527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kWh in the best and the monsoon month</a:t>
            </a:r>
            <a:endParaRPr lang="en-US" sz="1300" dirty="0"/>
          </a:p>
        </p:txBody>
      </p:sp>
      <p:sp>
        <p:nvSpPr>
          <p:cNvPr id="11" name="stat-value"/>
          <p:cNvSpPr txBox="1"/>
          <p:nvPr/>
        </p:nvSpPr>
        <p:spPr>
          <a:xfrm>
            <a:off x="8001000" y="4846320"/>
            <a:ext cx="3657600" cy="40990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3.1 t</a:t>
            </a:r>
            <a:endParaRPr lang="en-US" sz="2600" dirty="0"/>
          </a:p>
        </p:txBody>
      </p:sp>
      <p:sp>
        <p:nvSpPr>
          <p:cNvPr id="12" name="stat-label"/>
          <p:cNvSpPr txBox="1"/>
          <p:nvPr/>
        </p:nvSpPr>
        <p:spPr>
          <a:xfrm>
            <a:off x="8001000" y="5311087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CO2 avoided a year (CEA grid factor)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Sunshine: typical-year Bengaluru profile, 1,935 kWh/m²/yr (replace with site data after the site walk). Specific yield 1,345 kWh/kWp/yr.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the pilot costs, and who pays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List value of the pilot scope against what [Client] pays. Ex-GST; GST extra at the applicable rate.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143000"/>
                <a:gridCol w="1234440"/>
                <a:gridCol w="118872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Scope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GridMats covers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[Client] pays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293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Site assessment and engineering design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₹0.40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₹0.40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Included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works and GridMats OC-LW 40 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₹0.19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₹0.19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Walkable PV layer (80 × 40 W, MLP lumber, wiring)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₹1.90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₹0.95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₹0.95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Electrical BOS, grid integration and metering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₹0.51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₹0.51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Logistics and installation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₹0.18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₹0.18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GridMats supervision, training and travel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₹0.85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₹0.85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Included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IoT sensors, dashboard and performance study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₹1.25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₹1.25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Included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Total, ex-GST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₹5.27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₹3.45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C229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₹1.82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ay-card"/>
          <p:cNvSpPr/>
          <p:nvPr/>
        </p:nvSpPr>
        <p:spPr>
          <a:xfrm>
            <a:off x="8183880" y="1600200"/>
            <a:ext cx="3456432" cy="4251960"/>
          </a:xfrm>
          <a:prstGeom prst="roundRect">
            <a:avLst>
              <a:gd name="adj" fmla="val 2116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6" name="stat-value"/>
          <p:cNvSpPr txBox="1"/>
          <p:nvPr/>
        </p:nvSpPr>
        <p:spPr>
          <a:xfrm>
            <a:off x="8412480" y="1783080"/>
            <a:ext cx="30175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₹1.82 L</a:t>
            </a:r>
            <a:endParaRPr lang="en-US" sz="3000" dirty="0"/>
          </a:p>
        </p:txBody>
      </p:sp>
      <p:sp>
        <p:nvSpPr>
          <p:cNvPr id="7" name="stat-label"/>
          <p:cNvSpPr txBox="1"/>
          <p:nvPr/>
        </p:nvSpPr>
        <p:spPr>
          <a:xfrm>
            <a:off x="8412480" y="231091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[Client] pays, ex-GST: ₹848/sq ft (₹1.99 L with GST)</a:t>
            </a:r>
            <a:endParaRPr lang="en-US" sz="1300" dirty="0"/>
          </a:p>
        </p:txBody>
      </p:sp>
      <p:sp>
        <p:nvSpPr>
          <p:cNvPr id="8" name="stat-value"/>
          <p:cNvSpPr txBox="1"/>
          <p:nvPr/>
        </p:nvSpPr>
        <p:spPr>
          <a:xfrm>
            <a:off x="8412480" y="3154680"/>
            <a:ext cx="30175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₹3.45 L</a:t>
            </a:r>
            <a:endParaRPr lang="en-US" sz="3000" dirty="0"/>
          </a:p>
        </p:txBody>
      </p:sp>
      <p:sp>
        <p:nvSpPr>
          <p:cNvPr id="9" name="stat-label"/>
          <p:cNvSpPr txBox="1"/>
          <p:nvPr/>
        </p:nvSpPr>
        <p:spPr>
          <a:xfrm>
            <a:off x="8412480" y="368251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GridMats contributes (65% of list): design, half the PV layer, supervision, IoT study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47091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Defect liability: 12 months from handover, with joint inspections. PV layer price ₹883/sq ft (₹9,500/m²).</a:t>
            </a:r>
            <a:endParaRPr lang="en-US" sz="1200" dirty="0"/>
          </a:p>
        </p:txBody>
      </p:sp>
      <p:sp>
        <p:nvSpPr>
          <p:cNvPr id="11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Co-funding of the PV layer: 50% (pilot offer, needs MD approval). Full physical installed cost before co-funding: ₹2.77 L (₹1,289/sq ft).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Pilot economics, and what rollout looks like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The pilot is for evidence; the business case is the campus rollout at 1,000 m².</a:t>
            </a:r>
            <a:endParaRPr lang="en-US" sz="1500" dirty="0"/>
          </a:p>
        </p:txBody>
      </p:sp>
      <p:sp>
        <p:nvSpPr>
          <p:cNvPr id="4" name="pilot-econ"/>
          <p:cNvSpPr/>
          <p:nvPr/>
        </p:nvSpPr>
        <p:spPr>
          <a:xfrm>
            <a:off x="548640" y="1600200"/>
            <a:ext cx="3520440" cy="425196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PILOT</a:t>
            </a:r>
            <a:endParaRPr lang="en-US" sz="1300" dirty="0"/>
          </a:p>
        </p:txBody>
      </p:sp>
      <p:sp>
        <p:nvSpPr>
          <p:cNvPr id="6" name="stat-value"/>
          <p:cNvSpPr txBox="1"/>
          <p:nvPr/>
        </p:nvSpPr>
        <p:spPr>
          <a:xfrm>
            <a:off x="777240" y="2103120"/>
            <a:ext cx="3108960" cy="4414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5.1 years</a:t>
            </a:r>
            <a:endParaRPr lang="en-US" sz="2800" dirty="0"/>
          </a:p>
        </p:txBody>
      </p:sp>
      <p:sp>
        <p:nvSpPr>
          <p:cNvPr id="7" name="stat-label"/>
          <p:cNvSpPr txBox="1"/>
          <p:nvPr/>
        </p:nvSpPr>
        <p:spPr>
          <a:xfrm>
            <a:off x="777240" y="259941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payback on [Client]'s ₹1.82 L outlay</a:t>
            </a:r>
            <a:endParaRPr lang="en-US" sz="1300" dirty="0"/>
          </a:p>
        </p:txBody>
      </p:sp>
      <p:sp>
        <p:nvSpPr>
          <p:cNvPr id="8" name="stat-value"/>
          <p:cNvSpPr txBox="1"/>
          <p:nvPr/>
        </p:nvSpPr>
        <p:spPr>
          <a:xfrm>
            <a:off x="777240" y="3337560"/>
            <a:ext cx="3108960" cy="4414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7.4 years</a:t>
            </a:r>
            <a:endParaRPr lang="en-US" sz="2800" dirty="0"/>
          </a:p>
        </p:txBody>
      </p:sp>
      <p:sp>
        <p:nvSpPr>
          <p:cNvPr id="9" name="stat-label"/>
          <p:cNvSpPr txBox="1"/>
          <p:nvPr/>
        </p:nvSpPr>
        <p:spPr>
          <a:xfrm>
            <a:off x="777240" y="383385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payback on the full ₹2.77 L installed cost, without co-funding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54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Year-1 bill saving about ₹38,400 at ₹9.00/kWh.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251960" y="1600200"/>
          <a:ext cx="4800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tat-value"/>
          <p:cNvSpPr txBox="1"/>
          <p:nvPr/>
        </p:nvSpPr>
        <p:spPr>
          <a:xfrm>
            <a:off x="9281160" y="1645920"/>
            <a:ext cx="2377440" cy="34684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₹1,081/sq ft</a:t>
            </a:r>
            <a:endParaRPr lang="en-US" sz="2200" dirty="0"/>
          </a:p>
        </p:txBody>
      </p:sp>
      <p:sp>
        <p:nvSpPr>
          <p:cNvPr id="13" name="stat-label"/>
          <p:cNvSpPr txBox="1"/>
          <p:nvPr/>
        </p:nvSpPr>
        <p:spPr>
          <a:xfrm>
            <a:off x="9281160" y="204762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installed at rollout (₹11,633/m²)</a:t>
            </a:r>
            <a:endParaRPr lang="en-US" sz="1300" dirty="0"/>
          </a:p>
        </p:txBody>
      </p:sp>
      <p:sp>
        <p:nvSpPr>
          <p:cNvPr id="14" name="stat-value"/>
          <p:cNvSpPr txBox="1"/>
          <p:nvPr/>
        </p:nvSpPr>
        <p:spPr>
          <a:xfrm>
            <a:off x="9281160" y="2697480"/>
            <a:ext cx="2377440" cy="34684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5.6 years</a:t>
            </a:r>
            <a:endParaRPr lang="en-US" sz="2200" dirty="0"/>
          </a:p>
        </p:txBody>
      </p:sp>
      <p:sp>
        <p:nvSpPr>
          <p:cNvPr id="15" name="stat-label"/>
          <p:cNvSpPr txBox="1"/>
          <p:nvPr/>
        </p:nvSpPr>
        <p:spPr>
          <a:xfrm>
            <a:off x="9281160" y="309918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payback, net of the walkway it replaces</a:t>
            </a:r>
            <a:endParaRPr lang="en-US" sz="1300" dirty="0"/>
          </a:p>
        </p:txBody>
      </p:sp>
      <p:sp>
        <p:nvSpPr>
          <p:cNvPr id="16" name="stat-value"/>
          <p:cNvSpPr txBox="1"/>
          <p:nvPr/>
        </p:nvSpPr>
        <p:spPr>
          <a:xfrm>
            <a:off x="9281160" y="3749040"/>
            <a:ext cx="2377440" cy="34684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18%</a:t>
            </a:r>
            <a:endParaRPr lang="en-US" sz="2200" dirty="0"/>
          </a:p>
        </p:txBody>
      </p:sp>
      <p:sp>
        <p:nvSpPr>
          <p:cNvPr id="17" name="stat-label"/>
          <p:cNvSpPr txBox="1"/>
          <p:nvPr/>
        </p:nvSpPr>
        <p:spPr>
          <a:xfrm>
            <a:off x="9281160" y="415074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IRR over 20 years, pre-tax</a:t>
            </a:r>
            <a:endParaRPr lang="en-US" sz="1300" dirty="0"/>
          </a:p>
        </p:txBody>
      </p:sp>
      <p:sp>
        <p:nvSpPr>
          <p:cNvPr id="18" name="stat-value"/>
          <p:cNvSpPr txBox="1"/>
          <p:nvPr/>
        </p:nvSpPr>
        <p:spPr>
          <a:xfrm>
            <a:off x="9281160" y="4800600"/>
            <a:ext cx="2377440" cy="34684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₹6.94</a:t>
            </a:r>
            <a:endParaRPr lang="en-US" sz="2200" dirty="0"/>
          </a:p>
        </p:txBody>
      </p:sp>
      <p:sp>
        <p:nvSpPr>
          <p:cNvPr id="19" name="stat-label"/>
          <p:cNvSpPr txBox="1"/>
          <p:nvPr/>
        </p:nvSpPr>
        <p:spPr>
          <a:xfrm>
            <a:off x="9281160" y="520230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per kWh, against grid power at ₹9.00</a:t>
            </a:r>
            <a:endParaRPr lang="en-US" sz="1300" dirty="0"/>
          </a:p>
        </p:txBody>
      </p:sp>
      <p:sp>
        <p:nvSpPr>
          <p:cNvPr id="20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Rollout uses the rollout PV-layer price (₹8,500/m²), the GridMats price ladder and a ₹1,200/m² credit for the paver walkway it replaces. 3% tariff escalation, 10% discount rate.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How it compares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Rooftop solar is cheaper per kWp. The walkway wins where roofs are full and a walkway is being built anyway.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52120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600200"/>
          <a:ext cx="56052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960120"/>
                <a:gridCol w="1078992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the same footprint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Walkway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29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Rooftop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Carport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Pavers + rooftop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Payback (years)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Walking surface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Shade, not a walkway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Roof or structure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Steel canopy and footings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Recycled plastic (t)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035040" y="4754880"/>
            <a:ext cx="5605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Positioning: on walkways that are being built or relaid, on campuses where the roof is spoken for, and where visibility matters.</a:t>
            </a:r>
            <a:endParaRPr lang="en-US" sz="140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Footprint 1,000 m². Rooftop ₹40/Wp and carport ₹61/Wp all-in (earlier GridMats ROI model benchmarks). Payback on year-1 figures, before any walkway credit.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moves the payback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Campus-rollout payback in years: power price against performance ratio. Base case: ₹9.00/kWh, 73%.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87552"/>
                <a:gridCol w="987552"/>
                <a:gridCol w="987552"/>
                <a:gridCol w="987552"/>
                <a:gridCol w="98755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 / kWh  ↓   ·   PR  →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</a:tr>
            </a:tbl>
          </a:graphicData>
        </a:graphic>
      </p:graphicFrame>
      <p:sp>
        <p:nvSpPr>
          <p:cNvPr id="5" name="sens-card"/>
          <p:cNvSpPr/>
          <p:nvPr/>
        </p:nvSpPr>
        <p:spPr>
          <a:xfrm>
            <a:off x="7680960" y="1600200"/>
            <a:ext cx="3959352" cy="4251960"/>
          </a:xfrm>
          <a:prstGeom prst="roundRect">
            <a:avLst>
              <a:gd name="adj" fmla="val 1848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09560" y="1737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Reading the table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21488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6B3A"/>
                </a:solidFill>
              </a:rPr>
              <a:t>Green: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 years or less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B87503"/>
                </a:solidFill>
              </a:rPr>
              <a:t>Amber: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 to 9 years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22935"/>
                </a:solidFill>
              </a:rPr>
              <a:t>Red: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above 9 years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3246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Pilot payback on [Client]'s outlay vs GridMats co-funding of the PV layer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0" y="3886200"/>
          <a:ext cx="35204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594360"/>
                <a:gridCol w="594360"/>
                <a:gridCol w="594360"/>
                <a:gridCol w="5943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Co-funding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Payback (yrs)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7909560" y="48920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The pilot measures the performance ratio; the electricity bill sets the power price.</a:t>
            </a:r>
            <a:endParaRPr lang="en-US" sz="1200" dirty="0"/>
          </a:p>
        </p:txBody>
      </p:sp>
      <p:sp>
        <p:nvSpPr>
          <p:cNvPr id="11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Model sheet 'Sensitivity'. Simple payback on year-1 figures, net of the walkway it replaces.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Measured, not assumed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scorecard agreed with [Client] before installation and reviewed at 3 months.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69494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017520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Energy generation vs estimate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 of the model's monthly estimate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Performance ratio achieved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PR used in the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Pedestrian and maintenance-cart load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kN/m² uniform and 4.5 kN point load (IS 875 Part 2); no cracking or movement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Surface temperature (peak)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Within module specification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Slip resistance and walking comfort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R11 (DIN 51130) or wet pendulum PTV ≥ 36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Drainage and water ingress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ponding, no ingress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Electrical uptime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Cleaning and maintenance effort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Within O&amp;M assumption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 survival and repairability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irreparable failures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finish and user acceptance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acceptance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dash-card"/>
          <p:cNvSpPr/>
          <p:nvPr/>
        </p:nvSpPr>
        <p:spPr>
          <a:xfrm>
            <a:off x="7818120" y="1572768"/>
            <a:ext cx="3822192" cy="4297680"/>
          </a:xfrm>
          <a:prstGeom prst="roundRect">
            <a:avLst>
              <a:gd name="adj" fmla="val 1914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" name="icon-badge"/>
          <p:cNvSpPr/>
          <p:nvPr/>
        </p:nvSpPr>
        <p:spPr>
          <a:xfrm>
            <a:off x="8046720" y="17556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Microch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8928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732520" y="18013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Live pilot dashboard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8046720" y="2514600"/>
            <a:ext cx="3429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Energy: kWh per day and W per m²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Module temperature and ventilation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Moisture, rainfall and drainage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Uptime and fault alerts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Data exportable to the campus IoT stack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8046720" y="493776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F2B33D"/>
                </a:solidFill>
              </a:rPr>
              <a:t>GridMats Pavement Monitor, extended for the Solar Walkway.</a:t>
            </a:r>
            <a:endParaRPr lang="en-US" sz="1200" dirty="0"/>
          </a:p>
        </p:txBody>
      </p:sp>
      <p:sp>
        <p:nvSpPr>
          <p:cNvPr id="11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KPIs and weights from the earlier GridMats Solar Walkway ROI model (pilot scorecard). Targets are finalised jointly before installation.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From site walk to switch-on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About six weeks to switch-on, a 3-month evaluation, then monitoring through the monsoon.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52533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190265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727998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M4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5730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M5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03463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M6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41195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878928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416660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M9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54393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M10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492125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M11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029858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M12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567590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M13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1105323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M14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Site walk, shading and generation estimate</a:t>
            </a:r>
            <a:endParaRPr lang="en-US" sz="1300" dirty="0"/>
          </a:p>
        </p:txBody>
      </p:sp>
      <p:sp>
        <p:nvSpPr>
          <p:cNvPr id="19" name="gantt"/>
          <p:cNvSpPr/>
          <p:nvPr/>
        </p:nvSpPr>
        <p:spPr>
          <a:xfrm>
            <a:off x="4114800" y="2011680"/>
            <a:ext cx="215093" cy="274320"/>
          </a:xfrm>
          <a:prstGeom prst="roundRect">
            <a:avLst>
              <a:gd name="adj" fmla="val 2550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44144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Engineering, electrical and safety approvals</a:t>
            </a:r>
            <a:endParaRPr lang="en-US" sz="1300" dirty="0"/>
          </a:p>
        </p:txBody>
      </p:sp>
      <p:sp>
        <p:nvSpPr>
          <p:cNvPr id="21" name="gantt"/>
          <p:cNvSpPr/>
          <p:nvPr/>
        </p:nvSpPr>
        <p:spPr>
          <a:xfrm>
            <a:off x="4276120" y="2487168"/>
            <a:ext cx="376413" cy="27432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291693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Order; supply date fixed in the PO</a:t>
            </a:r>
            <a:endParaRPr lang="en-US" sz="1300" dirty="0"/>
          </a:p>
        </p:txBody>
      </p:sp>
      <p:sp>
        <p:nvSpPr>
          <p:cNvPr id="23" name="gantt"/>
          <p:cNvSpPr/>
          <p:nvPr/>
        </p:nvSpPr>
        <p:spPr>
          <a:xfrm>
            <a:off x="4598759" y="2962656"/>
            <a:ext cx="268866" cy="274320"/>
          </a:xfrm>
          <a:prstGeom prst="roundRect">
            <a:avLst>
              <a:gd name="adj" fmla="val 2040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39242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Install (2-3 days) and commission</a:t>
            </a:r>
            <a:endParaRPr lang="en-US" sz="1300" dirty="0"/>
          </a:p>
        </p:txBody>
      </p:sp>
      <p:sp>
        <p:nvSpPr>
          <p:cNvPr id="25" name="gantt"/>
          <p:cNvSpPr/>
          <p:nvPr/>
        </p:nvSpPr>
        <p:spPr>
          <a:xfrm>
            <a:off x="4867626" y="3438144"/>
            <a:ext cx="137160" cy="274320"/>
          </a:xfrm>
          <a:prstGeom prst="roundRect">
            <a:avLst>
              <a:gd name="adj" fmla="val 4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38679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Evaluation against the scorecard (3 months)</a:t>
            </a:r>
            <a:endParaRPr lang="en-US" sz="1300" dirty="0"/>
          </a:p>
        </p:txBody>
      </p:sp>
      <p:sp>
        <p:nvSpPr>
          <p:cNvPr id="27" name="gantt"/>
          <p:cNvSpPr/>
          <p:nvPr/>
        </p:nvSpPr>
        <p:spPr>
          <a:xfrm>
            <a:off x="4975172" y="3913632"/>
            <a:ext cx="1613198" cy="27432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343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Decision gate: rollout or refine</a:t>
            </a:r>
            <a:endParaRPr lang="en-US" sz="1300" dirty="0"/>
          </a:p>
        </p:txBody>
      </p:sp>
      <p:sp>
        <p:nvSpPr>
          <p:cNvPr id="29" name="gantt"/>
          <p:cNvSpPr/>
          <p:nvPr/>
        </p:nvSpPr>
        <p:spPr>
          <a:xfrm>
            <a:off x="6588370" y="4389120"/>
            <a:ext cx="137160" cy="274320"/>
          </a:xfrm>
          <a:prstGeom prst="roundRect">
            <a:avLst>
              <a:gd name="adj" fmla="val 4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8188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Monitoring, live dashboard (12 months)</a:t>
            </a:r>
            <a:endParaRPr lang="en-US" sz="1300" dirty="0"/>
          </a:p>
        </p:txBody>
      </p:sp>
      <p:sp>
        <p:nvSpPr>
          <p:cNvPr id="31" name="gantt"/>
          <p:cNvSpPr/>
          <p:nvPr/>
        </p:nvSpPr>
        <p:spPr>
          <a:xfrm>
            <a:off x="4975172" y="4864608"/>
            <a:ext cx="6452790" cy="274320"/>
          </a:xfrm>
          <a:prstGeom prst="roundRect">
            <a:avLst>
              <a:gd name="adj" fmla="val 20000"/>
            </a:avLst>
          </a:prstGeom>
          <a:solidFill>
            <a:srgbClr val="B87503"/>
          </a:solidFill>
          <a:ln w="12700">
            <a:solidFill>
              <a:srgbClr val="B87503"/>
            </a:solidFill>
            <a:prstDash val="solid"/>
          </a:ln>
        </p:spPr>
      </p:sp>
      <p:sp>
        <p:nvSpPr>
          <p:cNvPr id="32" name="promise-card"/>
          <p:cNvSpPr/>
          <p:nvPr/>
        </p:nvSpPr>
        <p:spPr>
          <a:xfrm>
            <a:off x="548640" y="5532120"/>
            <a:ext cx="11094415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5321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Built by teams GridMats trains, with a GridMats engineer on site for the whole installation.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From pilot to campus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Year-1 figures at each step; later phases use rollout prices for their area.</a:t>
            </a:r>
            <a:endParaRPr lang="en-US" sz="1500" dirty="0"/>
          </a:p>
        </p:txBody>
      </p:sp>
      <p:sp>
        <p:nvSpPr>
          <p:cNvPr id="4" name="phase-card"/>
          <p:cNvSpPr/>
          <p:nvPr/>
        </p:nvSpPr>
        <p:spPr>
          <a:xfrm>
            <a:off x="548640" y="1600200"/>
            <a:ext cx="2651760" cy="3657600"/>
          </a:xfrm>
          <a:prstGeom prst="roundRect">
            <a:avLst>
              <a:gd name="adj" fmla="val 2759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" name="phase-head"/>
          <p:cNvSpPr/>
          <p:nvPr/>
        </p:nvSpPr>
        <p:spPr>
          <a:xfrm>
            <a:off x="548640" y="1600200"/>
            <a:ext cx="265176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Pilot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385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20 m²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231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3.2 kWp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6974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rated power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718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4.3 MWh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2461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 year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5204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₹0.4 L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7947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electricity saved a year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069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3.1 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3434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CO2 avoided a year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6177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7.3 years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892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payback at full pilot cost</a:t>
            </a:r>
            <a:endParaRPr lang="en-US" sz="1100" dirty="0"/>
          </a:p>
        </p:txBody>
      </p:sp>
      <p:sp>
        <p:nvSpPr>
          <p:cNvPr id="18" name="phase-card"/>
          <p:cNvSpPr/>
          <p:nvPr/>
        </p:nvSpPr>
        <p:spPr>
          <a:xfrm>
            <a:off x="3364992" y="1600200"/>
            <a:ext cx="2651760" cy="3657600"/>
          </a:xfrm>
          <a:prstGeom prst="roundRect">
            <a:avLst>
              <a:gd name="adj" fmla="val 2759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9" name="phase-head"/>
          <p:cNvSpPr/>
          <p:nvPr/>
        </p:nvSpPr>
        <p:spPr>
          <a:xfrm>
            <a:off x="3364992" y="1600200"/>
            <a:ext cx="265176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47872" y="1600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Phase 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547872" y="19385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200 m²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547872" y="24231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32 kWp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547872" y="26974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rated power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547872" y="29718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43.0 MWh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3547872" y="32461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 year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547872" y="35204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₹3.9 L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547872" y="37947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electricity saved a year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547872" y="4069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30.6 t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547872" y="43434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CO2 avoided a year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547872" y="46177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6.6 years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3547872" y="4892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payback, net of walkway credit</a:t>
            </a:r>
            <a:endParaRPr lang="en-US" sz="1100" dirty="0"/>
          </a:p>
        </p:txBody>
      </p:sp>
      <p:sp>
        <p:nvSpPr>
          <p:cNvPr id="32" name="phase-card"/>
          <p:cNvSpPr/>
          <p:nvPr/>
        </p:nvSpPr>
        <p:spPr>
          <a:xfrm>
            <a:off x="6181344" y="1600200"/>
            <a:ext cx="2651760" cy="3657600"/>
          </a:xfrm>
          <a:prstGeom prst="roundRect">
            <a:avLst>
              <a:gd name="adj" fmla="val 2759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33" name="phase-head"/>
          <p:cNvSpPr/>
          <p:nvPr/>
        </p:nvSpPr>
        <p:spPr>
          <a:xfrm>
            <a:off x="6181344" y="1600200"/>
            <a:ext cx="265176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4224" y="1600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Campus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364224" y="19385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1,000 m²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364224" y="24231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160 kWp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6364224" y="26974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rated power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364224" y="29718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215 MWh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6364224" y="32461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 year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364224" y="35204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₹19.4 L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364224" y="37947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electricity saved a year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364224" y="4069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152.8 t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64224" y="43434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CO2 avoided a year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364224" y="46177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5.9 years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364224" y="4892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payback, net of walkway credit</a:t>
            </a:r>
            <a:endParaRPr lang="en-US" sz="1100" dirty="0"/>
          </a:p>
        </p:txBody>
      </p:sp>
      <p:sp>
        <p:nvSpPr>
          <p:cNvPr id="46" name="phase-card"/>
          <p:cNvSpPr/>
          <p:nvPr/>
        </p:nvSpPr>
        <p:spPr>
          <a:xfrm>
            <a:off x="8997696" y="1600200"/>
            <a:ext cx="2651760" cy="3657600"/>
          </a:xfrm>
          <a:prstGeom prst="roundRect">
            <a:avLst>
              <a:gd name="adj" fmla="val 2759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47" name="phase-head"/>
          <p:cNvSpPr/>
          <p:nvPr/>
        </p:nvSpPr>
        <p:spPr>
          <a:xfrm>
            <a:off x="8997696" y="1600200"/>
            <a:ext cx="26517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180576" y="1600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Portfolio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9180576" y="19385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5,000 m²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9180576" y="24231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800 kWp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9180576" y="26974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rated power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180576" y="29718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1,076 MWh</a:t>
            </a:r>
            <a:endParaRPr lang="en-US" sz="1600" dirty="0"/>
          </a:p>
        </p:txBody>
      </p:sp>
      <p:sp>
        <p:nvSpPr>
          <p:cNvPr id="53" name="Text 51"/>
          <p:cNvSpPr txBox="1"/>
          <p:nvPr/>
        </p:nvSpPr>
        <p:spPr>
          <a:xfrm>
            <a:off x="9180576" y="32461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 year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9180576" y="35204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₹96.9 L</a:t>
            </a:r>
            <a:endParaRPr lang="en-US" sz="1600" dirty="0"/>
          </a:p>
        </p:txBody>
      </p:sp>
      <p:sp>
        <p:nvSpPr>
          <p:cNvPr id="55" name="Text 53"/>
          <p:cNvSpPr txBox="1"/>
          <p:nvPr/>
        </p:nvSpPr>
        <p:spPr>
          <a:xfrm>
            <a:off x="9180576" y="37947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electricity saved a year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9180576" y="4069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764.1 t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9180576" y="43434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CO2 avoided a year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9180576" y="46177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5.9 years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9180576" y="4892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payback, net of walkway credit</a:t>
            </a:r>
            <a:endParaRPr lang="en-US" sz="1100" dirty="0"/>
          </a:p>
        </p:txBody>
      </p:sp>
      <p:sp>
        <p:nvSpPr>
          <p:cNvPr id="60" name="source"/>
          <p:cNvSpPr txBox="1"/>
          <p:nvPr/>
        </p:nvSpPr>
        <p:spPr>
          <a:xfrm>
            <a:off x="548640" y="544068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Portfolio: [Other sites] (illustrative). Phase areas are editable on the model's 'Client' sheet.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Built on the GridMats platform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The structural platform is proven in roads and surfaces; the Solar Walkway is the next product on it.</a:t>
            </a:r>
            <a:endParaRPr lang="en-US" sz="1500" dirty="0"/>
          </a:p>
        </p:txBody>
      </p:sp>
      <p:sp>
        <p:nvSpPr>
          <p:cNvPr id="4" name="cred-card"/>
          <p:cNvSpPr/>
          <p:nvPr/>
        </p:nvSpPr>
        <p:spPr>
          <a:xfrm>
            <a:off x="548640" y="1600200"/>
            <a:ext cx="210312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647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32 sites, 65,081 m²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40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built across 12 states</a:t>
            </a:r>
            <a:endParaRPr lang="en-US" sz="1200" dirty="0"/>
          </a:p>
        </p:txBody>
      </p:sp>
      <p:sp>
        <p:nvSpPr>
          <p:cNvPr id="7" name="cred-card"/>
          <p:cNvSpPr/>
          <p:nvPr/>
        </p:nvSpPr>
        <p:spPr>
          <a:xfrm>
            <a:off x="2788920" y="1600200"/>
            <a:ext cx="210312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17647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 million+ sq ft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240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GridMats supplied</a:t>
            </a:r>
            <a:endParaRPr lang="en-US" sz="1200" dirty="0"/>
          </a:p>
        </p:txBody>
      </p:sp>
      <p:sp>
        <p:nvSpPr>
          <p:cNvPr id="10" name="cred-card"/>
          <p:cNvSpPr/>
          <p:nvPr/>
        </p:nvSpPr>
        <p:spPr>
          <a:xfrm>
            <a:off x="5029200" y="1600200"/>
            <a:ext cx="210312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66360" y="17647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Indian Patent 398992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2240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patented 3D recycled-polymer grid</a:t>
            </a:r>
            <a:endParaRPr lang="en-US" sz="1200" dirty="0"/>
          </a:p>
        </p:txBody>
      </p:sp>
      <p:sp>
        <p:nvSpPr>
          <p:cNvPr id="13" name="cred-card"/>
          <p:cNvSpPr/>
          <p:nvPr/>
        </p:nvSpPr>
        <p:spPr>
          <a:xfrm>
            <a:off x="548640" y="2926080"/>
            <a:ext cx="210312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CII GreenPro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certified green product</a:t>
            </a:r>
            <a:endParaRPr lang="en-US" sz="1200" dirty="0"/>
          </a:p>
        </p:txBody>
      </p:sp>
      <p:sp>
        <p:nvSpPr>
          <p:cNvPr id="16" name="cred-card"/>
          <p:cNvSpPr/>
          <p:nvPr/>
        </p:nvSpPr>
        <p:spPr>
          <a:xfrm>
            <a:off x="2788920" y="2926080"/>
            <a:ext cx="210312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26080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IISc · IIT Hyderabad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926080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R&amp;D and pavement testing partners</a:t>
            </a:r>
            <a:endParaRPr lang="en-US" sz="1200" dirty="0"/>
          </a:p>
        </p:txBody>
      </p:sp>
      <p:sp>
        <p:nvSpPr>
          <p:cNvPr id="19" name="cred-card"/>
          <p:cNvSpPr/>
          <p:nvPr/>
        </p:nvSpPr>
        <p:spPr>
          <a:xfrm>
            <a:off x="5029200" y="2926080"/>
            <a:ext cx="210312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66360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100% recycled PP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post-consumer polypropylene base</a:t>
            </a:r>
            <a:endParaRPr lang="en-US" sz="1200" dirty="0"/>
          </a:p>
        </p:txBody>
      </p:sp>
      <p:pic>
        <p:nvPicPr>
          <p:cNvPr id="22" name="Image 0" descr="Existing GridMats custom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343400"/>
            <a:ext cx="6583680" cy="1655064"/>
          </a:xfrm>
          <a:prstGeom prst="rect">
            <a:avLst/>
          </a:prstGeom>
        </p:spPr>
      </p:pic>
      <p:sp>
        <p:nvSpPr>
          <p:cNvPr id="23" name="founder-card"/>
          <p:cNvSpPr/>
          <p:nvPr/>
        </p:nvSpPr>
        <p:spPr>
          <a:xfrm>
            <a:off x="7452360" y="1600200"/>
            <a:ext cx="4187952" cy="4398264"/>
          </a:xfrm>
          <a:prstGeom prst="roundRect">
            <a:avLst>
              <a:gd name="adj" fmla="val 1747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pic>
        <p:nvPicPr>
          <p:cNvPr id="24" name="Image 1" descr="Dr. Prathap Bhimasena Ra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680960" y="1783080"/>
            <a:ext cx="1463040" cy="201168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9281160" y="1828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Dr. Prathap Bhimasena Rao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28116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Founder &amp; Managing Director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680960" y="397764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2"/>
                </a:solidFill>
              </a:rPr>
              <a:t>26 years in leadership and innovation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2"/>
                </a:solidFill>
              </a:rPr>
              <a:t>Ex-Indian Air Force; Global VP, Hewlett-Packard (2010-11)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2"/>
                </a:solidFill>
              </a:rPr>
              <a:t>Two PhDs in management science</a:t>
            </a:r>
            <a:endParaRPr lang="en-US" sz="1200" dirty="0"/>
          </a:p>
        </p:txBody>
      </p:sp>
      <p:sp>
        <p:nvSpPr>
          <p:cNvPr id="28" name="source"/>
          <p:cNvSpPr txBox="1"/>
          <p:nvPr/>
        </p:nvSpPr>
        <p:spPr>
          <a:xfrm>
            <a:off x="548640" y="60807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Figures and customers relate to existing (non-solar) GridMats road and surface applications. The Solar Walkway is pre-commercial.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Let's walk the site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430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What GridMats needs from [Client], and the four steps to a measured result.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33D"/>
                </a:solidFill>
              </a:rPr>
              <a:t>FROM [CLIENT]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 sunny 10-14 m stretch of walkway, about 2 m wide, with little shade from 9 am to 4 pm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 low-voltage connection point within about 30 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Permission for a 2-3 day installation window and a safety induction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 facilities contact for monthly readings and the 3-month review</a:t>
            </a:r>
            <a:endParaRPr lang="en-US" sz="1400" dirty="0"/>
          </a:p>
        </p:txBody>
      </p:sp>
      <p:sp>
        <p:nvSpPr>
          <p:cNvPr id="6" name="badge"/>
          <p:cNvSpPr/>
          <p:nvPr/>
        </p:nvSpPr>
        <p:spPr>
          <a:xfrm>
            <a:off x="630936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093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995160" y="185623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Site walk and opportunity assessment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995160" y="216712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Shade, footfall, drainage and the electrical connection.</a:t>
            </a:r>
            <a:endParaRPr lang="en-US" sz="1300" dirty="0"/>
          </a:p>
        </p:txBody>
      </p:sp>
      <p:sp>
        <p:nvSpPr>
          <p:cNvPr id="10" name="badge"/>
          <p:cNvSpPr/>
          <p:nvPr/>
        </p:nvSpPr>
        <p:spPr>
          <a:xfrm>
            <a:off x="6309360" y="2834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995160" y="281635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Concept layout and generation estimate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995160" y="31272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Module layout, monthly kWh, final price.</a:t>
            </a:r>
            <a:endParaRPr lang="en-US" sz="1300" dirty="0"/>
          </a:p>
        </p:txBody>
      </p:sp>
      <p:sp>
        <p:nvSpPr>
          <p:cNvPr id="14" name="badge"/>
          <p:cNvSpPr/>
          <p:nvPr/>
        </p:nvSpPr>
        <p:spPr>
          <a:xfrm>
            <a:off x="6309360" y="37947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936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377647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Pilot engineering and order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95160" y="40873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Electrical, safety and monitoring details; PO with the supply date.</a:t>
            </a:r>
            <a:endParaRPr lang="en-US" sz="1300" dirty="0"/>
          </a:p>
        </p:txBody>
      </p:sp>
      <p:sp>
        <p:nvSpPr>
          <p:cNvPr id="18" name="badge"/>
          <p:cNvSpPr/>
          <p:nvPr/>
        </p:nvSpPr>
        <p:spPr>
          <a:xfrm>
            <a:off x="6309360" y="47548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09360" y="4754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473659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Install, measure, decide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504748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2-3 days on site; 3-month scorecard review.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Dr. Prathap Bhimasena Rao  ·  prathap@gridmats.com  ·  sales@gridmats.com  ·  +91 63626 46287  ·  www.gridmats.com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Key assumptions and sources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Every value is an input in the companion model; change it there and rebuild the deck.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36192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325112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Assumption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29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/ basis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 basis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W module · 4 per m² · 160 W/m²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Flier (6 Oct 2026); Client/Partner Deck v2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Sunshine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Bengaluru: 1,935 kWh/m²/yr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year; replace with site data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Cell technology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TOPCon (n-type): -0.29%/°C; 1% then 0.6%/yr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datasheets; walk-on wear +0.2%/yr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Performance ratio; shading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(seven losses); 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 stack on 'Product &amp; Costs'; site assessment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price; escalation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₹9.00/kWh; 3%/yr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[Site electricity bill]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PV layer price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₹883/sq ft pilot; ₹790/sq ft rollout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₹9,500/m² quote; ₹8,000-9,000/m² range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and electrical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OC-LW 40 ₹64/sq ft; BOS ₹8/Wp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Price ladder (Sep 2026); earlier ROI 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O&amp;M; life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 of capex/yr; 20 years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Earlier ROI 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Rooftop; carport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₹40/Wp; ₹61/Wp all-in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Earlier ROI model benchmarks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8.9% composite (5% goods, 18% services)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Notification 9/2025, from 22 Sep 2025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ource"/>
          <p:cNvSpPr txBox="1"/>
          <p:nvPr/>
        </p:nvSpPr>
        <p:spPr>
          <a:xfrm>
            <a:off x="548640" y="598932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Changes from earlier calculations: walkway power 126-110 → 160 W/m²; PV layer ₹2,500 (input error) → ₹9,500/m²; base HD ₹1,200 → OC-LW ₹690/m²; flat 78% PR → 73% loss stack; GST 13.8% → 8.9%.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idMats Solar">
  <a:themeElements>
    <a:clrScheme name="GridMats Solar">
      <a:dk1>
        <a:srgbClr val="1A1A1A"/>
      </a:dk1>
      <a:lt1>
        <a:srgbClr val="FFFFFF"/>
      </a:lt1>
      <a:dk2>
        <a:srgbClr val="111A22"/>
      </a:dk2>
      <a:lt2>
        <a:srgbClr val="F6F6F4"/>
      </a:lt2>
      <a:accent1>
        <a:srgbClr val="C22935"/>
      </a:accent1>
      <a:accent2>
        <a:srgbClr val="2E6B3A"/>
      </a:accent2>
      <a:accent3>
        <a:srgbClr val="B87503"/>
      </a:accent3>
      <a:accent4>
        <a:srgbClr val="6F6F6F"/>
      </a:accent4>
      <a:accent5>
        <a:srgbClr val="FBEAEC"/>
      </a:accent5>
      <a:accent6>
        <a:srgbClr val="0E2E4F"/>
      </a:accent6>
      <a:hlink>
        <a:srgbClr val="C22935"/>
      </a:hlink>
      <a:folHlink>
        <a:srgbClr val="A11F2A"/>
      </a:folHlink>
    </a:clrScheme>
    <a:fontScheme name="GridMats Sola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GridMats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GridMats Solar Walkway: pilot proposal for [Client]</dc:title>
  <dc:subject>GridMats Solar Walkway pilot and rollout proposal</dc:subject>
  <dc:creator>GridMats (GroundReality Enterprises Pvt Ltd)</dc:creator>
  <cp:lastModifiedBy>GridMats (GroundReality Enterprises Pvt Ltd)</cp:lastModifiedBy>
  <cp:revision>1</cp:revision>
  <dcterms:created xsi:type="dcterms:W3CDTF">2026-10-07T08:22:46Z</dcterms:created>
  <dcterms:modified xsi:type="dcterms:W3CDTF">2026-10-07T08:22:46Z</dcterms:modified>
</cp:coreProperties>
</file>