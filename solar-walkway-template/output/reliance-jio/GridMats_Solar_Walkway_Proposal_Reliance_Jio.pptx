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al" id="{9cf94045-7d17-bb34-08d1-709a1066f1fa}">
          <p14:sldIdLst>
            <p14:sldId id="256"/>
            <p14:sldId id="257"/>
            <p14:sldId id="258"/>
          </p14:sldIdLst>
        </p14:section>
        <p14:section name="Technology" id="{03f7ea2e-eb15-d13d-4b86-c3916e2dfc27}">
          <p14:sldIdLst>
            <p14:sldId id="259"/>
            <p14:sldId id="260"/>
            <p14:sldId id="261"/>
          </p14:sldIdLst>
        </p14:section>
        <p14:section name="Pilot" id="{d7a1334a-79ab-0c03-e827-2a49bfb5317d}">
          <p14:sldIdLst>
            <p14:sldId id="262"/>
            <p14:sldId id="263"/>
            <p14:sldId id="264"/>
          </p14:sldIdLst>
        </p14:section>
        <p14:section name="Economics" id="{dcc6d45a-f006-c55f-e8f6-1d20747e4086}">
          <p14:sldIdLst>
            <p14:sldId id="265"/>
            <p14:sldId id="266"/>
            <p14:sldId id="267"/>
          </p14:sldIdLst>
        </p14:section>
        <p14:section name="Plan" id="{e01e97db-b06d-8947-0bea-557283e0d9ae}">
          <p14:sldIdLst>
            <p14:sldId id="268"/>
            <p14:sldId id="269"/>
            <p14:sldId id="270"/>
            <p14:sldId id="271"/>
          </p14:sldIdLst>
        </p14:section>
        <p14:section name="Close" id="{3700e85e-7d64-ed12-977e-ed4ab6d9ea16}">
          <p14:sldIdLst>
            <p14:sldId id="272"/>
          </p14:sldIdLst>
        </p14:section>
        <p14:section name="Appendix" id="{334a47ed-8c71-6ae0-e85a-247f389187d9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Where the energy goes: base-case losses (performance ratio 73%)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C2293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Heat</c:v>
                  </c:pt>
                  <c:pt idx="1">
                    <c:v>Dust</c:v>
                  </c:pt>
                  <c:pt idx="2">
                    <c:v>Footfall shade</c:v>
                  </c:pt>
                  <c:pt idx="3">
                    <c:v>Reflection</c:v>
                  </c:pt>
                  <c:pt idx="4">
                    <c:v>Wiring, mismatch</c:v>
                  </c:pt>
                  <c:pt idx="5">
                    <c:v>Inverter</c:v>
                  </c:pt>
                  <c:pt idx="6">
                    <c:v>Availability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7.829999999999999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3.5000000000000004</c:v>
                </c:pt>
                <c:pt idx="6">
                  <c:v>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Pilot generation by month (kWh), 4.0 kWp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</c:v>
                </c:pt>
              </c:strCache>
            </c:strRef>
          </c:tx>
          <c:spPr>
            <a:solidFill>
              <a:srgbClr val="B8750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413.752996608535</c:v>
                </c:pt>
                <c:pt idx="1">
                  <c:v>435.997781372434</c:v>
                </c:pt>
                <c:pt idx="2">
                  <c:v>543.050808048702</c:v>
                </c:pt>
                <c:pt idx="3">
                  <c:v>558.90021719298</c:v>
                </c:pt>
                <c:pt idx="4">
                  <c:v>577.530224432746</c:v>
                </c:pt>
                <c:pt idx="5">
                  <c:v>383.72253717727</c:v>
                </c:pt>
                <c:pt idx="6">
                  <c:v>318.934601552412</c:v>
                </c:pt>
                <c:pt idx="7">
                  <c:v>327.554455648423</c:v>
                </c:pt>
                <c:pt idx="8">
                  <c:v>375.380742890808</c:v>
                </c:pt>
                <c:pt idx="9">
                  <c:v>439.612558896568</c:v>
                </c:pt>
                <c:pt idx="10">
                  <c:v>400.406125750195</c:v>
                </c:pt>
                <c:pt idx="11">
                  <c:v>396.513288416512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Campus rollout: cumulative net cash (₹ lakh), 1,000 m²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net cash (₹ lakh)</c:v>
                </c:pt>
              </c:strCache>
            </c:strRef>
          </c:tx>
          <c:spPr>
            <a:solidFill>
              <a:srgbClr val="2E6B3A"/>
            </a:solidFill>
            <a:ln w="38100" cap="flat">
              <a:solidFill>
                <a:srgbClr val="2E6B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6B3A"/>
              </a:solidFill>
              <a:ln w="9525" cap="flat">
                <a:solidFill>
                  <a:srgbClr val="2E6B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-104.329</c:v>
                </c:pt>
                <c:pt idx="1">
                  <c:v>-85.59536390156919</c:v>
                </c:pt>
                <c:pt idx="2">
                  <c:v>-66.3739282395737</c:v>
                </c:pt>
                <c:pt idx="3">
                  <c:v>-46.653073628409494</c:v>
                </c:pt>
                <c:pt idx="4">
                  <c:v>-26.420903908707402</c:v>
                </c:pt>
                <c:pt idx="5">
                  <c:v>-5.66523955458197</c:v>
                </c:pt>
                <c:pt idx="6">
                  <c:v>15.6263890761587</c:v>
                </c:pt>
                <c:pt idx="7">
                  <c:v>37.4667486525837</c:v>
                </c:pt>
                <c:pt idx="8">
                  <c:v>59.868909945819</c:v>
                </c:pt>
                <c:pt idx="9">
                  <c:v>82.84625507275929</c:v>
                </c:pt>
                <c:pt idx="10">
                  <c:v>106.412484912323</c:v>
                </c:pt>
                <c:pt idx="11">
                  <c:v>130.581626698366</c:v>
                </c:pt>
                <c:pt idx="12">
                  <c:v>148.968041793452</c:v>
                </c:pt>
                <c:pt idx="13">
                  <c:v>174.386433647802</c:v>
                </c:pt>
                <c:pt idx="14">
                  <c:v>200.45185594782401</c:v>
                </c:pt>
                <c:pt idx="15">
                  <c:v>227.179720958732</c:v>
                </c:pt>
                <c:pt idx="16">
                  <c:v>254.58580806589998</c:v>
                </c:pt>
                <c:pt idx="17">
                  <c:v>282.68627251966</c:v>
                </c:pt>
                <c:pt idx="18">
                  <c:v>311.497654388409</c:v>
                </c:pt>
                <c:pt idx="19">
                  <c:v>341.036887724972</c:v>
                </c:pt>
                <c:pt idx="20">
                  <c:v>371.321309951312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Installed cost per kWp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per kWp</c:v>
                </c:pt>
              </c:strCache>
            </c:strRef>
          </c:tx>
          <c:spPr>
            <a:solidFill>
              <a:srgbClr val="0E2E4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C&amp;I rooftop</c:v>
                  </c:pt>
                  <c:pt idx="1">
                    <c:v>Solar carport</c:v>
                  </c:pt>
                  <c:pt idx="2">
                    <c:v>GridMats Solar Walkway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40000</c:v>
                </c:pt>
                <c:pt idx="1">
                  <c:v>61000</c:v>
                </c:pt>
                <c:pt idx="2">
                  <c:v>72705.625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F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idea: a 25 m² walkway on the Reliance Jio campus that people walk on and that generates power. It is a pilot: GridMats Solar Walkway is pre-commercial, and the pilot exists to measure output, heat, grip and upkeep on Reliance Jio's own site before any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lines and one ask. The ask: a 25 m² pilot for which Reliance Jio pays about ₹2.22 L ex-GST, with GridMats carrying design, half the PV layer, supervision and a 12-month performance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site: the roof is already committed, walkways are open sky that is paved anyway, and a walkway is where people see it. The three chevrons are the GridMats Solar Walkway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Walkable PV on top, MLP lumber that carries the wiring and lets water and air through, and the patented GridMats base. Design basis about 160 W per square metre of walkway.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steps, then safety. Be clear that walkability, load and heat are pilot measurements; GridMats does not claim test results it does not yet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technology matters more on a walkway than on a roof: the modules lie flat, run hot and collect dust. TOPCon's lower temperature coefficient and slower degradation are worth a few percent of lifetime energy over PERC; HJT, which Reliance makes at Jamnagar, is slightly better again and is a candidate for a co-developed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pilot as drawn: four modules across, one per 500 mm grid, the cable run to an inverter and meter, then to the nearest low-voltage board. Sensor positions are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Generation follows the sun: strongest in March to May, weakest in the monsoon. The pilot will measure the real monthly figures against this curve; that comparison is the first line of the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offer: Reliance Jio pays for the base, half the PV layer, the electrical work and installation; GridMats carries engineering, the other half of the PV layer, supervision and the monitoring study. Prices shown per sq ft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the two cases. The pilot is an evidence purchase, made cheap by co-funding. The business case is rollout: at campus scale, with rollout prices and a credit for the walkway that would be built anyway, payback is a little under five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here: per kWp, a roof is cheaper and pays back faster. The walkway is not a replacement for rooftop solar; it adds generation where the roof is full and turns a walkway budget into a generating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numbers drive everything: the landed power price at the campus and the real performance ratio of flat, walk-on modules. The bill gives the first; the pilot gives the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scorecard is the decision tool: ten measures, weighted, agreed before a single module goes down. The dashboard makes the data visible to the client's team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Indicative timing. The supply date is fixed in the purchase order once the site is ready; GridMats does not promise a fixed number of days before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rollout path. Each phase is a decision on its own, taken on measured data from the one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 with the approved figures. Make the distinction explicit: customers and metrics are for the existing GridMats platform; the Solar Walkway is entering its first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site walk: name the walkway, the connection point and the facilities contact, and the pilot can be engineered within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Every value here is an editable input in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20440"/>
            <a:ext cx="5029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Shape 0"/>
          <p:cNvSpPr/>
          <p:nvPr/>
        </p:nvSpPr>
        <p:spPr>
          <a:xfrm>
            <a:off x="10104120" y="256032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user/gridmats-monitor/solar-walkway-template/assets/logo_gridmats_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1691640" cy="4069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64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GRIDMATS®  |  GroundReality Enterprises Pvt. Ltd.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8778240" y="6446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www.gridmats.com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9144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Shape 0"/>
          <p:cNvSpPr/>
          <p:nvPr/>
        </p:nvSpPr>
        <p:spPr>
          <a:xfrm>
            <a:off x="10104120" y="256032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user/gridmats-monitor/solar-walkway-template/assets/logo_gridmats_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329184"/>
            <a:ext cx="1691640" cy="406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cept visualization of a GridMats Solar Walkway through a campu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0"/>
            <a:ext cx="6430975" cy="6858000"/>
          </a:xfrm>
          <a:prstGeom prst="rect">
            <a:avLst/>
          </a:prstGeom>
        </p:spPr>
      </p:pic>
      <p:sp>
        <p:nvSpPr>
          <p:cNvPr id="3" name="logo-box"/>
          <p:cNvSpPr/>
          <p:nvPr/>
        </p:nvSpPr>
        <p:spPr>
          <a:xfrm>
            <a:off x="10104120" y="256032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GridMats Solar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29184"/>
            <a:ext cx="1691640" cy="406908"/>
          </a:xfrm>
          <a:prstGeom prst="rect">
            <a:avLst/>
          </a:prstGeom>
        </p:spPr>
      </p:pic>
      <p:sp>
        <p:nvSpPr>
          <p:cNvPr id="5" name="pill"/>
          <p:cNvSpPr/>
          <p:nvPr/>
        </p:nvSpPr>
        <p:spPr>
          <a:xfrm>
            <a:off x="548640" y="1097280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097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PILOT PROPOSAL  ·  RELIANCE JIO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GridMats® Solar Walkway</a:t>
            </a:r>
            <a:endParaRPr lang="en-US" sz="4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3520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25 m² pilot walkway that generates power on the Jio campus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Prepared for Reliance Jio Infocomm Limited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Reliance Corporate Park (TC-22), Ghansoli, Navi Mumbai, Maharashtra  ·  October 2026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172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GroundReality Enterprises Pvt. Ltd., Bengaluru  ·  Indian Patent 398992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0" y="6492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bg1"/>
                </a:solidFill>
              </a:rPr>
              <a:t>Concept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proposal on one page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25 m² generating walkway on the Reliance Jio campus, measured for 3 months before any rollout decision.</a:t>
            </a:r>
            <a:endParaRPr lang="en-US" sz="1500" dirty="0"/>
          </a:p>
        </p:txBody>
      </p:sp>
      <p:sp>
        <p:nvSpPr>
          <p:cNvPr id="4" name="badge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276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5681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25 m² GridMats Solar Walkway: 100 walkable 40 W modules on a recycled-plastic GridMats base, 4.0 kWp in all.</a:t>
            </a:r>
            <a:endParaRPr lang="en-US" sz="1400" dirty="0"/>
          </a:p>
        </p:txBody>
      </p:sp>
      <p:sp>
        <p:nvSpPr>
          <p:cNvPr id="8" name="badge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249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5409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About 5,170 kWh a year (14.2 kWh a day on average), metered and sensed from day one.</a:t>
            </a:r>
            <a:endParaRPr lang="en-US" sz="1400" dirty="0"/>
          </a:p>
        </p:txBody>
      </p:sp>
      <p:sp>
        <p:nvSpPr>
          <p:cNvPr id="12" name="badge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22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15137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Reliance Jio pays ₹2.22 L ex-GST (₹825/sq ft). GridMats contributes ₹3.69 L: design, half the PV layer, supervision and the performance study.</a:t>
            </a:r>
            <a:endParaRPr lang="en-US" sz="1400" dirty="0"/>
          </a:p>
        </p:txBody>
      </p:sp>
      <p:sp>
        <p:nvSpPr>
          <p:cNvPr id="16" name="badge"/>
          <p:cNvSpPr/>
          <p:nvPr/>
        </p:nvSpPr>
        <p:spPr>
          <a:xfrm>
            <a:off x="548640" y="493776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1947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Decision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4865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3-month evaluation against an agreed scorecard, monitoring for 12 months. At campus scale (1,000 m²) the model shows a 5.3-year payback.</a:t>
            </a:r>
            <a:endParaRPr lang="en-US" sz="1400" dirty="0"/>
          </a:p>
        </p:txBody>
      </p:sp>
      <p:sp>
        <p:nvSpPr>
          <p:cNvPr id="20" name="glance-card"/>
          <p:cNvSpPr/>
          <p:nvPr/>
        </p:nvSpPr>
        <p:spPr>
          <a:xfrm>
            <a:off x="7635240" y="1645920"/>
            <a:ext cx="4005072" cy="4206240"/>
          </a:xfrm>
          <a:prstGeom prst="roundRect">
            <a:avLst>
              <a:gd name="adj" fmla="val 182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THE PILOT AT A GLANCE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4.0 kWp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880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on 25 m² (100 modules)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5,170 kWh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738360" y="2880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year, estimated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₹2.22 L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572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Reliance Jio pays, ex-GST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4023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4.6 years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4572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payback on Reliance Jio's outlay</a:t>
            </a:r>
            <a:endParaRPr lang="en-US" sz="1200" dirty="0"/>
          </a:p>
        </p:txBody>
      </p:sp>
      <p:sp>
        <p:nvSpPr>
          <p:cNvPr id="30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All figures from the companion model (base case). Money ex-GST. The GridMats Solar Walkway is pre-commercial; yield, life and upkeep are estimates the pilot measures.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a walkway at Reliance Jio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Every paved surface can do more: use it, build it from recycled plastic, and make power on it.</a:t>
            </a:r>
            <a:endParaRPr lang="en-US" sz="1500" dirty="0"/>
          </a:p>
        </p:txBody>
      </p:sp>
      <p:sp>
        <p:nvSpPr>
          <p:cNvPr id="4" name="why-card"/>
          <p:cNvSpPr/>
          <p:nvPr/>
        </p:nvSpPr>
        <p:spPr>
          <a:xfrm>
            <a:off x="548640" y="16459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icon-badge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mage 0" descr="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802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470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Roofs are already busy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128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Office roofs carry HVAC, water tanks and access; walkways are open sky that is paved anyway.</a:t>
            </a:r>
            <a:endParaRPr lang="en-US" sz="1300" dirty="0"/>
          </a:p>
        </p:txBody>
      </p:sp>
      <p:sp>
        <p:nvSpPr>
          <p:cNvPr id="9" name="why-card"/>
          <p:cNvSpPr/>
          <p:nvPr/>
        </p:nvSpPr>
        <p:spPr>
          <a:xfrm>
            <a:off x="6172200" y="16459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icon-badge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0802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8470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visible proof point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2128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Employees and visitors walk on the power plant every day: Reliance's Net Carbon Zero 2035 goal, made tangible.</a:t>
            </a:r>
            <a:endParaRPr lang="en-US" sz="1300" dirty="0"/>
          </a:p>
        </p:txBody>
      </p:sp>
      <p:sp>
        <p:nvSpPr>
          <p:cNvPr id="14" name="why-card"/>
          <p:cNvSpPr/>
          <p:nvPr/>
        </p:nvSpPr>
        <p:spPr>
          <a:xfrm>
            <a:off x="54864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5" name="icon-badge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Micro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6804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447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Made for a digital campus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8130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tile is metered and sensed: a live data feed that can plug into JioThings and the campus IoT stack.</a:t>
            </a:r>
            <a:endParaRPr lang="en-US" sz="1300" dirty="0"/>
          </a:p>
        </p:txBody>
      </p:sp>
      <p:sp>
        <p:nvSpPr>
          <p:cNvPr id="19" name="why-card"/>
          <p:cNvSpPr/>
          <p:nvPr/>
        </p:nvSpPr>
        <p:spPr>
          <a:xfrm>
            <a:off x="617220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0" name="icon-badge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Image 3" descr="ShoePri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36804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447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Small, safe first step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8130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25 m², low-voltage DC, built in days; decide on rollout with three months of measured data.</a:t>
            </a:r>
            <a:endParaRPr lang="en-US" sz="1300" dirty="0"/>
          </a:p>
        </p:txBody>
      </p:sp>
      <p:sp>
        <p:nvSpPr>
          <p:cNvPr id="24" name="chevron"/>
          <p:cNvSpPr/>
          <p:nvPr/>
        </p:nvSpPr>
        <p:spPr>
          <a:xfrm>
            <a:off x="548640" y="5029200"/>
            <a:ext cx="3566160" cy="685800"/>
          </a:xfrm>
          <a:prstGeom prst="chevron">
            <a:avLst/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USE EXISTING SURFACES</a:t>
            </a:r>
            <a:endParaRPr lang="en-US" sz="1300" dirty="0"/>
          </a:p>
        </p:txBody>
      </p:sp>
      <p:sp>
        <p:nvSpPr>
          <p:cNvPr id="26" name="chevron"/>
          <p:cNvSpPr/>
          <p:nvPr/>
        </p:nvSpPr>
        <p:spPr>
          <a:xfrm>
            <a:off x="4297680" y="5029200"/>
            <a:ext cx="3566160" cy="685800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66344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RECYCLE INTO STRUCTURE</a:t>
            </a:r>
            <a:endParaRPr lang="en-US" sz="1300" dirty="0"/>
          </a:p>
        </p:txBody>
      </p:sp>
      <p:sp>
        <p:nvSpPr>
          <p:cNvPr id="28" name="chevron"/>
          <p:cNvSpPr/>
          <p:nvPr/>
        </p:nvSpPr>
        <p:spPr>
          <a:xfrm>
            <a:off x="8046720" y="5029200"/>
            <a:ext cx="3566160" cy="685800"/>
          </a:xfrm>
          <a:prstGeom prst="chevron">
            <a:avLst/>
          </a:prstGeom>
          <a:solidFill>
            <a:srgbClr val="E7F0E8"/>
          </a:solidFill>
          <a:ln w="12700">
            <a:solidFill>
              <a:srgbClr val="E7F0E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41248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GENERATE CLEAN ENERGY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it is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modular surface that carries people and produces electricity.</a:t>
            </a:r>
            <a:endParaRPr lang="en-US" sz="1500" dirty="0"/>
          </a:p>
        </p:txBody>
      </p:sp>
      <p:pic>
        <p:nvPicPr>
          <p:cNvPr id="4" name="Image 0" descr="Exploded view: PV module, MLP lumber, GridMats base on aggregat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76072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9204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Concept visualization</a:t>
            </a:r>
            <a:endParaRPr lang="en-US" sz="1000" dirty="0"/>
          </a:p>
        </p:txBody>
      </p:sp>
      <p:sp>
        <p:nvSpPr>
          <p:cNvPr id="6" name="layer-card"/>
          <p:cNvSpPr/>
          <p:nvPr/>
        </p:nvSpPr>
        <p:spPr>
          <a:xfrm>
            <a:off x="6583680" y="1600200"/>
            <a:ext cx="5056632" cy="987552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6766560" y="1819656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819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PV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Walkable photovoltaic layer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 mm toughened glass over a 40 W module; modular, so one module can be replaced without lifting the walkway.</a:t>
            </a:r>
            <a:endParaRPr lang="en-US" sz="1200" dirty="0"/>
          </a:p>
        </p:txBody>
      </p:sp>
      <p:sp>
        <p:nvSpPr>
          <p:cNvPr id="11" name="layer-card"/>
          <p:cNvSpPr/>
          <p:nvPr/>
        </p:nvSpPr>
        <p:spPr>
          <a:xfrm>
            <a:off x="6583680" y="2715768"/>
            <a:ext cx="5056632" cy="987552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6766560" y="2935224"/>
            <a:ext cx="548640" cy="548640"/>
          </a:xfrm>
          <a:prstGeom prst="ellipse">
            <a:avLst/>
          </a:prstGeom>
          <a:solidFill>
            <a:srgbClr val="B87503"/>
          </a:solidFill>
          <a:ln w="12700">
            <a:solidFill>
              <a:srgbClr val="B8750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8254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MLP lumber electrical layer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127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40 × 40 mm recycled MLP lumber carries the wiring, with about 50 mm open gaps for airflow and drainage.</a:t>
            </a:r>
            <a:endParaRPr lang="en-US" sz="1200" dirty="0"/>
          </a:p>
        </p:txBody>
      </p:sp>
      <p:sp>
        <p:nvSpPr>
          <p:cNvPr id="16" name="layer-card"/>
          <p:cNvSpPr/>
          <p:nvPr/>
        </p:nvSpPr>
        <p:spPr>
          <a:xfrm>
            <a:off x="6583680" y="3831336"/>
            <a:ext cx="5056632" cy="987552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766560" y="40507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39410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Patented GridMats structural base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42428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100% recycled polypropylene grid (500 × 500 mm, 4 per m²) gives confinement, stability and a level bed.</a:t>
            </a:r>
            <a:endParaRPr lang="en-US" sz="1200" dirty="0"/>
          </a:p>
        </p:txBody>
      </p:sp>
      <p:sp>
        <p:nvSpPr>
          <p:cNvPr id="21" name="basis-card"/>
          <p:cNvSpPr/>
          <p:nvPr/>
        </p:nvSpPr>
        <p:spPr>
          <a:xfrm>
            <a:off x="548640" y="525780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7F0E8"/>
          </a:solidFill>
          <a:ln w="9525">
            <a:solidFill>
              <a:srgbClr val="E7F0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2578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 basis:  40 W per 550 × 400 mm module  ·  4 modules per m²  ·  about 160 W per m² of walkway  ·  15-16% surface efficiency  ·  no extra land or mounting</a:t>
            </a:r>
            <a:endParaRPr lang="en-US" sz="14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GridMats Solar Walkway flier (6 Oct 2026) and Client/Partner Deck v2. Status: pre-commercial; pilot validation under way.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works, and how it stays safe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proven GridMats platform extended into distributed energy; safety is designed in and verified in the pilot.</a:t>
            </a:r>
            <a:endParaRPr lang="en-US" sz="1500" dirty="0"/>
          </a:p>
        </p:txBody>
      </p:sp>
      <p:sp>
        <p:nvSpPr>
          <p:cNvPr id="4" name="badge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Capture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38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Walkable PV modules harvest sunlight on a surface already in use.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48640" y="2670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517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626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Low-voltage DC wiring runs inside the MLP lumber, out of sight and out of the way.</a:t>
            </a:r>
            <a:endParaRPr lang="en-US" sz="1300" dirty="0"/>
          </a:p>
        </p:txBody>
      </p:sp>
      <p:sp>
        <p:nvSpPr>
          <p:cNvPr id="12" name="badge"/>
          <p:cNvSpPr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867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 inverter feeds the campus low-voltage board, behind the meter.</a:t>
            </a:r>
            <a:endParaRPr lang="en-US" sz="1300" dirty="0"/>
          </a:p>
        </p:txBody>
      </p:sp>
      <p:sp>
        <p:nvSpPr>
          <p:cNvPr id="16" name="badge"/>
          <p:cNvSpPr/>
          <p:nvPr/>
        </p:nvSpPr>
        <p:spPr>
          <a:xfrm>
            <a:off x="548640" y="47183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18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700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 and measure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10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kWh is metered; sensors log module heat, moisture and uptime.</a:t>
            </a:r>
            <a:endParaRPr lang="en-US" sz="1300" dirty="0"/>
          </a:p>
        </p:txBody>
      </p:sp>
      <p:sp>
        <p:nvSpPr>
          <p:cNvPr id="20" name="safety-card"/>
          <p:cNvSpPr/>
          <p:nvPr/>
        </p:nvSpPr>
        <p:spPr>
          <a:xfrm>
            <a:off x="6355080" y="1645920"/>
            <a:ext cx="5285232" cy="4160520"/>
          </a:xfrm>
          <a:prstGeom prst="roundRect">
            <a:avLst>
              <a:gd name="adj" fmla="val 175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1" name="icon-badge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0" descr="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96596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2694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Safety by design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256032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Textured toughened glass: target R11 or wet PTV ≥ 36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Load target 4 kN/m² and 4.5 kN point load (IS 875 Part 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Extra-low-voltage DC strings; IP68 junction boxes at grade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BIS-registered modules (IS 14286, IS/IEC 61730)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50 mm gaps drain and cool; edge ramps; one-module repairs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2B33D"/>
                </a:solidFill>
              </a:rPr>
              <a:t>Tested at handover and through the pilot; no result is claimed until it is measured.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on the latest TOPCon cells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n-type TOPCon runs cooler and ages slower than PERC, which matters on a hot, flat walkway.</a:t>
            </a:r>
            <a:endParaRPr lang="en-US" sz="1500" dirty="0"/>
          </a:p>
        </p:txBody>
      </p:sp>
      <p:sp>
        <p:nvSpPr>
          <p:cNvPr id="4" name="tech-card"/>
          <p:cNvSpPr/>
          <p:nvPr/>
        </p:nvSpPr>
        <p:spPr>
          <a:xfrm>
            <a:off x="54864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stat-value"/>
          <p:cNvSpPr txBox="1"/>
          <p:nvPr/>
        </p:nvSpPr>
        <p:spPr>
          <a:xfrm>
            <a:off x="731520" y="173736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25.6-26%</a:t>
            </a:r>
            <a:endParaRPr lang="en-US" sz="2400" dirty="0"/>
          </a:p>
        </p:txBody>
      </p:sp>
      <p:sp>
        <p:nvSpPr>
          <p:cNvPr id="6" name="stat-label"/>
          <p:cNvSpPr txBox="1"/>
          <p:nvPr/>
        </p:nvSpPr>
        <p:spPr>
          <a:xfrm>
            <a:off x="731520" y="21705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TOPCon cell efficiency in mass production (2026)</a:t>
            </a:r>
            <a:endParaRPr lang="en-US" sz="1300" dirty="0"/>
          </a:p>
        </p:txBody>
      </p:sp>
      <p:sp>
        <p:nvSpPr>
          <p:cNvPr id="7" name="tech-card"/>
          <p:cNvSpPr/>
          <p:nvPr/>
        </p:nvSpPr>
        <p:spPr>
          <a:xfrm>
            <a:off x="329184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tat-value"/>
          <p:cNvSpPr txBox="1"/>
          <p:nvPr/>
        </p:nvSpPr>
        <p:spPr>
          <a:xfrm>
            <a:off x="3474720" y="173736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26.66%</a:t>
            </a:r>
            <a:endParaRPr lang="en-US" sz="2400" dirty="0"/>
          </a:p>
        </p:txBody>
      </p:sp>
      <p:sp>
        <p:nvSpPr>
          <p:cNvPr id="9" name="stat-label"/>
          <p:cNvSpPr txBox="1"/>
          <p:nvPr/>
        </p:nvSpPr>
        <p:spPr>
          <a:xfrm>
            <a:off x="3474720" y="21705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record industrial TOPCon cell, M10 wafer (Feb 2026)</a:t>
            </a:r>
            <a:endParaRPr lang="en-US" sz="1300" dirty="0"/>
          </a:p>
        </p:txBody>
      </p:sp>
      <p:sp>
        <p:nvSpPr>
          <p:cNvPr id="10" name="tech-card"/>
          <p:cNvSpPr/>
          <p:nvPr/>
        </p:nvSpPr>
        <p:spPr>
          <a:xfrm>
            <a:off x="548640" y="306324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" name="stat-value"/>
          <p:cNvSpPr txBox="1"/>
          <p:nvPr/>
        </p:nvSpPr>
        <p:spPr>
          <a:xfrm>
            <a:off x="731520" y="320040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B87503"/>
                </a:solidFill>
              </a:rPr>
              <a:t>−0.29%/°C</a:t>
            </a:r>
            <a:endParaRPr lang="en-US" sz="2400" dirty="0"/>
          </a:p>
        </p:txBody>
      </p:sp>
      <p:sp>
        <p:nvSpPr>
          <p:cNvPr id="12" name="stat-label"/>
          <p:cNvSpPr txBox="1"/>
          <p:nvPr/>
        </p:nvSpPr>
        <p:spPr>
          <a:xfrm>
            <a:off x="731520" y="36336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power loss per degree, against −0.35%/°C for PERC</a:t>
            </a:r>
            <a:endParaRPr lang="en-US" sz="1300" dirty="0"/>
          </a:p>
        </p:txBody>
      </p:sp>
      <p:sp>
        <p:nvSpPr>
          <p:cNvPr id="13" name="tech-card"/>
          <p:cNvSpPr/>
          <p:nvPr/>
        </p:nvSpPr>
        <p:spPr>
          <a:xfrm>
            <a:off x="3291840" y="306324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stat-value"/>
          <p:cNvSpPr txBox="1"/>
          <p:nvPr/>
        </p:nvSpPr>
        <p:spPr>
          <a:xfrm>
            <a:off x="3474720" y="3200400"/>
            <a:ext cx="228600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1% + 0.4%/yr</a:t>
            </a:r>
            <a:endParaRPr lang="en-US" sz="2400" dirty="0"/>
          </a:p>
        </p:txBody>
      </p:sp>
      <p:sp>
        <p:nvSpPr>
          <p:cNvPr id="15" name="stat-label"/>
          <p:cNvSpPr txBox="1"/>
          <p:nvPr/>
        </p:nvSpPr>
        <p:spPr>
          <a:xfrm>
            <a:off x="3474720" y="36336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degradation: first year, then each year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188720"/>
                <a:gridCol w="118872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4 kWp pilot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20-yr MWh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W/m² (derived)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 PERC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2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TOPCon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HJT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Chart 0" descr=""/>
          <p:cNvGraphicFramePr/>
          <p:nvPr/>
        </p:nvGraphicFramePr>
        <p:xfrm>
          <a:off x="6263640" y="1600200"/>
          <a:ext cx="5376672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263640" y="534924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TOPCon generates 3.8% more than PERC over 20 years on this walkway. Rated on the 40 W design basis; a TOPCon-derived rating of about 176 W/m² is the upgrade path, to be validated.</a:t>
            </a:r>
            <a:endParaRPr lang="en-US" sz="12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10819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pv-magazine (25 Feb 2026); taiyangnews; Canadian Solar TOPHiKu6 and Jinko Tiger Neo datasheets; JMK Research (Apr 2026). Losses are model assumptions the pilot measures.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pilot on the Reliance Jio campus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Reliance Corporate Park (TC-22), Ghansoli: 12.5 m × 2.0 m of walkway, 100 modules, behind the meter.</a:t>
            </a:r>
            <a:endParaRPr lang="en-US" sz="1500" dirty="0"/>
          </a:p>
        </p:txBody>
      </p:sp>
      <p:sp>
        <p:nvSpPr>
          <p:cNvPr id="4" name="walkway-edge"/>
          <p:cNvSpPr/>
          <p:nvPr/>
        </p:nvSpPr>
        <p:spPr>
          <a:xfrm>
            <a:off x="658368" y="2121408"/>
            <a:ext cx="6729984" cy="1199693"/>
          </a:xfrm>
          <a:prstGeom prst="rect">
            <a:avLst/>
          </a:prstGeom>
          <a:solidFill>
            <a:srgbClr val="D9D4C7"/>
          </a:solidFill>
          <a:ln w="9525">
            <a:solidFill>
              <a:srgbClr val="B8B1A3"/>
            </a:solidFill>
            <a:prstDash val="solid"/>
          </a:ln>
        </p:spPr>
      </p:sp>
      <p:sp>
        <p:nvSpPr>
          <p:cNvPr id="5" name="module"/>
          <p:cNvSpPr/>
          <p:nvPr/>
        </p:nvSpPr>
        <p:spPr>
          <a:xfrm>
            <a:off x="747321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" name="module"/>
          <p:cNvSpPr/>
          <p:nvPr/>
        </p:nvSpPr>
        <p:spPr>
          <a:xfrm>
            <a:off x="747321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" name="module"/>
          <p:cNvSpPr/>
          <p:nvPr/>
        </p:nvSpPr>
        <p:spPr>
          <a:xfrm>
            <a:off x="747321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" name="module"/>
          <p:cNvSpPr/>
          <p:nvPr/>
        </p:nvSpPr>
        <p:spPr>
          <a:xfrm>
            <a:off x="747321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" name="module"/>
          <p:cNvSpPr/>
          <p:nvPr/>
        </p:nvSpPr>
        <p:spPr>
          <a:xfrm>
            <a:off x="1010668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" name="module"/>
          <p:cNvSpPr/>
          <p:nvPr/>
        </p:nvSpPr>
        <p:spPr>
          <a:xfrm>
            <a:off x="1010668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1" name="module"/>
          <p:cNvSpPr/>
          <p:nvPr/>
        </p:nvSpPr>
        <p:spPr>
          <a:xfrm>
            <a:off x="1010668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2" name="module"/>
          <p:cNvSpPr/>
          <p:nvPr/>
        </p:nvSpPr>
        <p:spPr>
          <a:xfrm>
            <a:off x="1010668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3" name="module"/>
          <p:cNvSpPr/>
          <p:nvPr/>
        </p:nvSpPr>
        <p:spPr>
          <a:xfrm>
            <a:off x="1274015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4" name="module"/>
          <p:cNvSpPr/>
          <p:nvPr/>
        </p:nvSpPr>
        <p:spPr>
          <a:xfrm>
            <a:off x="1274015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5" name="module"/>
          <p:cNvSpPr/>
          <p:nvPr/>
        </p:nvSpPr>
        <p:spPr>
          <a:xfrm>
            <a:off x="1274015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6" name="module"/>
          <p:cNvSpPr/>
          <p:nvPr/>
        </p:nvSpPr>
        <p:spPr>
          <a:xfrm>
            <a:off x="1274015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7" name="module"/>
          <p:cNvSpPr/>
          <p:nvPr/>
        </p:nvSpPr>
        <p:spPr>
          <a:xfrm>
            <a:off x="1537362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8" name="module"/>
          <p:cNvSpPr/>
          <p:nvPr/>
        </p:nvSpPr>
        <p:spPr>
          <a:xfrm>
            <a:off x="1537362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9" name="module"/>
          <p:cNvSpPr/>
          <p:nvPr/>
        </p:nvSpPr>
        <p:spPr>
          <a:xfrm>
            <a:off x="1537362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0" name="module"/>
          <p:cNvSpPr/>
          <p:nvPr/>
        </p:nvSpPr>
        <p:spPr>
          <a:xfrm>
            <a:off x="1537362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1" name="module"/>
          <p:cNvSpPr/>
          <p:nvPr/>
        </p:nvSpPr>
        <p:spPr>
          <a:xfrm>
            <a:off x="1800710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2" name="module"/>
          <p:cNvSpPr/>
          <p:nvPr/>
        </p:nvSpPr>
        <p:spPr>
          <a:xfrm>
            <a:off x="1800710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3" name="module"/>
          <p:cNvSpPr/>
          <p:nvPr/>
        </p:nvSpPr>
        <p:spPr>
          <a:xfrm>
            <a:off x="1800710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4" name="module"/>
          <p:cNvSpPr/>
          <p:nvPr/>
        </p:nvSpPr>
        <p:spPr>
          <a:xfrm>
            <a:off x="1800710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5" name="module"/>
          <p:cNvSpPr/>
          <p:nvPr/>
        </p:nvSpPr>
        <p:spPr>
          <a:xfrm>
            <a:off x="2064057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6" name="module"/>
          <p:cNvSpPr/>
          <p:nvPr/>
        </p:nvSpPr>
        <p:spPr>
          <a:xfrm>
            <a:off x="2064057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7" name="module"/>
          <p:cNvSpPr/>
          <p:nvPr/>
        </p:nvSpPr>
        <p:spPr>
          <a:xfrm>
            <a:off x="2064057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8" name="module"/>
          <p:cNvSpPr/>
          <p:nvPr/>
        </p:nvSpPr>
        <p:spPr>
          <a:xfrm>
            <a:off x="2064057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29" name="module"/>
          <p:cNvSpPr/>
          <p:nvPr/>
        </p:nvSpPr>
        <p:spPr>
          <a:xfrm>
            <a:off x="2327404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0" name="module"/>
          <p:cNvSpPr/>
          <p:nvPr/>
        </p:nvSpPr>
        <p:spPr>
          <a:xfrm>
            <a:off x="2327404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1" name="module"/>
          <p:cNvSpPr/>
          <p:nvPr/>
        </p:nvSpPr>
        <p:spPr>
          <a:xfrm>
            <a:off x="2327404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2" name="module"/>
          <p:cNvSpPr/>
          <p:nvPr/>
        </p:nvSpPr>
        <p:spPr>
          <a:xfrm>
            <a:off x="2327404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3" name="module"/>
          <p:cNvSpPr/>
          <p:nvPr/>
        </p:nvSpPr>
        <p:spPr>
          <a:xfrm>
            <a:off x="2590751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4" name="module"/>
          <p:cNvSpPr/>
          <p:nvPr/>
        </p:nvSpPr>
        <p:spPr>
          <a:xfrm>
            <a:off x="2590751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5" name="module"/>
          <p:cNvSpPr/>
          <p:nvPr/>
        </p:nvSpPr>
        <p:spPr>
          <a:xfrm>
            <a:off x="2590751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6" name="module"/>
          <p:cNvSpPr/>
          <p:nvPr/>
        </p:nvSpPr>
        <p:spPr>
          <a:xfrm>
            <a:off x="2590751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7" name="module"/>
          <p:cNvSpPr/>
          <p:nvPr/>
        </p:nvSpPr>
        <p:spPr>
          <a:xfrm>
            <a:off x="2854098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8" name="module"/>
          <p:cNvSpPr/>
          <p:nvPr/>
        </p:nvSpPr>
        <p:spPr>
          <a:xfrm>
            <a:off x="2854098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39" name="module"/>
          <p:cNvSpPr/>
          <p:nvPr/>
        </p:nvSpPr>
        <p:spPr>
          <a:xfrm>
            <a:off x="2854098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0" name="module"/>
          <p:cNvSpPr/>
          <p:nvPr/>
        </p:nvSpPr>
        <p:spPr>
          <a:xfrm>
            <a:off x="2854098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1" name="module"/>
          <p:cNvSpPr/>
          <p:nvPr/>
        </p:nvSpPr>
        <p:spPr>
          <a:xfrm>
            <a:off x="3117446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2" name="module"/>
          <p:cNvSpPr/>
          <p:nvPr/>
        </p:nvSpPr>
        <p:spPr>
          <a:xfrm>
            <a:off x="3117446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3" name="module"/>
          <p:cNvSpPr/>
          <p:nvPr/>
        </p:nvSpPr>
        <p:spPr>
          <a:xfrm>
            <a:off x="3117446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4" name="module"/>
          <p:cNvSpPr/>
          <p:nvPr/>
        </p:nvSpPr>
        <p:spPr>
          <a:xfrm>
            <a:off x="3117446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5" name="module"/>
          <p:cNvSpPr/>
          <p:nvPr/>
        </p:nvSpPr>
        <p:spPr>
          <a:xfrm>
            <a:off x="3380793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6" name="module"/>
          <p:cNvSpPr/>
          <p:nvPr/>
        </p:nvSpPr>
        <p:spPr>
          <a:xfrm>
            <a:off x="3380793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7" name="module"/>
          <p:cNvSpPr/>
          <p:nvPr/>
        </p:nvSpPr>
        <p:spPr>
          <a:xfrm>
            <a:off x="3380793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8" name="module"/>
          <p:cNvSpPr/>
          <p:nvPr/>
        </p:nvSpPr>
        <p:spPr>
          <a:xfrm>
            <a:off x="3380793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49" name="module"/>
          <p:cNvSpPr/>
          <p:nvPr/>
        </p:nvSpPr>
        <p:spPr>
          <a:xfrm>
            <a:off x="3644140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0" name="module"/>
          <p:cNvSpPr/>
          <p:nvPr/>
        </p:nvSpPr>
        <p:spPr>
          <a:xfrm>
            <a:off x="3644140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1" name="module"/>
          <p:cNvSpPr/>
          <p:nvPr/>
        </p:nvSpPr>
        <p:spPr>
          <a:xfrm>
            <a:off x="3644140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2" name="module"/>
          <p:cNvSpPr/>
          <p:nvPr/>
        </p:nvSpPr>
        <p:spPr>
          <a:xfrm>
            <a:off x="3644140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3" name="module"/>
          <p:cNvSpPr/>
          <p:nvPr/>
        </p:nvSpPr>
        <p:spPr>
          <a:xfrm>
            <a:off x="3907487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4" name="module"/>
          <p:cNvSpPr/>
          <p:nvPr/>
        </p:nvSpPr>
        <p:spPr>
          <a:xfrm>
            <a:off x="3907487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5" name="module"/>
          <p:cNvSpPr/>
          <p:nvPr/>
        </p:nvSpPr>
        <p:spPr>
          <a:xfrm>
            <a:off x="3907487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6" name="module"/>
          <p:cNvSpPr/>
          <p:nvPr/>
        </p:nvSpPr>
        <p:spPr>
          <a:xfrm>
            <a:off x="3907487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7" name="module"/>
          <p:cNvSpPr/>
          <p:nvPr/>
        </p:nvSpPr>
        <p:spPr>
          <a:xfrm>
            <a:off x="4170834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8" name="module"/>
          <p:cNvSpPr/>
          <p:nvPr/>
        </p:nvSpPr>
        <p:spPr>
          <a:xfrm>
            <a:off x="4170834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59" name="module"/>
          <p:cNvSpPr/>
          <p:nvPr/>
        </p:nvSpPr>
        <p:spPr>
          <a:xfrm>
            <a:off x="4170834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0" name="module"/>
          <p:cNvSpPr/>
          <p:nvPr/>
        </p:nvSpPr>
        <p:spPr>
          <a:xfrm>
            <a:off x="4170834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1" name="module"/>
          <p:cNvSpPr/>
          <p:nvPr/>
        </p:nvSpPr>
        <p:spPr>
          <a:xfrm>
            <a:off x="4434182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2" name="module"/>
          <p:cNvSpPr/>
          <p:nvPr/>
        </p:nvSpPr>
        <p:spPr>
          <a:xfrm>
            <a:off x="4434182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3" name="module"/>
          <p:cNvSpPr/>
          <p:nvPr/>
        </p:nvSpPr>
        <p:spPr>
          <a:xfrm>
            <a:off x="4434182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4" name="module"/>
          <p:cNvSpPr/>
          <p:nvPr/>
        </p:nvSpPr>
        <p:spPr>
          <a:xfrm>
            <a:off x="4434182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5" name="module"/>
          <p:cNvSpPr/>
          <p:nvPr/>
        </p:nvSpPr>
        <p:spPr>
          <a:xfrm>
            <a:off x="4697529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6" name="module"/>
          <p:cNvSpPr/>
          <p:nvPr/>
        </p:nvSpPr>
        <p:spPr>
          <a:xfrm>
            <a:off x="4697529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7" name="module"/>
          <p:cNvSpPr/>
          <p:nvPr/>
        </p:nvSpPr>
        <p:spPr>
          <a:xfrm>
            <a:off x="4697529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8" name="module"/>
          <p:cNvSpPr/>
          <p:nvPr/>
        </p:nvSpPr>
        <p:spPr>
          <a:xfrm>
            <a:off x="4697529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69" name="module"/>
          <p:cNvSpPr/>
          <p:nvPr/>
        </p:nvSpPr>
        <p:spPr>
          <a:xfrm>
            <a:off x="4960876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0" name="module"/>
          <p:cNvSpPr/>
          <p:nvPr/>
        </p:nvSpPr>
        <p:spPr>
          <a:xfrm>
            <a:off x="4960876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1" name="module"/>
          <p:cNvSpPr/>
          <p:nvPr/>
        </p:nvSpPr>
        <p:spPr>
          <a:xfrm>
            <a:off x="4960876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2" name="module"/>
          <p:cNvSpPr/>
          <p:nvPr/>
        </p:nvSpPr>
        <p:spPr>
          <a:xfrm>
            <a:off x="4960876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3" name="module"/>
          <p:cNvSpPr/>
          <p:nvPr/>
        </p:nvSpPr>
        <p:spPr>
          <a:xfrm>
            <a:off x="5224223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4" name="module"/>
          <p:cNvSpPr/>
          <p:nvPr/>
        </p:nvSpPr>
        <p:spPr>
          <a:xfrm>
            <a:off x="5224223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5" name="module"/>
          <p:cNvSpPr/>
          <p:nvPr/>
        </p:nvSpPr>
        <p:spPr>
          <a:xfrm>
            <a:off x="5224223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6" name="module"/>
          <p:cNvSpPr/>
          <p:nvPr/>
        </p:nvSpPr>
        <p:spPr>
          <a:xfrm>
            <a:off x="5224223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7" name="module"/>
          <p:cNvSpPr/>
          <p:nvPr/>
        </p:nvSpPr>
        <p:spPr>
          <a:xfrm>
            <a:off x="5487570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8" name="module"/>
          <p:cNvSpPr/>
          <p:nvPr/>
        </p:nvSpPr>
        <p:spPr>
          <a:xfrm>
            <a:off x="5487570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79" name="module"/>
          <p:cNvSpPr/>
          <p:nvPr/>
        </p:nvSpPr>
        <p:spPr>
          <a:xfrm>
            <a:off x="5487570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0" name="module"/>
          <p:cNvSpPr/>
          <p:nvPr/>
        </p:nvSpPr>
        <p:spPr>
          <a:xfrm>
            <a:off x="5487570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1" name="module"/>
          <p:cNvSpPr/>
          <p:nvPr/>
        </p:nvSpPr>
        <p:spPr>
          <a:xfrm>
            <a:off x="5750918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2" name="module"/>
          <p:cNvSpPr/>
          <p:nvPr/>
        </p:nvSpPr>
        <p:spPr>
          <a:xfrm>
            <a:off x="5750918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3" name="module"/>
          <p:cNvSpPr/>
          <p:nvPr/>
        </p:nvSpPr>
        <p:spPr>
          <a:xfrm>
            <a:off x="5750918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4" name="module"/>
          <p:cNvSpPr/>
          <p:nvPr/>
        </p:nvSpPr>
        <p:spPr>
          <a:xfrm>
            <a:off x="5750918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5" name="module"/>
          <p:cNvSpPr/>
          <p:nvPr/>
        </p:nvSpPr>
        <p:spPr>
          <a:xfrm>
            <a:off x="6014265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6" name="module"/>
          <p:cNvSpPr/>
          <p:nvPr/>
        </p:nvSpPr>
        <p:spPr>
          <a:xfrm>
            <a:off x="6014265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7" name="module"/>
          <p:cNvSpPr/>
          <p:nvPr/>
        </p:nvSpPr>
        <p:spPr>
          <a:xfrm>
            <a:off x="6014265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8" name="module"/>
          <p:cNvSpPr/>
          <p:nvPr/>
        </p:nvSpPr>
        <p:spPr>
          <a:xfrm>
            <a:off x="6014265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89" name="module"/>
          <p:cNvSpPr/>
          <p:nvPr/>
        </p:nvSpPr>
        <p:spPr>
          <a:xfrm>
            <a:off x="6277612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0" name="module"/>
          <p:cNvSpPr/>
          <p:nvPr/>
        </p:nvSpPr>
        <p:spPr>
          <a:xfrm>
            <a:off x="6277612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1" name="module"/>
          <p:cNvSpPr/>
          <p:nvPr/>
        </p:nvSpPr>
        <p:spPr>
          <a:xfrm>
            <a:off x="6277612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2" name="module"/>
          <p:cNvSpPr/>
          <p:nvPr/>
        </p:nvSpPr>
        <p:spPr>
          <a:xfrm>
            <a:off x="6277612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3" name="module"/>
          <p:cNvSpPr/>
          <p:nvPr/>
        </p:nvSpPr>
        <p:spPr>
          <a:xfrm>
            <a:off x="6540959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4" name="module"/>
          <p:cNvSpPr/>
          <p:nvPr/>
        </p:nvSpPr>
        <p:spPr>
          <a:xfrm>
            <a:off x="6540959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5" name="module"/>
          <p:cNvSpPr/>
          <p:nvPr/>
        </p:nvSpPr>
        <p:spPr>
          <a:xfrm>
            <a:off x="6540959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6" name="module"/>
          <p:cNvSpPr/>
          <p:nvPr/>
        </p:nvSpPr>
        <p:spPr>
          <a:xfrm>
            <a:off x="6540959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7" name="module"/>
          <p:cNvSpPr/>
          <p:nvPr/>
        </p:nvSpPr>
        <p:spPr>
          <a:xfrm>
            <a:off x="6804306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8" name="module"/>
          <p:cNvSpPr/>
          <p:nvPr/>
        </p:nvSpPr>
        <p:spPr>
          <a:xfrm>
            <a:off x="6804306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99" name="module"/>
          <p:cNvSpPr/>
          <p:nvPr/>
        </p:nvSpPr>
        <p:spPr>
          <a:xfrm>
            <a:off x="6804306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0" name="module"/>
          <p:cNvSpPr/>
          <p:nvPr/>
        </p:nvSpPr>
        <p:spPr>
          <a:xfrm>
            <a:off x="6804306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1" name="module"/>
          <p:cNvSpPr/>
          <p:nvPr/>
        </p:nvSpPr>
        <p:spPr>
          <a:xfrm>
            <a:off x="7067654" y="2210361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2" name="module"/>
          <p:cNvSpPr/>
          <p:nvPr/>
        </p:nvSpPr>
        <p:spPr>
          <a:xfrm>
            <a:off x="7067654" y="2473708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3" name="module"/>
          <p:cNvSpPr/>
          <p:nvPr/>
        </p:nvSpPr>
        <p:spPr>
          <a:xfrm>
            <a:off x="7067654" y="2737055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4" name="module"/>
          <p:cNvSpPr/>
          <p:nvPr/>
        </p:nvSpPr>
        <p:spPr>
          <a:xfrm>
            <a:off x="7067654" y="3000402"/>
            <a:ext cx="231746" cy="231746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31520" y="3385109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12.5 m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7424928" y="258409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2.0 m</a:t>
            </a:r>
            <a:endParaRPr lang="en-US" sz="1200" dirty="0"/>
          </a:p>
        </p:txBody>
      </p:sp>
      <p:sp>
        <p:nvSpPr>
          <p:cNvPr id="107" name="sensor"/>
          <p:cNvSpPr/>
          <p:nvPr/>
        </p:nvSpPr>
        <p:spPr>
          <a:xfrm>
            <a:off x="1645920" y="2437425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sensor"/>
          <p:cNvSpPr/>
          <p:nvPr/>
        </p:nvSpPr>
        <p:spPr>
          <a:xfrm>
            <a:off x="3621024" y="285878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sensor"/>
          <p:cNvSpPr/>
          <p:nvPr/>
        </p:nvSpPr>
        <p:spPr>
          <a:xfrm>
            <a:off x="5596128" y="2437425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sensor"/>
          <p:cNvSpPr/>
          <p:nvPr/>
        </p:nvSpPr>
        <p:spPr>
          <a:xfrm>
            <a:off x="6912864" y="285878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cable"/>
          <p:cNvSpPr/>
          <p:nvPr/>
        </p:nvSpPr>
        <p:spPr>
          <a:xfrm>
            <a:off x="7315200" y="3247949"/>
            <a:ext cx="0" cy="86868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112" name="cable"/>
          <p:cNvSpPr/>
          <p:nvPr/>
        </p:nvSpPr>
        <p:spPr>
          <a:xfrm>
            <a:off x="6903720" y="4116629"/>
            <a:ext cx="411480" cy="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113" name="inverter"/>
          <p:cNvSpPr/>
          <p:nvPr/>
        </p:nvSpPr>
        <p:spPr>
          <a:xfrm>
            <a:off x="5577840" y="3933749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577840" y="3933749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Inverter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energy meter</a:t>
            </a:r>
            <a:endParaRPr lang="en-US" sz="1100" dirty="0"/>
          </a:p>
        </p:txBody>
      </p:sp>
      <p:sp>
        <p:nvSpPr>
          <p:cNvPr id="115" name="board"/>
          <p:cNvSpPr/>
          <p:nvPr/>
        </p:nvSpPr>
        <p:spPr>
          <a:xfrm>
            <a:off x="3840480" y="3933749"/>
            <a:ext cx="141732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840480" y="3933749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Campus LV 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(≤ 30 m)</a:t>
            </a:r>
            <a:endParaRPr lang="en-US" sz="1100" dirty="0"/>
          </a:p>
        </p:txBody>
      </p:sp>
      <p:sp>
        <p:nvSpPr>
          <p:cNvPr id="117" name="cable"/>
          <p:cNvSpPr/>
          <p:nvPr/>
        </p:nvSpPr>
        <p:spPr>
          <a:xfrm>
            <a:off x="5257800" y="4217213"/>
            <a:ext cx="320040" cy="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118" name="legend"/>
          <p:cNvSpPr/>
          <p:nvPr/>
        </p:nvSpPr>
        <p:spPr>
          <a:xfrm>
            <a:off x="731520" y="4800600"/>
            <a:ext cx="228600" cy="228600"/>
          </a:xfrm>
          <a:prstGeom prst="rect">
            <a:avLst/>
          </a:prstGeom>
          <a:solidFill>
            <a:srgbClr val="1F3354"/>
          </a:solidFill>
          <a:ln w="6350">
            <a:solidFill>
              <a:srgbClr val="6E7FA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051560" y="4782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40 W module on a 500 × 500 mm GridMats grid</a:t>
            </a:r>
            <a:endParaRPr lang="en-US" sz="1200" dirty="0"/>
          </a:p>
        </p:txBody>
      </p:sp>
      <p:sp>
        <p:nvSpPr>
          <p:cNvPr id="120" name="legend"/>
          <p:cNvSpPr/>
          <p:nvPr/>
        </p:nvSpPr>
        <p:spPr>
          <a:xfrm>
            <a:off x="768096" y="521208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051560" y="5166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Sensors: module temperature, moisture, reference cell</a:t>
            </a:r>
            <a:endParaRPr lang="en-US" sz="1200" dirty="0"/>
          </a:p>
        </p:txBody>
      </p:sp>
      <p:sp>
        <p:nvSpPr>
          <p:cNvPr id="122" name="legend"/>
          <p:cNvSpPr/>
          <p:nvPr/>
        </p:nvSpPr>
        <p:spPr>
          <a:xfrm>
            <a:off x="685800" y="5687568"/>
            <a:ext cx="320040" cy="0"/>
          </a:xfrm>
          <a:prstGeom prst="line">
            <a:avLst/>
          </a:prstGeom>
          <a:noFill/>
          <a:ln w="25400">
            <a:solidFill>
              <a:srgbClr val="B87503"/>
            </a:solidFill>
            <a:prstDash val="dash"/>
          </a:ln>
        </p:spPr>
      </p:sp>
      <p:sp>
        <p:nvSpPr>
          <p:cNvPr id="123" name="Text 121"/>
          <p:cNvSpPr txBox="1"/>
          <p:nvPr/>
        </p:nvSpPr>
        <p:spPr>
          <a:xfrm>
            <a:off x="1051560" y="5550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Low-voltage cable route</a:t>
            </a:r>
            <a:endParaRPr lang="en-US" sz="1200" dirty="0"/>
          </a:p>
        </p:txBody>
      </p:sp>
      <p:sp>
        <p:nvSpPr>
          <p:cNvPr id="124" name="spec-card"/>
          <p:cNvSpPr/>
          <p:nvPr/>
        </p:nvSpPr>
        <p:spPr>
          <a:xfrm>
            <a:off x="7863840" y="1645920"/>
            <a:ext cx="3776472" cy="4206240"/>
          </a:xfrm>
          <a:prstGeom prst="roundRect">
            <a:avLst>
              <a:gd name="adj" fmla="val 193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80924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 specification</a:t>
            </a:r>
            <a:endParaRPr lang="en-US" sz="1600" dirty="0"/>
          </a:p>
        </p:txBody>
      </p:sp>
      <p:sp>
        <p:nvSpPr>
          <p:cNvPr id="126" name="Text 124"/>
          <p:cNvSpPr txBox="1"/>
          <p:nvPr/>
        </p:nvSpPr>
        <p:spPr>
          <a:xfrm>
            <a:off x="8092440" y="2194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Area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9372600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25.0 m² (269 sq ft)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8092440" y="2633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Modules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9372600" y="26334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 × 40 W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8092440" y="3072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Cells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9372600" y="30723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TOPCon (n-type)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8092440" y="3511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Rated power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9372600" y="35112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4.0 kWp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8092440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Build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9372600" y="3950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walkway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8092440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Connection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9372600" y="4389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Behind the meter, campus LV board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8092440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9372600" y="4828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 months, live dashboard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809244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Install time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9372600" y="52669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2-3 days on site</a:t>
            </a:r>
            <a:endParaRPr lang="en-US" sz="1300" dirty="0"/>
          </a:p>
        </p:txBody>
      </p:sp>
      <p:sp>
        <p:nvSpPr>
          <p:cNvPr id="142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Indicative layout; final layout follows the site assessment (shade, footfall, drainage, connection point).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it will generate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Mumbai sunshine, TOPCon (n-type) modules, 73% performance ratio after losses, 5% site shading.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value"/>
          <p:cNvSpPr txBox="1"/>
          <p:nvPr/>
        </p:nvSpPr>
        <p:spPr>
          <a:xfrm>
            <a:off x="8001000" y="169164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5,170 kWh</a:t>
            </a:r>
            <a:endParaRPr lang="en-US" sz="2600" dirty="0"/>
          </a:p>
        </p:txBody>
      </p:sp>
      <p:sp>
        <p:nvSpPr>
          <p:cNvPr id="6" name="stat-label"/>
          <p:cNvSpPr txBox="1"/>
          <p:nvPr/>
        </p:nvSpPr>
        <p:spPr>
          <a:xfrm>
            <a:off x="8001000" y="215640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year, estimated</a:t>
            </a:r>
            <a:endParaRPr lang="en-US" sz="1300" dirty="0"/>
          </a:p>
        </p:txBody>
      </p:sp>
      <p:sp>
        <p:nvSpPr>
          <p:cNvPr id="7" name="stat-value"/>
          <p:cNvSpPr txBox="1"/>
          <p:nvPr/>
        </p:nvSpPr>
        <p:spPr>
          <a:xfrm>
            <a:off x="8001000" y="274320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14.2 kWh</a:t>
            </a:r>
            <a:endParaRPr lang="en-US" sz="2600" dirty="0"/>
          </a:p>
        </p:txBody>
      </p:sp>
      <p:sp>
        <p:nvSpPr>
          <p:cNvPr id="8" name="stat-label"/>
          <p:cNvSpPr txBox="1"/>
          <p:nvPr/>
        </p:nvSpPr>
        <p:spPr>
          <a:xfrm>
            <a:off x="8001000" y="320796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day on average</a:t>
            </a:r>
            <a:endParaRPr lang="en-US" sz="1300" dirty="0"/>
          </a:p>
        </p:txBody>
      </p:sp>
      <p:sp>
        <p:nvSpPr>
          <p:cNvPr id="9" name="stat-value"/>
          <p:cNvSpPr txBox="1"/>
          <p:nvPr/>
        </p:nvSpPr>
        <p:spPr>
          <a:xfrm>
            <a:off x="8001000" y="379476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578 / 319</a:t>
            </a:r>
            <a:endParaRPr lang="en-US" sz="2600" dirty="0"/>
          </a:p>
        </p:txBody>
      </p:sp>
      <p:sp>
        <p:nvSpPr>
          <p:cNvPr id="10" name="stat-label"/>
          <p:cNvSpPr txBox="1"/>
          <p:nvPr/>
        </p:nvSpPr>
        <p:spPr>
          <a:xfrm>
            <a:off x="8001000" y="425952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kWh in the best and the monsoon month</a:t>
            </a:r>
            <a:endParaRPr lang="en-US" sz="1300" dirty="0"/>
          </a:p>
        </p:txBody>
      </p:sp>
      <p:sp>
        <p:nvSpPr>
          <p:cNvPr id="11" name="stat-value"/>
          <p:cNvSpPr txBox="1"/>
          <p:nvPr/>
        </p:nvSpPr>
        <p:spPr>
          <a:xfrm>
            <a:off x="8001000" y="4846320"/>
            <a:ext cx="3657600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3.7 t</a:t>
            </a:r>
            <a:endParaRPr lang="en-US" sz="2600" dirty="0"/>
          </a:p>
        </p:txBody>
      </p:sp>
      <p:sp>
        <p:nvSpPr>
          <p:cNvPr id="12" name="stat-label"/>
          <p:cNvSpPr txBox="1"/>
          <p:nvPr/>
        </p:nvSpPr>
        <p:spPr>
          <a:xfrm>
            <a:off x="8001000" y="5311087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CO2 avoided a year (CEA grid factor)</a:t>
            </a:r>
            <a:endParaRPr lang="en-US" sz="1300" dirty="0"/>
          </a:p>
        </p:txBody>
      </p:sp>
      <p:sp>
        <p:nvSpPr>
          <p:cNvPr id="13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Sunshine: typical-year Mumbai profile, 1,860 kWh/m²/yr (replace with site data after the site walk). Specific yield 1,293 kWh/kWp/yr.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pilot costs, and who pays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List value of the pilot scope against what Reliance Jio pays. Ex-GST; GST extra at the applicable rate.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143000"/>
                <a:gridCol w="1234440"/>
                <a:gridCol w="11887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GridMats covers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Reliance Jio pays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93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assessment and engineering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₹0.40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₹0.40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works and GridMats OC-LW 40 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₹0.24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₹0.24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Walkable PV layer (100 × 40 W, MLP lumber, wiring)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₹2.38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₹1.19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₹1.19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BOS, grid integration and metering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₹0.57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₹0.57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 and installation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₹0.22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₹0.22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GridMats supervision, training and travel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₹0.85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₹0.85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sensors, dashboard and performance study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₹1.25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₹1.25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Total, ex-GST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₹5.91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₹3.69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22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₹2.22 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y-card"/>
          <p:cNvSpPr/>
          <p:nvPr/>
        </p:nvSpPr>
        <p:spPr>
          <a:xfrm>
            <a:off x="8183880" y="1600200"/>
            <a:ext cx="3456432" cy="4251960"/>
          </a:xfrm>
          <a:prstGeom prst="roundRect">
            <a:avLst>
              <a:gd name="adj" fmla="val 2116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stat-value"/>
          <p:cNvSpPr txBox="1"/>
          <p:nvPr/>
        </p:nvSpPr>
        <p:spPr>
          <a:xfrm>
            <a:off x="8412480" y="1783080"/>
            <a:ext cx="30175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₹2.22 L</a:t>
            </a:r>
            <a:endParaRPr lang="en-US" sz="3000" dirty="0"/>
          </a:p>
        </p:txBody>
      </p:sp>
      <p:sp>
        <p:nvSpPr>
          <p:cNvPr id="7" name="stat-label"/>
          <p:cNvSpPr txBox="1"/>
          <p:nvPr/>
        </p:nvSpPr>
        <p:spPr>
          <a:xfrm>
            <a:off x="8412480" y="231091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Reliance Jio pays, ex-GST: ₹825/sq ft (₹2.42 L with GST)</a:t>
            </a:r>
            <a:endParaRPr lang="en-US" sz="1300" dirty="0"/>
          </a:p>
        </p:txBody>
      </p:sp>
      <p:sp>
        <p:nvSpPr>
          <p:cNvPr id="8" name="stat-value"/>
          <p:cNvSpPr txBox="1"/>
          <p:nvPr/>
        </p:nvSpPr>
        <p:spPr>
          <a:xfrm>
            <a:off x="8412480" y="3154680"/>
            <a:ext cx="30175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₹3.69 L</a:t>
            </a:r>
            <a:endParaRPr lang="en-US" sz="3000" dirty="0"/>
          </a:p>
        </p:txBody>
      </p:sp>
      <p:sp>
        <p:nvSpPr>
          <p:cNvPr id="9" name="stat-label"/>
          <p:cNvSpPr txBox="1"/>
          <p:nvPr/>
        </p:nvSpPr>
        <p:spPr>
          <a:xfrm>
            <a:off x="8412480" y="368251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GridMats contributes (62% of list): design, half the PV layer, supervision, IoT study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Defect liability: 12 months from handover, with joint inspections. PV layer price ₹883/sq ft (₹9,500/m²).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Co-funding of the PV layer: 50% (pilot offer, needs MD approval). Full physical installed cost before co-funding: ₹3.41 L (₹1,266/sq ft).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Pilot economics, and what rollout looks like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pilot is for evidence; the business case is the campus rollout at 1,000 m².</a:t>
            </a:r>
            <a:endParaRPr lang="en-US" sz="1500" dirty="0"/>
          </a:p>
        </p:txBody>
      </p:sp>
      <p:sp>
        <p:nvSpPr>
          <p:cNvPr id="4" name="pilot-econ"/>
          <p:cNvSpPr/>
          <p:nvPr/>
        </p:nvSpPr>
        <p:spPr>
          <a:xfrm>
            <a:off x="548640" y="1600200"/>
            <a:ext cx="3520440" cy="425196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PILOT</a:t>
            </a:r>
            <a:endParaRPr lang="en-US" sz="1300" dirty="0"/>
          </a:p>
        </p:txBody>
      </p:sp>
      <p:sp>
        <p:nvSpPr>
          <p:cNvPr id="6" name="stat-value"/>
          <p:cNvSpPr txBox="1"/>
          <p:nvPr/>
        </p:nvSpPr>
        <p:spPr>
          <a:xfrm>
            <a:off x="777240" y="2103120"/>
            <a:ext cx="3108960" cy="4414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4.6 years</a:t>
            </a:r>
            <a:endParaRPr lang="en-US" sz="2800" dirty="0"/>
          </a:p>
        </p:txBody>
      </p:sp>
      <p:sp>
        <p:nvSpPr>
          <p:cNvPr id="7" name="stat-label"/>
          <p:cNvSpPr txBox="1"/>
          <p:nvPr/>
        </p:nvSpPr>
        <p:spPr>
          <a:xfrm>
            <a:off x="777240" y="259941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payback on Reliance Jio's ₹2.22 L outlay</a:t>
            </a:r>
            <a:endParaRPr lang="en-US" sz="1300" dirty="0"/>
          </a:p>
        </p:txBody>
      </p:sp>
      <p:sp>
        <p:nvSpPr>
          <p:cNvPr id="8" name="stat-value"/>
          <p:cNvSpPr txBox="1"/>
          <p:nvPr/>
        </p:nvSpPr>
        <p:spPr>
          <a:xfrm>
            <a:off x="777240" y="3337560"/>
            <a:ext cx="3108960" cy="4414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6.8 years</a:t>
            </a:r>
            <a:endParaRPr lang="en-US" sz="2800" dirty="0"/>
          </a:p>
        </p:txBody>
      </p:sp>
      <p:sp>
        <p:nvSpPr>
          <p:cNvPr id="9" name="stat-label"/>
          <p:cNvSpPr txBox="1"/>
          <p:nvPr/>
        </p:nvSpPr>
        <p:spPr>
          <a:xfrm>
            <a:off x="777240" y="383385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payback on the full ₹3.41 L installed cost, without co-funding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Year-1 bill saving about ₹51,200 at ₹10.00/kWh.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251960" y="1600200"/>
          <a:ext cx="4800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tat-value"/>
          <p:cNvSpPr txBox="1"/>
          <p:nvPr/>
        </p:nvSpPr>
        <p:spPr>
          <a:xfrm>
            <a:off x="9281160" y="164592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₹1,081/sq ft</a:t>
            </a:r>
            <a:endParaRPr lang="en-US" sz="2200" dirty="0"/>
          </a:p>
        </p:txBody>
      </p:sp>
      <p:sp>
        <p:nvSpPr>
          <p:cNvPr id="13" name="stat-label"/>
          <p:cNvSpPr txBox="1"/>
          <p:nvPr/>
        </p:nvSpPr>
        <p:spPr>
          <a:xfrm>
            <a:off x="9281160" y="204762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installed at rollout (₹11,633/m²)</a:t>
            </a:r>
            <a:endParaRPr lang="en-US" sz="1300" dirty="0"/>
          </a:p>
        </p:txBody>
      </p:sp>
      <p:sp>
        <p:nvSpPr>
          <p:cNvPr id="14" name="stat-value"/>
          <p:cNvSpPr txBox="1"/>
          <p:nvPr/>
        </p:nvSpPr>
        <p:spPr>
          <a:xfrm>
            <a:off x="9281160" y="269748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5.3 years</a:t>
            </a:r>
            <a:endParaRPr lang="en-US" sz="2200" dirty="0"/>
          </a:p>
        </p:txBody>
      </p:sp>
      <p:sp>
        <p:nvSpPr>
          <p:cNvPr id="15" name="stat-label"/>
          <p:cNvSpPr txBox="1"/>
          <p:nvPr/>
        </p:nvSpPr>
        <p:spPr>
          <a:xfrm>
            <a:off x="9281160" y="309918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payback, net of the walkway it replaces</a:t>
            </a:r>
            <a:endParaRPr lang="en-US" sz="1300" dirty="0"/>
          </a:p>
        </p:txBody>
      </p:sp>
      <p:sp>
        <p:nvSpPr>
          <p:cNvPr id="16" name="stat-value"/>
          <p:cNvSpPr txBox="1"/>
          <p:nvPr/>
        </p:nvSpPr>
        <p:spPr>
          <a:xfrm>
            <a:off x="9281160" y="374904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20%</a:t>
            </a:r>
            <a:endParaRPr lang="en-US" sz="2200" dirty="0"/>
          </a:p>
        </p:txBody>
      </p:sp>
      <p:sp>
        <p:nvSpPr>
          <p:cNvPr id="17" name="stat-label"/>
          <p:cNvSpPr txBox="1"/>
          <p:nvPr/>
        </p:nvSpPr>
        <p:spPr>
          <a:xfrm>
            <a:off x="9281160" y="415074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IRR over 20 years, pre-tax</a:t>
            </a:r>
            <a:endParaRPr lang="en-US" sz="1300" dirty="0"/>
          </a:p>
        </p:txBody>
      </p:sp>
      <p:sp>
        <p:nvSpPr>
          <p:cNvPr id="18" name="stat-value"/>
          <p:cNvSpPr txBox="1"/>
          <p:nvPr/>
        </p:nvSpPr>
        <p:spPr>
          <a:xfrm>
            <a:off x="9281160" y="4800600"/>
            <a:ext cx="237744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₹7.22</a:t>
            </a:r>
            <a:endParaRPr lang="en-US" sz="2200" dirty="0"/>
          </a:p>
        </p:txBody>
      </p:sp>
      <p:sp>
        <p:nvSpPr>
          <p:cNvPr id="19" name="stat-label"/>
          <p:cNvSpPr txBox="1"/>
          <p:nvPr/>
        </p:nvSpPr>
        <p:spPr>
          <a:xfrm>
            <a:off x="9281160" y="520230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 kWh, against grid power at ₹10.00</a:t>
            </a:r>
            <a:endParaRPr lang="en-US" sz="1300" dirty="0"/>
          </a:p>
        </p:txBody>
      </p:sp>
      <p:sp>
        <p:nvSpPr>
          <p:cNvPr id="20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Rollout uses the rollout PV-layer price (₹8,500/m²), the GridMats price ladder and a ₹1,200/m² credit for the paver walkway it replaces. 3% tariff escalation, 10% discount rate.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compares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Rooftop solar is cheaper per kWp. The walkway wins where roofs are full and a walkway is being built anyway.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2120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6052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960120"/>
                <a:gridCol w="1078992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the same footprint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9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Pavers + rooftop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 (years)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Walking surface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Shade, not a walkway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 or 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Steel canopy and footings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Recycled plastic (t)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4754880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Positioning: on walkways that are being built or relaid, on campuses where the roof is spoken for, and where visibility matters.</a:t>
            </a:r>
            <a:endParaRPr lang="en-US" sz="140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Footprint 1,000 m². Rooftop ₹40/Wp and carport ₹61/Wp all-in (earlier GridMats ROI model benchmarks). Payback on year-1 figures, before any walkway credit.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moves the payback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Campus-rollout payback in years: power price against performance ratio. Base case: ₹10.00/kWh, 73%.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87552"/>
                <a:gridCol w="987552"/>
                <a:gridCol w="987552"/>
                <a:gridCol w="987552"/>
                <a:gridCol w="9875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 / kWh  ↓   ·   PR  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5" name="sens-card"/>
          <p:cNvSpPr/>
          <p:nvPr/>
        </p:nvSpPr>
        <p:spPr>
          <a:xfrm>
            <a:off x="7680960" y="1600200"/>
            <a:ext cx="3959352" cy="4251960"/>
          </a:xfrm>
          <a:prstGeom prst="roundRect">
            <a:avLst>
              <a:gd name="adj" fmla="val 18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Reading the table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B3A"/>
                </a:solidFill>
              </a:rPr>
              <a:t>Green: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years or less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7503"/>
                </a:solidFill>
              </a:rPr>
              <a:t>Amber: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to 9 years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22935"/>
                </a:solidFill>
              </a:rPr>
              <a:t>Red: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above 9 years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Pilot payback on Reliance Jio's outlay vs GridMats co-funding of the PV layer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3886200"/>
          <a:ext cx="3520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94360"/>
                <a:gridCol w="594360"/>
                <a:gridCol w="594360"/>
                <a:gridCol w="5943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Co-funding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 (yrs)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6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909560" y="4892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pilot measures the performance ratio; the electricity bill sets the power price.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Model sheet 'Sensitivity'. Simple payback on year-1 figures, net of the walkway it replaces.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Measured, not assumed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scorecard agreed with Reliance Jio before installation and reviewed at 3 months.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01752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generation vs estimate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 of the model's monthly estimate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ratio achieved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PR used in the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Pedestrian and maintenance-cart 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kN/m² uniform and 4.5 kN point load (IS 875 Part 2); no cracking or movement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temperature (peak)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module specification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Slip resistance and walking comfort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R11 (DIN 51130) or wet pendulum PTV ≥ 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Drainage and water ingress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ponding, no ingress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uptime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Cleaning and maintenance effort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O&amp;M assumption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survival and repairability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irreparable failures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finish and user acceptance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acceptance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ash-card"/>
          <p:cNvSpPr/>
          <p:nvPr/>
        </p:nvSpPr>
        <p:spPr>
          <a:xfrm>
            <a:off x="7818120" y="1572768"/>
            <a:ext cx="3822192" cy="4297680"/>
          </a:xfrm>
          <a:prstGeom prst="roundRect">
            <a:avLst>
              <a:gd name="adj" fmla="val 191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icon-badge"/>
          <p:cNvSpPr/>
          <p:nvPr/>
        </p:nvSpPr>
        <p:spPr>
          <a:xfrm>
            <a:off x="8046720" y="1755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8928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3252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Live pilot dashboard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251460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Energy: kWh per day and W per m²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Module temperature and ventilation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Moisture, rainfall and drainage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Uptime and fault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Data exportable to the campus IoT stack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49377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2B33D"/>
                </a:solidFill>
              </a:rPr>
              <a:t>GridMats Pavement Monitor, extended for the Solar Walkway.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60350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KPIs and weights from the earlier GridMats Solar Walkway ROI model (pilot scorecard). Targets are finalised jointly before installation.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site walk to switch-on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About six weeks to switch-on, a 3-month evaluation, then monitoring through the monsoon.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5253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90265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27998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573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0346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41195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78928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1666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5439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492125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29858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67590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105323" y="1600200"/>
            <a:ext cx="537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M14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Site walk, shading and generation estimate</a:t>
            </a:r>
            <a:endParaRPr lang="en-US" sz="1300" dirty="0"/>
          </a:p>
        </p:txBody>
      </p:sp>
      <p:sp>
        <p:nvSpPr>
          <p:cNvPr id="19" name="gantt"/>
          <p:cNvSpPr/>
          <p:nvPr/>
        </p:nvSpPr>
        <p:spPr>
          <a:xfrm>
            <a:off x="4114800" y="2011680"/>
            <a:ext cx="215093" cy="274320"/>
          </a:xfrm>
          <a:prstGeom prst="roundRect">
            <a:avLst>
              <a:gd name="adj" fmla="val 2550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Engineering, electrical and safety approvals</a:t>
            </a:r>
            <a:endParaRPr lang="en-US" sz="1300" dirty="0"/>
          </a:p>
        </p:txBody>
      </p:sp>
      <p:sp>
        <p:nvSpPr>
          <p:cNvPr id="21" name="gantt"/>
          <p:cNvSpPr/>
          <p:nvPr/>
        </p:nvSpPr>
        <p:spPr>
          <a:xfrm>
            <a:off x="4276120" y="2487168"/>
            <a:ext cx="376413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9169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Order; supply date fixed in the PO</a:t>
            </a:r>
            <a:endParaRPr lang="en-US" sz="1300" dirty="0"/>
          </a:p>
        </p:txBody>
      </p:sp>
      <p:sp>
        <p:nvSpPr>
          <p:cNvPr id="23" name="gantt"/>
          <p:cNvSpPr/>
          <p:nvPr/>
        </p:nvSpPr>
        <p:spPr>
          <a:xfrm>
            <a:off x="4598759" y="2962656"/>
            <a:ext cx="268866" cy="274320"/>
          </a:xfrm>
          <a:prstGeom prst="roundRect">
            <a:avLst>
              <a:gd name="adj" fmla="val 2040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392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Install (2-3 days) and commission</a:t>
            </a:r>
            <a:endParaRPr lang="en-US" sz="1300" dirty="0"/>
          </a:p>
        </p:txBody>
      </p:sp>
      <p:sp>
        <p:nvSpPr>
          <p:cNvPr id="25" name="gantt"/>
          <p:cNvSpPr/>
          <p:nvPr/>
        </p:nvSpPr>
        <p:spPr>
          <a:xfrm>
            <a:off x="4867626" y="3438144"/>
            <a:ext cx="137160" cy="27432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867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Evaluation against the scorecard (3 months)</a:t>
            </a:r>
            <a:endParaRPr lang="en-US" sz="1300" dirty="0"/>
          </a:p>
        </p:txBody>
      </p:sp>
      <p:sp>
        <p:nvSpPr>
          <p:cNvPr id="27" name="gantt"/>
          <p:cNvSpPr/>
          <p:nvPr/>
        </p:nvSpPr>
        <p:spPr>
          <a:xfrm>
            <a:off x="4975172" y="3913632"/>
            <a:ext cx="1613198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Decision gate: rollout or refine</a:t>
            </a:r>
            <a:endParaRPr lang="en-US" sz="1300" dirty="0"/>
          </a:p>
        </p:txBody>
      </p:sp>
      <p:sp>
        <p:nvSpPr>
          <p:cNvPr id="29" name="gantt"/>
          <p:cNvSpPr/>
          <p:nvPr/>
        </p:nvSpPr>
        <p:spPr>
          <a:xfrm>
            <a:off x="6588370" y="4389120"/>
            <a:ext cx="137160" cy="27432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818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Monitoring, live dashboard (12 months)</a:t>
            </a:r>
            <a:endParaRPr lang="en-US" sz="1300" dirty="0"/>
          </a:p>
        </p:txBody>
      </p:sp>
      <p:sp>
        <p:nvSpPr>
          <p:cNvPr id="31" name="gantt"/>
          <p:cNvSpPr/>
          <p:nvPr/>
        </p:nvSpPr>
        <p:spPr>
          <a:xfrm>
            <a:off x="4975172" y="4864608"/>
            <a:ext cx="6452790" cy="274320"/>
          </a:xfrm>
          <a:prstGeom prst="roundRect">
            <a:avLst>
              <a:gd name="adj" fmla="val 20000"/>
            </a:avLst>
          </a:prstGeom>
          <a:solidFill>
            <a:srgbClr val="B87503"/>
          </a:solidFill>
          <a:ln w="12700">
            <a:solidFill>
              <a:srgbClr val="B87503"/>
            </a:solidFill>
            <a:prstDash val="solid"/>
          </a:ln>
        </p:spPr>
      </p:sp>
      <p:sp>
        <p:nvSpPr>
          <p:cNvPr id="32" name="promise-card"/>
          <p:cNvSpPr/>
          <p:nvPr/>
        </p:nvSpPr>
        <p:spPr>
          <a:xfrm>
            <a:off x="548640" y="5532120"/>
            <a:ext cx="11094415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5321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Built by teams GridMats trains, with a GridMats engineer on site for the whole installation.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pilot to campus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Year-1 figures at each step; later phases use rollout prices for their area.</a:t>
            </a:r>
            <a:endParaRPr lang="en-US" sz="1500" dirty="0"/>
          </a:p>
        </p:txBody>
      </p:sp>
      <p:sp>
        <p:nvSpPr>
          <p:cNvPr id="4" name="phase-card"/>
          <p:cNvSpPr/>
          <p:nvPr/>
        </p:nvSpPr>
        <p:spPr>
          <a:xfrm>
            <a:off x="548640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phase-head"/>
          <p:cNvSpPr/>
          <p:nvPr/>
        </p:nvSpPr>
        <p:spPr>
          <a:xfrm>
            <a:off x="548640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Pilot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25 m²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4.0 kWp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5.2 MWh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₹0.5 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3.7 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6.7 years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 at full pilot cost</a:t>
            </a:r>
            <a:endParaRPr lang="en-US" sz="1100" dirty="0"/>
          </a:p>
        </p:txBody>
      </p:sp>
      <p:sp>
        <p:nvSpPr>
          <p:cNvPr id="18" name="phase-card"/>
          <p:cNvSpPr/>
          <p:nvPr/>
        </p:nvSpPr>
        <p:spPr>
          <a:xfrm>
            <a:off x="3364992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9" name="phase-head"/>
          <p:cNvSpPr/>
          <p:nvPr/>
        </p:nvSpPr>
        <p:spPr>
          <a:xfrm>
            <a:off x="3364992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47872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Phase 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47872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250 m²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47872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40 kWp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547872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51.7 MWh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547872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47872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₹5.2 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47872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547872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36.7 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6.1 years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547872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payback, net of walkway credit</a:t>
            </a:r>
            <a:endParaRPr lang="en-US" sz="1100" dirty="0"/>
          </a:p>
        </p:txBody>
      </p:sp>
      <p:sp>
        <p:nvSpPr>
          <p:cNvPr id="32" name="phase-card"/>
          <p:cNvSpPr/>
          <p:nvPr/>
        </p:nvSpPr>
        <p:spPr>
          <a:xfrm>
            <a:off x="6181344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phase-head"/>
          <p:cNvSpPr/>
          <p:nvPr/>
        </p:nvSpPr>
        <p:spPr>
          <a:xfrm>
            <a:off x="6181344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64224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Campus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1,000 m²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64224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160 kWp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207 MWh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364224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₹20.7 L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364224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364224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146.9 t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364224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5.5 years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364224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payback, net of walkway credit</a:t>
            </a:r>
            <a:endParaRPr lang="en-US" sz="1100" dirty="0"/>
          </a:p>
        </p:txBody>
      </p:sp>
      <p:sp>
        <p:nvSpPr>
          <p:cNvPr id="46" name="phase-card"/>
          <p:cNvSpPr/>
          <p:nvPr/>
        </p:nvSpPr>
        <p:spPr>
          <a:xfrm>
            <a:off x="8997696" y="16002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7" name="phase-head"/>
          <p:cNvSpPr/>
          <p:nvPr/>
        </p:nvSpPr>
        <p:spPr>
          <a:xfrm>
            <a:off x="8997696" y="16002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80576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Portfolio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180576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5,000 m²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180576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800 kWp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180576" y="2697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rated power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180576" y="2971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1,034 MWh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9180576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9180576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₹103.4 L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9180576" y="3794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electricity saved a year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180576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734.3 t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9180576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CO2 avoided a year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180576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5.5 years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9180576" y="4892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payback, net of walkway credit</a:t>
            </a:r>
            <a:endParaRPr lang="en-US" sz="1100" dirty="0"/>
          </a:p>
        </p:txBody>
      </p:sp>
      <p:sp>
        <p:nvSpPr>
          <p:cNvPr id="60" name="source"/>
          <p:cNvSpPr txBox="1"/>
          <p:nvPr/>
        </p:nvSpPr>
        <p:spPr>
          <a:xfrm>
            <a:off x="548640" y="54406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Portfolio: Jio offices and EV-charging walkways (illustrative). Phase areas are editable on the model's 'Client' sheet.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on the GridMats platform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structural platform is proven in roads and surfaces; the Solar Walkway is the next product on it.</a:t>
            </a:r>
            <a:endParaRPr lang="en-US" sz="1500" dirty="0"/>
          </a:p>
        </p:txBody>
      </p:sp>
      <p:sp>
        <p:nvSpPr>
          <p:cNvPr id="4" name="cred-card"/>
          <p:cNvSpPr/>
          <p:nvPr/>
        </p:nvSpPr>
        <p:spPr>
          <a:xfrm>
            <a:off x="54864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32 sites, 65,081 m²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built across 12 states</a:t>
            </a:r>
            <a:endParaRPr lang="en-US" sz="1200" dirty="0"/>
          </a:p>
        </p:txBody>
      </p:sp>
      <p:sp>
        <p:nvSpPr>
          <p:cNvPr id="7" name="cred-card"/>
          <p:cNvSpPr/>
          <p:nvPr/>
        </p:nvSpPr>
        <p:spPr>
          <a:xfrm>
            <a:off x="278892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million+ sq ft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GridMats supplied</a:t>
            </a:r>
            <a:endParaRPr lang="en-US" sz="1200" dirty="0"/>
          </a:p>
        </p:txBody>
      </p:sp>
      <p:sp>
        <p:nvSpPr>
          <p:cNvPr id="10" name="cred-card"/>
          <p:cNvSpPr/>
          <p:nvPr/>
        </p:nvSpPr>
        <p:spPr>
          <a:xfrm>
            <a:off x="502920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Indian Patent 398992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patented 3D recycled-polymer grid</a:t>
            </a:r>
            <a:endParaRPr lang="en-US" sz="1200" dirty="0"/>
          </a:p>
        </p:txBody>
      </p:sp>
      <p:sp>
        <p:nvSpPr>
          <p:cNvPr id="13" name="cred-card"/>
          <p:cNvSpPr/>
          <p:nvPr/>
        </p:nvSpPr>
        <p:spPr>
          <a:xfrm>
            <a:off x="548640" y="292608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CII GreenPro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certified green product</a:t>
            </a:r>
            <a:endParaRPr lang="en-US" sz="1200" dirty="0"/>
          </a:p>
        </p:txBody>
      </p:sp>
      <p:sp>
        <p:nvSpPr>
          <p:cNvPr id="16" name="cred-card"/>
          <p:cNvSpPr/>
          <p:nvPr/>
        </p:nvSpPr>
        <p:spPr>
          <a:xfrm>
            <a:off x="2788920" y="292608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IISc · IIT Hyderabad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R&amp;D and pavement testing partners</a:t>
            </a:r>
            <a:endParaRPr lang="en-US" sz="1200" dirty="0"/>
          </a:p>
        </p:txBody>
      </p:sp>
      <p:sp>
        <p:nvSpPr>
          <p:cNvPr id="19" name="cred-card"/>
          <p:cNvSpPr/>
          <p:nvPr/>
        </p:nvSpPr>
        <p:spPr>
          <a:xfrm>
            <a:off x="5029200" y="292608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6636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100% recycled PP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post-consumer polypropylene base</a:t>
            </a:r>
            <a:endParaRPr lang="en-US" sz="1200" dirty="0"/>
          </a:p>
        </p:txBody>
      </p:sp>
      <p:pic>
        <p:nvPicPr>
          <p:cNvPr id="22" name="Image 0" descr="Existing GridMats 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6583680" cy="1655064"/>
          </a:xfrm>
          <a:prstGeom prst="rect">
            <a:avLst/>
          </a:prstGeom>
        </p:spPr>
      </p:pic>
      <p:sp>
        <p:nvSpPr>
          <p:cNvPr id="23" name="founder-card"/>
          <p:cNvSpPr/>
          <p:nvPr/>
        </p:nvSpPr>
        <p:spPr>
          <a:xfrm>
            <a:off x="7452360" y="1600200"/>
            <a:ext cx="4187952" cy="4398264"/>
          </a:xfrm>
          <a:prstGeom prst="roundRect">
            <a:avLst>
              <a:gd name="adj" fmla="val 174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pic>
        <p:nvPicPr>
          <p:cNvPr id="24" name="Image 1" descr="Dr. Prathap Bhimasena Ra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1783080"/>
            <a:ext cx="1463040" cy="201168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281160" y="1828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Dr. Prathap Bhimasena Rao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28116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Founder &amp; Managing Director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26 years in leadership and innovation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Ex-Indian Air Force; Global VP, Hewlett-Packard (2010-11)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Two PhDs in management science</a:t>
            </a:r>
            <a:endParaRPr lang="en-US" sz="1200" dirty="0"/>
          </a:p>
        </p:txBody>
      </p:sp>
      <p:sp>
        <p:nvSpPr>
          <p:cNvPr id="28" name="source"/>
          <p:cNvSpPr txBox="1"/>
          <p:nvPr/>
        </p:nvSpPr>
        <p:spPr>
          <a:xfrm>
            <a:off x="548640" y="6080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Figures and customers relate to existing (non-solar) GridMats road and surface applications. The Solar Walkway is pre-commercial.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Let's walk the site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What GridMats needs from Reliance Jio, and the four steps to a measured result.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FROM RELIANCE JIO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sunny 12-14 m stretch of walkway, about 2 m wide, with little shade from 9 am to 4 pm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low-voltage connection point within about 30 m (distribution board or lighting panel)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Permission for a 2-3 day installation window and a safety induction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Jio facilities contact for monthly readings and the 3-month review</a:t>
            </a:r>
            <a:endParaRPr lang="en-US" sz="1400" dirty="0"/>
          </a:p>
        </p:txBody>
      </p:sp>
      <p:sp>
        <p:nvSpPr>
          <p:cNvPr id="6" name="badge"/>
          <p:cNvSpPr/>
          <p:nvPr/>
        </p:nvSpPr>
        <p:spPr>
          <a:xfrm>
            <a:off x="63093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8562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Site walk and opportunity assessment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Shade, footfall, drainage and the electrical connection.</a:t>
            </a:r>
            <a:endParaRPr lang="en-US" sz="1300" dirty="0"/>
          </a:p>
        </p:txBody>
      </p:sp>
      <p:sp>
        <p:nvSpPr>
          <p:cNvPr id="10" name="badge"/>
          <p:cNvSpPr/>
          <p:nvPr/>
        </p:nvSpPr>
        <p:spPr>
          <a:xfrm>
            <a:off x="6309360" y="2834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8163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Concept layout and generation estimate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Module layout, monthly kWh, final price.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630936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7764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Pilot engineering and order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4087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Electrical, safety and monitoring details; PO with the supply date.</a:t>
            </a:r>
            <a:endParaRPr lang="en-US" sz="1300" dirty="0"/>
          </a:p>
        </p:txBody>
      </p:sp>
      <p:sp>
        <p:nvSpPr>
          <p:cNvPr id="18" name="badge"/>
          <p:cNvSpPr/>
          <p:nvPr/>
        </p:nvSpPr>
        <p:spPr>
          <a:xfrm>
            <a:off x="6309360" y="4754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7365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Install, measure, decide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5047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2-3 days on site; 3-month scorecard review.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Dr. Prathap Bhimasena Rao  ·  prathap@gridmats.com  ·  sales@gridmats.com  ·  +91 63626 46287  ·  www.gridmats.com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assumptions and sources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50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Every value is an input in the companion model; change it there and rebuild the deck.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9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/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W module · 4 per m² · 160 W/m²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Flier (6 Oct 2026); Client/Partner Deck v2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Sunshine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Mumbai: 1,860 kWh/m²/yr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year; replace with site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TOPCon (n-type): -0.29%/°C; 1% then 0.6%/yr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datasheets; walk-on wear +0.2%/yr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ratio; shading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 (seven losses); 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stack on 'Product &amp; Costs'; site 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price; escalation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₹10.00/kWh; 3%/yr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MSEDCL HT-II, MERC order 25 Mar 2026; confirm from bill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layer 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₹883/sq ft pilot; ₹790/sq ft rollout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₹9,500/m² quote; ₹8,000-9,000/m² range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and electrical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OC-LW 40 ₹64/sq ft; BOS ₹8/Wp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ladder (Sep 2026); earlier ROI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O&amp;M; life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 of capex/yr; 20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Earlier ROI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Rooftop; carport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₹40/Wp; ₹61/Wp all-in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Earlier ROI model benchmarks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8.9% composite (5% goods, 18% services)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Notification 9/2025, from 22 Sep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48640" y="59893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Changes from earlier calculations: walkway power 126-110 → 160 W/m²; PV layer ₹2,500 (input error) → ₹9,500/m²; base HD ₹1,200 → OC-LW ₹690/m²; flat 78% PR → 73% loss stack; GST 13.8% → 8.9%.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Mats Solar">
  <a:themeElements>
    <a:clrScheme name="GridMats Solar">
      <a:dk1>
        <a:srgbClr val="1A1A1A"/>
      </a:dk1>
      <a:lt1>
        <a:srgbClr val="FFFFFF"/>
      </a:lt1>
      <a:dk2>
        <a:srgbClr val="111A22"/>
      </a:dk2>
      <a:lt2>
        <a:srgbClr val="F6F6F4"/>
      </a:lt2>
      <a:accent1>
        <a:srgbClr val="C22935"/>
      </a:accent1>
      <a:accent2>
        <a:srgbClr val="2E6B3A"/>
      </a:accent2>
      <a:accent3>
        <a:srgbClr val="B87503"/>
      </a:accent3>
      <a:accent4>
        <a:srgbClr val="6F6F6F"/>
      </a:accent4>
      <a:accent5>
        <a:srgbClr val="FBEAEC"/>
      </a:accent5>
      <a:accent6>
        <a:srgbClr val="0E2E4F"/>
      </a:accent6>
      <a:hlink>
        <a:srgbClr val="C22935"/>
      </a:hlink>
      <a:folHlink>
        <a:srgbClr val="A11F2A"/>
      </a:folHlink>
    </a:clrScheme>
    <a:fontScheme name="GridMats Sol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GridMats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GridMats Solar Walkway: pilot proposal for Reliance Jio</dc:title>
  <dc:subject>GridMats Solar Walkway pilot and rollout proposal</dc:subject>
  <dc:creator>GridMats (GroundReality Enterprises Pvt Ltd)</dc:creator>
  <cp:lastModifiedBy>GridMats (GroundReality Enterprises Pvt Ltd)</cp:lastModifiedBy>
  <cp:revision>1</cp:revision>
  <dcterms:created xsi:type="dcterms:W3CDTF">2026-10-07T08:22:42Z</dcterms:created>
  <dcterms:modified xsi:type="dcterms:W3CDTF">2026-10-07T08:22:42Z</dcterms:modified>
</cp:coreProperties>
</file>