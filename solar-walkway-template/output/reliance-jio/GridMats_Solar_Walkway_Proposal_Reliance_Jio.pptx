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2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oposal" id="{102a84f8-726e-8f23-fd1b-466159cdac2c}">
          <p14:sldIdLst>
            <p14:sldId id="256"/>
            <p14:sldId id="257"/>
            <p14:sldId id="258"/>
          </p14:sldIdLst>
        </p14:section>
        <p14:section name="Technology" id="{6c7a2dad-d197-b2ed-5807-267add0caf64}">
          <p14:sldIdLst>
            <p14:sldId id="259"/>
            <p14:sldId id="260"/>
            <p14:sldId id="261"/>
          </p14:sldIdLst>
        </p14:section>
        <p14:section name="Pilot" id="{d936fa46-84d9-5859-45ec-12f46651ee72}">
          <p14:sldIdLst>
            <p14:sldId id="262"/>
            <p14:sldId id="263"/>
            <p14:sldId id="264"/>
          </p14:sldIdLst>
        </p14:section>
        <p14:section name="Economics" id="{4fa8aedf-7a1a-2bde-0dee-d58f4bf2f3bb}">
          <p14:sldIdLst>
            <p14:sldId id="265"/>
            <p14:sldId id="266"/>
            <p14:sldId id="267"/>
          </p14:sldIdLst>
        </p14:section>
        <p14:section name="Plan" id="{96f6f028-a357-e6b1-caac-3b207a7d248b}">
          <p14:sldIdLst>
            <p14:sldId id="268"/>
            <p14:sldId id="269"/>
            <p14:sldId id="270"/>
            <p14:sldId id="271"/>
          </p14:sldIdLst>
        </p14:section>
        <p14:section name="Close" id="{c0774068-68c0-c68e-148c-8981450d54e4}">
          <p14:sldIdLst>
            <p14:sldId id="272"/>
          </p14:sldIdLst>
        </p14:section>
        <p14:section name="Appendix" id="{8454ceee-16b4-7c43-aa3e-c99770fdcba3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A1A1A"/>
                </a:solidFill>
                <a:latin typeface="+mn-lt"/>
              </a:rPr>
              <a:t>Where the energy goes: base-case losses (performance ratio 73%)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Loss</c:v>
                </c:pt>
              </c:strCache>
            </c:strRef>
          </c:tx>
          <c:spPr>
            <a:solidFill>
              <a:srgbClr val="C22935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Heat</c:v>
                  </c:pt>
                  <c:pt idx="1">
                    <c:v>Dust</c:v>
                  </c:pt>
                  <c:pt idx="2">
                    <c:v>Footfall shade</c:v>
                  </c:pt>
                  <c:pt idx="3">
                    <c:v>Reflection</c:v>
                  </c:pt>
                  <c:pt idx="4">
                    <c:v>Wiring, mismatch</c:v>
                  </c:pt>
                  <c:pt idx="5">
                    <c:v>Inverter</c:v>
                  </c:pt>
                  <c:pt idx="6">
                    <c:v>Availability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7.829999999999999</c:v>
                </c:pt>
                <c:pt idx="1">
                  <c:v>8</c:v>
                </c:pt>
                <c:pt idx="2">
                  <c:v>4</c:v>
                </c:pt>
                <c:pt idx="3">
                  <c:v>3</c:v>
                </c:pt>
                <c:pt idx="4">
                  <c:v>3</c:v>
                </c:pt>
                <c:pt idx="5">
                  <c:v>3.5000000000000004</c:v>
                </c:pt>
                <c:pt idx="6">
                  <c:v>1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9A9A9A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6F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A1A1A"/>
                </a:solidFill>
                <a:latin typeface="+mn-lt"/>
              </a:rPr>
              <a:t>Pilot generation by month (kWh), 4.0 kWp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kWh</c:v>
                </c:pt>
              </c:strCache>
            </c:strRef>
          </c:tx>
          <c:spPr>
            <a:solidFill>
              <a:srgbClr val="B87503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  <c:pt idx="9">
                    <c:v>Oct</c:v>
                  </c:pt>
                  <c:pt idx="10">
                    <c:v>Nov</c:v>
                  </c:pt>
                  <c:pt idx="11">
                    <c:v>Dec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413.752996608535</c:v>
                </c:pt>
                <c:pt idx="1">
                  <c:v>435.997781372434</c:v>
                </c:pt>
                <c:pt idx="2">
                  <c:v>543.050808048702</c:v>
                </c:pt>
                <c:pt idx="3">
                  <c:v>558.90021719298</c:v>
                </c:pt>
                <c:pt idx="4">
                  <c:v>577.530224432746</c:v>
                </c:pt>
                <c:pt idx="5">
                  <c:v>383.72253717727</c:v>
                </c:pt>
                <c:pt idx="6">
                  <c:v>318.934601552412</c:v>
                </c:pt>
                <c:pt idx="7">
                  <c:v>327.554455648423</c:v>
                </c:pt>
                <c:pt idx="8">
                  <c:v>375.380742890808</c:v>
                </c:pt>
                <c:pt idx="9">
                  <c:v>439.612558896568</c:v>
                </c:pt>
                <c:pt idx="10">
                  <c:v>400.406125750195</c:v>
                </c:pt>
                <c:pt idx="11">
                  <c:v>396.513288416512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A9A9A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6F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A1A1A"/>
                </a:solidFill>
                <a:latin typeface="+mn-lt"/>
              </a:rPr>
              <a:t>Campus rollout: cumulative net cash (₹ lakh), 1,000 m²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net cash (₹ lakh)</c:v>
                </c:pt>
              </c:strCache>
            </c:strRef>
          </c:tx>
          <c:spPr>
            <a:solidFill>
              <a:srgbClr val="2E6B3A"/>
            </a:solidFill>
            <a:ln w="38100" cap="flat">
              <a:solidFill>
                <a:srgbClr val="2E6B3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2E6B3A"/>
              </a:solidFill>
              <a:ln w="9525" cap="flat">
                <a:solidFill>
                  <a:srgbClr val="2E6B3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Sheet1!$A$2:$A$22</c:f>
              <c:multiLvlStrCache>
                <c:ptCount val="21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</c:lvl>
              </c:multiLvlStrCache>
            </c:multiLvlStrRef>
          </c:cat>
          <c:val>
            <c:numRef>
              <c:f>Sheet1!$B$2:$B$22</c:f>
              <c:numCache>
                <c:formatCode>General</c:formatCode>
                <c:ptCount val="21"/>
                <c:pt idx="0">
                  <c:v>-188.2045</c:v>
                </c:pt>
                <c:pt idx="1">
                  <c:v>-170.728996401569</c:v>
                </c:pt>
                <c:pt idx="2">
                  <c:v>-152.765693239574</c:v>
                </c:pt>
                <c:pt idx="3">
                  <c:v>-134.30297112841</c:v>
                </c:pt>
                <c:pt idx="4">
                  <c:v>-115.328933908707</c:v>
                </c:pt>
                <c:pt idx="5">
                  <c:v>-95.831402054582</c:v>
                </c:pt>
                <c:pt idx="6">
                  <c:v>-75.7979059238413</c:v>
                </c:pt>
                <c:pt idx="7">
                  <c:v>-55.21567884741631</c:v>
                </c:pt>
                <c:pt idx="8">
                  <c:v>-34.0716500541809</c:v>
                </c:pt>
                <c:pt idx="9">
                  <c:v>-12.352437427240702</c:v>
                </c:pt>
                <c:pt idx="10">
                  <c:v>9.95565991232328</c:v>
                </c:pt>
                <c:pt idx="11">
                  <c:v>32.8666691983657</c:v>
                </c:pt>
                <c:pt idx="12">
                  <c:v>49.9949517934516</c:v>
                </c:pt>
                <c:pt idx="13">
                  <c:v>74.1552111478024</c:v>
                </c:pt>
                <c:pt idx="14">
                  <c:v>98.9625009478239</c:v>
                </c:pt>
                <c:pt idx="15">
                  <c:v>124.432233458732</c:v>
                </c:pt>
                <c:pt idx="16">
                  <c:v>150.5801880659</c:v>
                </c:pt>
                <c:pt idx="17">
                  <c:v>177.42252001966</c:v>
                </c:pt>
                <c:pt idx="18">
                  <c:v>204.97576938841001</c:v>
                </c:pt>
                <c:pt idx="19">
                  <c:v>233.256870224972</c:v>
                </c:pt>
                <c:pt idx="20">
                  <c:v>262.283159951312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9A9A9A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F3F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3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6F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A1A1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A1A1A"/>
                </a:solidFill>
                <a:latin typeface="+mn-lt"/>
              </a:rPr>
              <a:t>Installed cost per kWp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₹ per kWp</c:v>
                </c:pt>
              </c:strCache>
            </c:strRef>
          </c:tx>
          <c:spPr>
            <a:solidFill>
              <a:srgbClr val="0E2E4F"/>
            </a:solidFill>
            <a:effectLst/>
          </c:spPr>
          <c:invertIfNegative val="0"/>
          <c:dLbls>
            <c:numFmt formatCode="₹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C&amp;I rooftop</c:v>
                  </c:pt>
                  <c:pt idx="1">
                    <c:v>Solar carport</c:v>
                  </c:pt>
                  <c:pt idx="2">
                    <c:v>GridMats Solar Walkway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40000</c:v>
                </c:pt>
                <c:pt idx="1">
                  <c:v>61000</c:v>
                </c:pt>
                <c:pt idx="2">
                  <c:v>125127.8125</c:v>
                </c:pt>
              </c:numCache>
            </c:numRef>
          </c:val>
        </c:ser>
        <c:dLbls>
          <c:numFmt formatCode="₹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9A9A9A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3F3F3F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0000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F6F6F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idea: a 25 m² walkway on the Reliance Jio campus that people walk on and that generates power. It is a pilot: GridMats Solar Walkway is pre-commercial, and the pilot exists to measure output, heat, grip and upkeep on Reliance Jio's own site before any rollout.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lines and one ask. The ask: a 25 m² pilot for which Reliance Jio pays about ₹3.26 L ex-GST, with GridMats carrying design, 50% of the PV layer, supervision and a 12-month performance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this site: the roof is already committed, walkways are open sky that is paved anyway, and a walkway is where people see it. The three chevrons are the GridMats Solar Walkway proposition.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layers plus the ground beneath them. Walkable PV on top, MLP lumber that carries the wiring and lets water and air through, the patented GridMats base, and a prepared bed: compacted soil, geotextile, WMM and M-sand. The WMM is 100 mm where the soil CBR is under 8 and 50 mm otherwise, so the site soil test matters. Design basis about 160 W per square metre of walkway.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four steps, then safety. Be clear that walkability, load and heat are pilot measurements; GridMats does not claim test results it does not yet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Cell technology matters more on a walkway than on a roof: the modules lie flat, run hot and collect dust. TOPCon's lower temperature coefficient and slower degradation are worth a few percent of lifetime energy over PERC; HJT, which Reliance makes at Jamnagar, is slightly better again and is a candidate for a co-developed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pilot as drawn: four modules across, one per 500 mm grid, the cable run to an inverter and meter, then to the nearest low-voltage board. Sensor positions are indicative.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Generation follows the sun: strongest in March to May, weakest in the monsoon. The pilot will measure the real monthly figures against this curve; that comparison is the first line of the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offer: Reliance Jio pays for the ground preparation, the base, 50% of the PV layer, the electrical work and installation; GridMats carries engineering, 50% of the PV layer, supervision and the monitoring study. Prices shown per sq ft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Separate the two cases. The pilot is an evidence purchase, made cheaper by co-funding. The rollout case at today's prices pays back in 9.6 years and delivers power at ₹12.46/kWh against ₹10.00 from the grid, so say plainly that it is not yet a pure energy-savings case. It improves with the walkway credit, a higher tariff, volume pricing and measured yield; the pilot measures the yield.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honest here: per kWp, a roof is cheaper and pays back faster. The walkway is not a replacement for rooftop solar; it adds generation where the roof is full and turns a walkway budget into a generating asset.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numbers drive everything: the landed power price at the campus and the real performance ratio of flat, walk-on modules. The bill gives the first; the pilot gives the second.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scorecard is the decision tool: ten measures, weighted, agreed before a single module goes down. The dashboard makes the data visible to the client's team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Indicative timing. The supply date is fixed in the purchase order once the site is ready; GridMats does not promise a fixed number of days before that.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rollout path. Each phase is a decision on its own, taken on measured data from the one before.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Credentials with the approved figures. Make the distinction explicit: customers and metrics are for the existing GridMats platform; the Solar Walkway is entering its first pilots.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site walk: name the walkway, the connection point and the facilities contact, and the pilot can be engineered within weeks.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Reference slide. Every value here is an editable input in the model.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83080"/>
            <a:ext cx="5120640" cy="1554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520440"/>
            <a:ext cx="50292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accent4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Shape 0"/>
          <p:cNvSpPr/>
          <p:nvPr/>
        </p:nvSpPr>
        <p:spPr>
          <a:xfrm>
            <a:off x="10104120" y="256032"/>
            <a:ext cx="18745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/home/user/gridmats-monitor/solar-walkway-template/assets/logo_gridmats_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329184"/>
            <a:ext cx="1691640" cy="406908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548640" y="6446520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GRIDMATS®  |  GroundReality Enterprises Pvt. Ltd.</a:t>
            </a:r>
            <a:endParaRPr lang="en-US" sz="1000" dirty="0"/>
          </a:p>
        </p:txBody>
      </p:sp>
      <p:sp>
        <p:nvSpPr>
          <p:cNvPr id="7" name="Text 2"/>
          <p:cNvSpPr/>
          <p:nvPr/>
        </p:nvSpPr>
        <p:spPr>
          <a:xfrm>
            <a:off x="8778240" y="644652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4"/>
                </a:solidFill>
              </a:rPr>
              <a:t>www.gridmats.com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91440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43000"/>
            <a:ext cx="91440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5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1500" dirty="0"/>
          </a:p>
        </p:txBody>
      </p:sp>
      <p:sp>
        <p:nvSpPr>
          <p:cNvPr id="4" name="Shape 0"/>
          <p:cNvSpPr/>
          <p:nvPr/>
        </p:nvSpPr>
        <p:spPr>
          <a:xfrm>
            <a:off x="10104120" y="256032"/>
            <a:ext cx="18745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5" name="Image 0" descr="/home/user/gridmats-monitor/solar-walkway-template/assets/logo_gridmats_sol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95560" y="329184"/>
            <a:ext cx="1691640" cy="4069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cept visualization of a GridMats Solar Walkway through a campus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760720" y="0"/>
            <a:ext cx="6430975" cy="6858000"/>
          </a:xfrm>
          <a:prstGeom prst="rect">
            <a:avLst/>
          </a:prstGeom>
        </p:spPr>
      </p:pic>
      <p:sp>
        <p:nvSpPr>
          <p:cNvPr id="3" name="logo-box"/>
          <p:cNvSpPr/>
          <p:nvPr/>
        </p:nvSpPr>
        <p:spPr>
          <a:xfrm>
            <a:off x="10104120" y="256032"/>
            <a:ext cx="187452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4" name="Image 1" descr="GridMats Solar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95560" y="329184"/>
            <a:ext cx="1691640" cy="406908"/>
          </a:xfrm>
          <a:prstGeom prst="rect">
            <a:avLst/>
          </a:prstGeom>
        </p:spPr>
      </p:pic>
      <p:sp>
        <p:nvSpPr>
          <p:cNvPr id="5" name="pill"/>
          <p:cNvSpPr/>
          <p:nvPr/>
        </p:nvSpPr>
        <p:spPr>
          <a:xfrm>
            <a:off x="548640" y="1097280"/>
            <a:ext cx="3291840" cy="384048"/>
          </a:xfrm>
          <a:prstGeom prst="roundRect">
            <a:avLst>
              <a:gd name="adj" fmla="val 19048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85800" y="109728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PILOT PROPOSAL  ·  RELIANCE JIO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0" type="title" hasCustomPrompt="1"/>
          </p:nvPr>
        </p:nvSpPr>
        <p:spPr>
          <a:xfrm>
            <a:off x="548640" y="1783080"/>
            <a:ext cx="5120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GridMats® Solar Walkway</a:t>
            </a:r>
            <a:endParaRPr lang="en-US" sz="4000" dirty="0"/>
          </a:p>
        </p:txBody>
      </p:sp>
      <p:sp>
        <p:nvSpPr>
          <p:cNvPr id="8" name="Text 0"/>
          <p:cNvSpPr/>
          <p:nvPr>
            <p:ph idx="101" type="body" hasCustomPrompt="1"/>
          </p:nvPr>
        </p:nvSpPr>
        <p:spPr>
          <a:xfrm>
            <a:off x="548640" y="352044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2"/>
                </a:solidFill>
              </a:rPr>
              <a:t>A 25 m² pilot walkway that generates power on the Jio campus</a:t>
            </a:r>
            <a:endParaRPr lang="en-US" sz="1800" dirty="0"/>
          </a:p>
        </p:txBody>
      </p:sp>
      <p:sp>
        <p:nvSpPr>
          <p:cNvPr id="9" name="Text 5"/>
          <p:cNvSpPr txBox="1"/>
          <p:nvPr/>
        </p:nvSpPr>
        <p:spPr>
          <a:xfrm>
            <a:off x="548640" y="4892040"/>
            <a:ext cx="5029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Prepared for Reliance Jio Infocomm Limited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Reliance Corporate Park (TC-22), Ghansoli, Navi Mumbai, Maharashtra  ·  October 2026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172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GroundReality Enterprises Pvt. Ltd., Bengaluru  ·  Indian Patent 398992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10058400" y="64922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bg1"/>
                </a:solidFill>
              </a:rPr>
              <a:t>Concept visualization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proposal on one page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 25 m² generating walkway on the Reliance Jio campus, measured for 3 months before any rollout decision.</a:t>
            </a:r>
            <a:endParaRPr lang="en-US" sz="1500" dirty="0"/>
          </a:p>
        </p:txBody>
      </p:sp>
      <p:sp>
        <p:nvSpPr>
          <p:cNvPr id="4" name="badge"/>
          <p:cNvSpPr/>
          <p:nvPr/>
        </p:nvSpPr>
        <p:spPr>
          <a:xfrm>
            <a:off x="548640" y="1645920"/>
            <a:ext cx="566928" cy="566928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2763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What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5681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25 m² GridMats Solar Walkway: 100 walkable 40 W modules on a recycled-plastic GridMats base, 4.0 kWp in all.</a:t>
            </a:r>
            <a:endParaRPr lang="en-US" sz="1400" dirty="0"/>
          </a:p>
        </p:txBody>
      </p:sp>
      <p:sp>
        <p:nvSpPr>
          <p:cNvPr id="8" name="badge"/>
          <p:cNvSpPr/>
          <p:nvPr/>
        </p:nvSpPr>
        <p:spPr>
          <a:xfrm>
            <a:off x="548640" y="2743200"/>
            <a:ext cx="566928" cy="566928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7432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72491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Output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05409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About 5,170 kWh a year (14.2 kWh a day on average), metered and sensed from day one.</a:t>
            </a:r>
            <a:endParaRPr lang="en-US" sz="1400" dirty="0"/>
          </a:p>
        </p:txBody>
      </p:sp>
      <p:sp>
        <p:nvSpPr>
          <p:cNvPr id="12" name="badge"/>
          <p:cNvSpPr/>
          <p:nvPr/>
        </p:nvSpPr>
        <p:spPr>
          <a:xfrm>
            <a:off x="548640" y="3840480"/>
            <a:ext cx="566928" cy="566928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8404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82219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Cost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15137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Reliance Jio pays ₹3.26 L ex-GST (₹1,211/sq ft). GridMats contributes ₹4.55 L: design, 50% of the PV layer, supervision, IoT study.</a:t>
            </a:r>
            <a:endParaRPr lang="en-US" sz="1400" dirty="0"/>
          </a:p>
        </p:txBody>
      </p:sp>
      <p:sp>
        <p:nvSpPr>
          <p:cNvPr id="16" name="badge"/>
          <p:cNvSpPr/>
          <p:nvPr/>
        </p:nvSpPr>
        <p:spPr>
          <a:xfrm>
            <a:off x="548640" y="4937760"/>
            <a:ext cx="566928" cy="566928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937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919472"/>
            <a:ext cx="6035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Decision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5248656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3-month evaluation against an agreed scorecard, monitoring for 12 months. At campus scale (1,000 m²) the model shows a 9.6-year payback at today's prices.</a:t>
            </a:r>
            <a:endParaRPr lang="en-US" sz="1400" dirty="0"/>
          </a:p>
        </p:txBody>
      </p:sp>
      <p:sp>
        <p:nvSpPr>
          <p:cNvPr id="20" name="glance-card"/>
          <p:cNvSpPr/>
          <p:nvPr/>
        </p:nvSpPr>
        <p:spPr>
          <a:xfrm>
            <a:off x="7635240" y="1645920"/>
            <a:ext cx="4005072" cy="4206240"/>
          </a:xfrm>
          <a:prstGeom prst="roundRect">
            <a:avLst>
              <a:gd name="adj" fmla="val 1826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909560" y="182880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33D"/>
                </a:solidFill>
              </a:rPr>
              <a:t>THE PILOT AT A GLANCE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909560" y="23317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4.0 kWp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909560" y="2880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on 25 m² (100 modules)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9738360" y="23317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5,170 kWh</a:t>
            </a:r>
            <a:endParaRPr lang="en-US" sz="2400" dirty="0"/>
          </a:p>
        </p:txBody>
      </p:sp>
      <p:sp>
        <p:nvSpPr>
          <p:cNvPr id="25" name="Text 23"/>
          <p:cNvSpPr txBox="1"/>
          <p:nvPr/>
        </p:nvSpPr>
        <p:spPr>
          <a:xfrm>
            <a:off x="9738360" y="288036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a year, estimated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909560" y="40233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₹3.26 L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7909560" y="45720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Reliance Jio pays, ex-GST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738360" y="40233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6.9 years</a:t>
            </a:r>
            <a:endParaRPr lang="en-US" sz="2400" dirty="0"/>
          </a:p>
        </p:txBody>
      </p:sp>
      <p:sp>
        <p:nvSpPr>
          <p:cNvPr id="29" name="Text 27"/>
          <p:cNvSpPr txBox="1"/>
          <p:nvPr/>
        </p:nvSpPr>
        <p:spPr>
          <a:xfrm>
            <a:off x="9738360" y="4572000"/>
            <a:ext cx="1691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payback on Reliance Jio's outlay</a:t>
            </a:r>
            <a:endParaRPr lang="en-US" sz="1200" dirty="0"/>
          </a:p>
        </p:txBody>
      </p:sp>
      <p:sp>
        <p:nvSpPr>
          <p:cNvPr id="30" name="source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All figures from the companion model (base case). Money ex-GST. The GridMats Solar Walkway is pre-commercial; yield, life and upkeep are estimates the pilot measures.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a walkway at Reliance Jio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Every paved surface can do more: use it, build it from recycled plastic, and make power on it.</a:t>
            </a:r>
            <a:endParaRPr lang="en-US" sz="1500" dirty="0"/>
          </a:p>
        </p:txBody>
      </p:sp>
      <p:sp>
        <p:nvSpPr>
          <p:cNvPr id="4" name="why-card"/>
          <p:cNvSpPr/>
          <p:nvPr/>
        </p:nvSpPr>
        <p:spPr>
          <a:xfrm>
            <a:off x="548640" y="164592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5" name="icon-badge"/>
          <p:cNvSpPr/>
          <p:nvPr/>
        </p:nvSpPr>
        <p:spPr>
          <a:xfrm>
            <a:off x="777240" y="1920240"/>
            <a:ext cx="640080" cy="640080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pic>
        <p:nvPicPr>
          <p:cNvPr id="6" name="Image 0" descr="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2080260"/>
            <a:ext cx="320040" cy="3200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600200" y="184708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Roofs are already busy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600200" y="221284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Office roofs carry HVAC, water tanks and access; walkways are open sky that is paved anyway.</a:t>
            </a:r>
            <a:endParaRPr lang="en-US" sz="1300" dirty="0"/>
          </a:p>
        </p:txBody>
      </p:sp>
      <p:sp>
        <p:nvSpPr>
          <p:cNvPr id="9" name="why-card"/>
          <p:cNvSpPr/>
          <p:nvPr/>
        </p:nvSpPr>
        <p:spPr>
          <a:xfrm>
            <a:off x="6172200" y="164592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0" name="icon-badge"/>
          <p:cNvSpPr/>
          <p:nvPr/>
        </p:nvSpPr>
        <p:spPr>
          <a:xfrm>
            <a:off x="6400800" y="1920240"/>
            <a:ext cx="640080" cy="64008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11" name="Image 1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820" y="2080260"/>
            <a:ext cx="320040" cy="3200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184708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 visible proof point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223760" y="221284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Employees and visitors walk on the power plant every day: Reliance's Net Carbon Zero 2035 goal, made tangible.</a:t>
            </a:r>
            <a:endParaRPr lang="en-US" sz="1300" dirty="0"/>
          </a:p>
        </p:txBody>
      </p:sp>
      <p:sp>
        <p:nvSpPr>
          <p:cNvPr id="14" name="why-card"/>
          <p:cNvSpPr/>
          <p:nvPr/>
        </p:nvSpPr>
        <p:spPr>
          <a:xfrm>
            <a:off x="548640" y="324612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5" name="icon-badge"/>
          <p:cNvSpPr/>
          <p:nvPr/>
        </p:nvSpPr>
        <p:spPr>
          <a:xfrm>
            <a:off x="777240" y="3520440"/>
            <a:ext cx="640080" cy="64008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pic>
        <p:nvPicPr>
          <p:cNvPr id="16" name="Image 2" descr="Microchip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3680460"/>
            <a:ext cx="320040" cy="3200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600200" y="344728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Made for a digital campus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600200" y="381304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Every tile is metered and sensed: a live data feed that can plug into JioThings and the campus IoT stack.</a:t>
            </a:r>
            <a:endParaRPr lang="en-US" sz="1300" dirty="0"/>
          </a:p>
        </p:txBody>
      </p:sp>
      <p:sp>
        <p:nvSpPr>
          <p:cNvPr id="19" name="why-card"/>
          <p:cNvSpPr/>
          <p:nvPr/>
        </p:nvSpPr>
        <p:spPr>
          <a:xfrm>
            <a:off x="6172200" y="3246120"/>
            <a:ext cx="5440680" cy="1417320"/>
          </a:xfrm>
          <a:prstGeom prst="roundRect">
            <a:avLst>
              <a:gd name="adj" fmla="val 5161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0" name="icon-badge"/>
          <p:cNvSpPr/>
          <p:nvPr/>
        </p:nvSpPr>
        <p:spPr>
          <a:xfrm>
            <a:off x="6400800" y="3520440"/>
            <a:ext cx="640080" cy="640080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pic>
        <p:nvPicPr>
          <p:cNvPr id="21" name="Image 3" descr="ShoePrint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60820" y="3680460"/>
            <a:ext cx="320040" cy="3200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223760" y="3447288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Small, safe first step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223760" y="3813048"/>
            <a:ext cx="4206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25 m², low-voltage DC, built in days; decide on rollout with three months of measured data.</a:t>
            </a:r>
            <a:endParaRPr lang="en-US" sz="1300" dirty="0"/>
          </a:p>
        </p:txBody>
      </p:sp>
      <p:sp>
        <p:nvSpPr>
          <p:cNvPr id="24" name="chevron"/>
          <p:cNvSpPr/>
          <p:nvPr/>
        </p:nvSpPr>
        <p:spPr>
          <a:xfrm>
            <a:off x="548640" y="5029200"/>
            <a:ext cx="3566160" cy="685800"/>
          </a:xfrm>
          <a:prstGeom prst="chevron">
            <a:avLst/>
          </a:prstGeom>
          <a:solidFill>
            <a:srgbClr val="E9EEF4"/>
          </a:solidFill>
          <a:ln w="12700">
            <a:solidFill>
              <a:srgbClr val="E9EEF4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914400" y="50292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6"/>
                </a:solidFill>
              </a:rPr>
              <a:t>USE EXISTING SURFACES</a:t>
            </a:r>
            <a:endParaRPr lang="en-US" sz="1300" dirty="0"/>
          </a:p>
        </p:txBody>
      </p:sp>
      <p:sp>
        <p:nvSpPr>
          <p:cNvPr id="26" name="chevron"/>
          <p:cNvSpPr/>
          <p:nvPr/>
        </p:nvSpPr>
        <p:spPr>
          <a:xfrm>
            <a:off x="4297680" y="5029200"/>
            <a:ext cx="3566160" cy="685800"/>
          </a:xfrm>
          <a:prstGeom prst="chevron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4663440" y="50292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RECYCLE INTO STRUCTURE</a:t>
            </a:r>
            <a:endParaRPr lang="en-US" sz="1300" dirty="0"/>
          </a:p>
        </p:txBody>
      </p:sp>
      <p:sp>
        <p:nvSpPr>
          <p:cNvPr id="28" name="chevron"/>
          <p:cNvSpPr/>
          <p:nvPr/>
        </p:nvSpPr>
        <p:spPr>
          <a:xfrm>
            <a:off x="8046720" y="5029200"/>
            <a:ext cx="3566160" cy="685800"/>
          </a:xfrm>
          <a:prstGeom prst="chevron">
            <a:avLst/>
          </a:prstGeom>
          <a:solidFill>
            <a:srgbClr val="E7F0E8"/>
          </a:solidFill>
          <a:ln w="12700">
            <a:solidFill>
              <a:srgbClr val="E7F0E8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8412480" y="502920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GENERATE CLEAN ENERGY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it is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 modular surface that carries people and produces electricity.</a:t>
            </a:r>
            <a:endParaRPr lang="en-US" sz="1500" dirty="0"/>
          </a:p>
        </p:txBody>
      </p:sp>
      <p:pic>
        <p:nvPicPr>
          <p:cNvPr id="4" name="Image 0" descr="Exploded view: PV module, MLP lumber, GridMats base on prepared ground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1600200"/>
            <a:ext cx="5760720" cy="3246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48640" y="4892040"/>
            <a:ext cx="5760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Concept visualization</a:t>
            </a:r>
            <a:endParaRPr lang="en-US" sz="1000" dirty="0"/>
          </a:p>
        </p:txBody>
      </p:sp>
      <p:sp>
        <p:nvSpPr>
          <p:cNvPr id="6" name="layer-card"/>
          <p:cNvSpPr/>
          <p:nvPr/>
        </p:nvSpPr>
        <p:spPr>
          <a:xfrm>
            <a:off x="6583680" y="1600200"/>
            <a:ext cx="5056632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7" name="badge"/>
          <p:cNvSpPr/>
          <p:nvPr/>
        </p:nvSpPr>
        <p:spPr>
          <a:xfrm>
            <a:off x="6748272" y="1764792"/>
            <a:ext cx="493776" cy="493776"/>
          </a:xfrm>
          <a:prstGeom prst="ellipse">
            <a:avLst/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748272" y="176479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PV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406640" y="1664208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1. Walkable photovoltaic layer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7406640" y="1920240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12 mm toughened glass over a 40 W module; modular, so one module can be replaced without lifting the walkway.</a:t>
            </a:r>
            <a:endParaRPr lang="en-US" sz="1100" dirty="0"/>
          </a:p>
        </p:txBody>
      </p:sp>
      <p:sp>
        <p:nvSpPr>
          <p:cNvPr id="11" name="layer-card"/>
          <p:cNvSpPr/>
          <p:nvPr/>
        </p:nvSpPr>
        <p:spPr>
          <a:xfrm>
            <a:off x="6583680" y="2505456"/>
            <a:ext cx="5056632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2" name="badge"/>
          <p:cNvSpPr/>
          <p:nvPr/>
        </p:nvSpPr>
        <p:spPr>
          <a:xfrm>
            <a:off x="6748272" y="2670048"/>
            <a:ext cx="493776" cy="493776"/>
          </a:xfrm>
          <a:prstGeom prst="ellipse">
            <a:avLst/>
          </a:prstGeom>
          <a:solidFill>
            <a:srgbClr val="B87503"/>
          </a:solidFill>
          <a:ln w="12700">
            <a:solidFill>
              <a:srgbClr val="B87503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748272" y="267004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DC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7406640" y="2569464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2. MLP lumber electrical layer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406640" y="28254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40 × 40 mm recycled MLP lumber carries the wiring, with about 50 mm open gaps for airflow and drainage.</a:t>
            </a:r>
            <a:endParaRPr lang="en-US" sz="1100" dirty="0"/>
          </a:p>
        </p:txBody>
      </p:sp>
      <p:sp>
        <p:nvSpPr>
          <p:cNvPr id="16" name="layer-card"/>
          <p:cNvSpPr/>
          <p:nvPr/>
        </p:nvSpPr>
        <p:spPr>
          <a:xfrm>
            <a:off x="6583680" y="3410712"/>
            <a:ext cx="5056632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7" name="badge"/>
          <p:cNvSpPr/>
          <p:nvPr/>
        </p:nvSpPr>
        <p:spPr>
          <a:xfrm>
            <a:off x="6748272" y="3575304"/>
            <a:ext cx="493776" cy="493776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748272" y="3575304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GM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7406640" y="347472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3. Patented GridMats structural base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7406640" y="3730752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100% recycled polypropylene grid (500 × 500 mm, 4 per m²) gives confinement, stability and a level bed.</a:t>
            </a:r>
            <a:endParaRPr lang="en-US" sz="1100" dirty="0"/>
          </a:p>
        </p:txBody>
      </p:sp>
      <p:sp>
        <p:nvSpPr>
          <p:cNvPr id="21" name="layer-card"/>
          <p:cNvSpPr/>
          <p:nvPr/>
        </p:nvSpPr>
        <p:spPr>
          <a:xfrm>
            <a:off x="6583680" y="4315968"/>
            <a:ext cx="5056632" cy="822960"/>
          </a:xfrm>
          <a:prstGeom prst="roundRect">
            <a:avLst>
              <a:gd name="adj" fmla="val 8889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2" name="badge"/>
          <p:cNvSpPr/>
          <p:nvPr/>
        </p:nvSpPr>
        <p:spPr>
          <a:xfrm>
            <a:off x="6748272" y="4480560"/>
            <a:ext cx="493776" cy="493776"/>
          </a:xfrm>
          <a:prstGeom prst="ellipse">
            <a:avLst/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748272" y="448056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GP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406640" y="437997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4. Prepared ground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7406640" y="4636008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Well-compacted subgrade, geotextile fabric, 100 mm wet mix macadam and 20 mm M-sand bedding (soil CBR under 8).</a:t>
            </a:r>
            <a:endParaRPr lang="en-US" sz="1100" dirty="0"/>
          </a:p>
        </p:txBody>
      </p:sp>
      <p:sp>
        <p:nvSpPr>
          <p:cNvPr id="26" name="basis-card"/>
          <p:cNvSpPr/>
          <p:nvPr/>
        </p:nvSpPr>
        <p:spPr>
          <a:xfrm>
            <a:off x="548640" y="5257800"/>
            <a:ext cx="11094415" cy="640080"/>
          </a:xfrm>
          <a:prstGeom prst="roundRect">
            <a:avLst>
              <a:gd name="adj" fmla="val 11429"/>
            </a:avLst>
          </a:prstGeom>
          <a:solidFill>
            <a:srgbClr val="E7F0E8"/>
          </a:solidFill>
          <a:ln w="9525">
            <a:solidFill>
              <a:srgbClr val="E7F0E8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5257800"/>
            <a:ext cx="106372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Design basis:  40 W per 550 × 400 mm module  ·  4 modules per m²  ·  about 160 W per m² of walkway  ·  15-16% surface efficiency  ·  no extra land or mounting</a:t>
            </a:r>
            <a:endParaRPr lang="en-US" sz="1400" dirty="0"/>
          </a:p>
        </p:txBody>
      </p:sp>
      <p:sp>
        <p:nvSpPr>
          <p:cNvPr id="28" name="source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GridMats Solar Walkway flier (6 Oct 2026) and Client/Partner Deck v2. Status: pre-commercial; pilot validation under way.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How it works, and how it stays safe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 proven GridMats platform extended into distributed energy; safety is designed in and verified in the pilot.</a:t>
            </a:r>
            <a:endParaRPr lang="en-US" sz="1500" dirty="0"/>
          </a:p>
        </p:txBody>
      </p:sp>
      <p:sp>
        <p:nvSpPr>
          <p:cNvPr id="4" name="badge"/>
          <p:cNvSpPr/>
          <p:nvPr/>
        </p:nvSpPr>
        <p:spPr>
          <a:xfrm>
            <a:off x="548640" y="16459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27632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Capture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38528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Walkable PV modules harvest sunlight on a surface already in use.</a:t>
            </a:r>
            <a:endParaRPr lang="en-US" sz="1300" dirty="0"/>
          </a:p>
        </p:txBody>
      </p:sp>
      <p:sp>
        <p:nvSpPr>
          <p:cNvPr id="8" name="badge"/>
          <p:cNvSpPr/>
          <p:nvPr/>
        </p:nvSpPr>
        <p:spPr>
          <a:xfrm>
            <a:off x="548640" y="26700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267004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02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651760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Connect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96265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Low-voltage DC wiring runs inside the MLP lumber, out of sight and out of the way.</a:t>
            </a:r>
            <a:endParaRPr lang="en-US" sz="1300" dirty="0"/>
          </a:p>
        </p:txBody>
      </p:sp>
      <p:sp>
        <p:nvSpPr>
          <p:cNvPr id="12" name="badge"/>
          <p:cNvSpPr/>
          <p:nvPr/>
        </p:nvSpPr>
        <p:spPr>
          <a:xfrm>
            <a:off x="548640" y="3694176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48640" y="369417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03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675888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Convert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986784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 inverter feeds the campus low-voltage board, behind the meter.</a:t>
            </a:r>
            <a:endParaRPr lang="en-US" sz="1300" dirty="0"/>
          </a:p>
        </p:txBody>
      </p:sp>
      <p:sp>
        <p:nvSpPr>
          <p:cNvPr id="16" name="badge"/>
          <p:cNvSpPr/>
          <p:nvPr/>
        </p:nvSpPr>
        <p:spPr>
          <a:xfrm>
            <a:off x="548640" y="471830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48640" y="471830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04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70001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Use and measure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501091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Every kWh is metered; sensors log module heat, moisture and uptime.</a:t>
            </a:r>
            <a:endParaRPr lang="en-US" sz="1300" dirty="0"/>
          </a:p>
        </p:txBody>
      </p:sp>
      <p:sp>
        <p:nvSpPr>
          <p:cNvPr id="20" name="safety-card"/>
          <p:cNvSpPr/>
          <p:nvPr/>
        </p:nvSpPr>
        <p:spPr>
          <a:xfrm>
            <a:off x="6355080" y="1645920"/>
            <a:ext cx="5285232" cy="4160520"/>
          </a:xfrm>
          <a:prstGeom prst="roundRect">
            <a:avLst>
              <a:gd name="adj" fmla="val 1758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21" name="icon-badge"/>
          <p:cNvSpPr/>
          <p:nvPr/>
        </p:nvSpPr>
        <p:spPr>
          <a:xfrm>
            <a:off x="6583680" y="18288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22" name="Image 0" descr="ShieldAl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20840" y="1965960"/>
            <a:ext cx="274320" cy="27432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7269480" y="1874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Safety by design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6583680" y="2560320"/>
            <a:ext cx="484632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Textured toughened glass: target R11 or wet PTV ≥ 36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Load target 4 kN/m² and 4.5 kN point load (IS 875 Part 2)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Extra-low-voltage DC strings; IP68 junction boxes at grade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BIS-registered modules (IS 14286, IS/IEC 61730)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50 mm gaps drain and cool; edge ramps; one-module repairs</a:t>
            </a:r>
            <a:endParaRPr lang="en-US" sz="1300" dirty="0"/>
          </a:p>
        </p:txBody>
      </p:sp>
      <p:sp>
        <p:nvSpPr>
          <p:cNvPr id="25" name="Text 22"/>
          <p:cNvSpPr txBox="1"/>
          <p:nvPr/>
        </p:nvSpPr>
        <p:spPr>
          <a:xfrm>
            <a:off x="6583680" y="4754880"/>
            <a:ext cx="4846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2B33D"/>
                </a:solidFill>
              </a:rPr>
              <a:t>Tested at handover and through the pilot; no result is claimed until it is measured.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Built on the latest TOPCon cells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n-type TOPCon runs cooler and ages slower than PERC, which matters on a hot, flat walkway.</a:t>
            </a:r>
            <a:endParaRPr lang="en-US" sz="1500" dirty="0"/>
          </a:p>
        </p:txBody>
      </p:sp>
      <p:sp>
        <p:nvSpPr>
          <p:cNvPr id="4" name="tech-card"/>
          <p:cNvSpPr/>
          <p:nvPr/>
        </p:nvSpPr>
        <p:spPr>
          <a:xfrm>
            <a:off x="548640" y="1600200"/>
            <a:ext cx="260604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5" name="stat-value"/>
          <p:cNvSpPr txBox="1"/>
          <p:nvPr/>
        </p:nvSpPr>
        <p:spPr>
          <a:xfrm>
            <a:off x="731520" y="1737360"/>
            <a:ext cx="2286000" cy="3783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25.6-26%</a:t>
            </a:r>
            <a:endParaRPr lang="en-US" sz="2400" dirty="0"/>
          </a:p>
        </p:txBody>
      </p:sp>
      <p:sp>
        <p:nvSpPr>
          <p:cNvPr id="6" name="stat-label"/>
          <p:cNvSpPr txBox="1"/>
          <p:nvPr/>
        </p:nvSpPr>
        <p:spPr>
          <a:xfrm>
            <a:off x="731520" y="217059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TOPCon cell efficiency in mass production (2026)</a:t>
            </a:r>
            <a:endParaRPr lang="en-US" sz="1300" dirty="0"/>
          </a:p>
        </p:txBody>
      </p:sp>
      <p:sp>
        <p:nvSpPr>
          <p:cNvPr id="7" name="tech-card"/>
          <p:cNvSpPr/>
          <p:nvPr/>
        </p:nvSpPr>
        <p:spPr>
          <a:xfrm>
            <a:off x="3291840" y="1600200"/>
            <a:ext cx="260604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stat-value"/>
          <p:cNvSpPr txBox="1"/>
          <p:nvPr/>
        </p:nvSpPr>
        <p:spPr>
          <a:xfrm>
            <a:off x="3474720" y="1737360"/>
            <a:ext cx="2286000" cy="3783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26.66%</a:t>
            </a:r>
            <a:endParaRPr lang="en-US" sz="2400" dirty="0"/>
          </a:p>
        </p:txBody>
      </p:sp>
      <p:sp>
        <p:nvSpPr>
          <p:cNvPr id="9" name="stat-label"/>
          <p:cNvSpPr txBox="1"/>
          <p:nvPr/>
        </p:nvSpPr>
        <p:spPr>
          <a:xfrm>
            <a:off x="3474720" y="217059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record industrial TOPCon cell, M10 wafer (Feb 2026)</a:t>
            </a:r>
            <a:endParaRPr lang="en-US" sz="1300" dirty="0"/>
          </a:p>
        </p:txBody>
      </p:sp>
      <p:sp>
        <p:nvSpPr>
          <p:cNvPr id="10" name="tech-card"/>
          <p:cNvSpPr/>
          <p:nvPr/>
        </p:nvSpPr>
        <p:spPr>
          <a:xfrm>
            <a:off x="548640" y="3063240"/>
            <a:ext cx="260604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1" name="stat-value"/>
          <p:cNvSpPr txBox="1"/>
          <p:nvPr/>
        </p:nvSpPr>
        <p:spPr>
          <a:xfrm>
            <a:off x="731520" y="3200400"/>
            <a:ext cx="2286000" cy="3783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rgbClr val="B87503"/>
                </a:solidFill>
              </a:rPr>
              <a:t>−0.29%/°C</a:t>
            </a:r>
            <a:endParaRPr lang="en-US" sz="2400" dirty="0"/>
          </a:p>
        </p:txBody>
      </p:sp>
      <p:sp>
        <p:nvSpPr>
          <p:cNvPr id="12" name="stat-label"/>
          <p:cNvSpPr txBox="1"/>
          <p:nvPr/>
        </p:nvSpPr>
        <p:spPr>
          <a:xfrm>
            <a:off x="731520" y="36336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power loss per degree, against −0.35%/°C for PERC</a:t>
            </a:r>
            <a:endParaRPr lang="en-US" sz="1300" dirty="0"/>
          </a:p>
        </p:txBody>
      </p:sp>
      <p:sp>
        <p:nvSpPr>
          <p:cNvPr id="13" name="tech-card"/>
          <p:cNvSpPr/>
          <p:nvPr/>
        </p:nvSpPr>
        <p:spPr>
          <a:xfrm>
            <a:off x="3291840" y="3063240"/>
            <a:ext cx="2606040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4" name="stat-value"/>
          <p:cNvSpPr txBox="1"/>
          <p:nvPr/>
        </p:nvSpPr>
        <p:spPr>
          <a:xfrm>
            <a:off x="3474720" y="3200400"/>
            <a:ext cx="2286000" cy="37837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1% + 0.4%/yr</a:t>
            </a:r>
            <a:endParaRPr lang="en-US" sz="2400" dirty="0"/>
          </a:p>
        </p:txBody>
      </p:sp>
      <p:sp>
        <p:nvSpPr>
          <p:cNvPr id="15" name="stat-label"/>
          <p:cNvSpPr txBox="1"/>
          <p:nvPr/>
        </p:nvSpPr>
        <p:spPr>
          <a:xfrm>
            <a:off x="3474720" y="363363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degradation: first year, then each year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72000"/>
          <a:ext cx="534924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1188720"/>
                <a:gridCol w="1188720"/>
                <a:gridCol w="137160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Same 4 kWp pilot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Heat loss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20-yr MWh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W/m² (derived)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Mono PERC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9.4%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93.2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C229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TOPCon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HJT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Chart 0" descr=""/>
          <p:cNvGraphicFramePr/>
          <p:nvPr/>
        </p:nvGraphicFramePr>
        <p:xfrm>
          <a:off x="6263640" y="1600200"/>
          <a:ext cx="5376672" cy="3657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8" name="Text 14"/>
          <p:cNvSpPr txBox="1"/>
          <p:nvPr/>
        </p:nvSpPr>
        <p:spPr>
          <a:xfrm>
            <a:off x="6263640" y="5349240"/>
            <a:ext cx="5376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TOPCon generates 3.8% more than PERC over 20 years on this walkway. Rated on the 40 W design basis; a TOPCon-derived rating of about 176 W/m² is the upgrade path, to be validated.</a:t>
            </a:r>
            <a:endParaRPr lang="en-US" sz="1200" dirty="0"/>
          </a:p>
        </p:txBody>
      </p:sp>
      <p:sp>
        <p:nvSpPr>
          <p:cNvPr id="19" name="source"/>
          <p:cNvSpPr txBox="1"/>
          <p:nvPr/>
        </p:nvSpPr>
        <p:spPr>
          <a:xfrm>
            <a:off x="548640" y="6108192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pv-magazine (25 Feb 2026); taiyangnews; Canadian Solar TOPHiKu6 and Jinko Tiger Neo datasheets; JMK Research (Apr 2026). Losses are model assumptions the pilot measures.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pilot on the Reliance Jio campus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Reliance Corporate Park (TC-22), Ghansoli: 12.5 m × 2.0 m of walkway, 100 modules, behind the meter.</a:t>
            </a:r>
            <a:endParaRPr lang="en-US" sz="1500" dirty="0"/>
          </a:p>
        </p:txBody>
      </p:sp>
      <p:sp>
        <p:nvSpPr>
          <p:cNvPr id="4" name="walkway-edge"/>
          <p:cNvSpPr/>
          <p:nvPr/>
        </p:nvSpPr>
        <p:spPr>
          <a:xfrm>
            <a:off x="658368" y="2121408"/>
            <a:ext cx="6729984" cy="1199693"/>
          </a:xfrm>
          <a:prstGeom prst="rect">
            <a:avLst/>
          </a:prstGeom>
          <a:solidFill>
            <a:srgbClr val="D9D4C7"/>
          </a:solidFill>
          <a:ln w="9525">
            <a:solidFill>
              <a:srgbClr val="B8B1A3"/>
            </a:solidFill>
            <a:prstDash val="solid"/>
          </a:ln>
        </p:spPr>
      </p:sp>
      <p:sp>
        <p:nvSpPr>
          <p:cNvPr id="5" name="module"/>
          <p:cNvSpPr/>
          <p:nvPr/>
        </p:nvSpPr>
        <p:spPr>
          <a:xfrm>
            <a:off x="747321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" name="module"/>
          <p:cNvSpPr/>
          <p:nvPr/>
        </p:nvSpPr>
        <p:spPr>
          <a:xfrm>
            <a:off x="747321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" name="module"/>
          <p:cNvSpPr/>
          <p:nvPr/>
        </p:nvSpPr>
        <p:spPr>
          <a:xfrm>
            <a:off x="747321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8" name="module"/>
          <p:cNvSpPr/>
          <p:nvPr/>
        </p:nvSpPr>
        <p:spPr>
          <a:xfrm>
            <a:off x="747321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9" name="module"/>
          <p:cNvSpPr/>
          <p:nvPr/>
        </p:nvSpPr>
        <p:spPr>
          <a:xfrm>
            <a:off x="1010668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0" name="module"/>
          <p:cNvSpPr/>
          <p:nvPr/>
        </p:nvSpPr>
        <p:spPr>
          <a:xfrm>
            <a:off x="1010668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1" name="module"/>
          <p:cNvSpPr/>
          <p:nvPr/>
        </p:nvSpPr>
        <p:spPr>
          <a:xfrm>
            <a:off x="1010668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2" name="module"/>
          <p:cNvSpPr/>
          <p:nvPr/>
        </p:nvSpPr>
        <p:spPr>
          <a:xfrm>
            <a:off x="1010668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3" name="module"/>
          <p:cNvSpPr/>
          <p:nvPr/>
        </p:nvSpPr>
        <p:spPr>
          <a:xfrm>
            <a:off x="1274015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4" name="module"/>
          <p:cNvSpPr/>
          <p:nvPr/>
        </p:nvSpPr>
        <p:spPr>
          <a:xfrm>
            <a:off x="1274015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5" name="module"/>
          <p:cNvSpPr/>
          <p:nvPr/>
        </p:nvSpPr>
        <p:spPr>
          <a:xfrm>
            <a:off x="1274015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6" name="module"/>
          <p:cNvSpPr/>
          <p:nvPr/>
        </p:nvSpPr>
        <p:spPr>
          <a:xfrm>
            <a:off x="1274015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7" name="module"/>
          <p:cNvSpPr/>
          <p:nvPr/>
        </p:nvSpPr>
        <p:spPr>
          <a:xfrm>
            <a:off x="1537362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8" name="module"/>
          <p:cNvSpPr/>
          <p:nvPr/>
        </p:nvSpPr>
        <p:spPr>
          <a:xfrm>
            <a:off x="1537362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9" name="module"/>
          <p:cNvSpPr/>
          <p:nvPr/>
        </p:nvSpPr>
        <p:spPr>
          <a:xfrm>
            <a:off x="1537362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0" name="module"/>
          <p:cNvSpPr/>
          <p:nvPr/>
        </p:nvSpPr>
        <p:spPr>
          <a:xfrm>
            <a:off x="1537362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1" name="module"/>
          <p:cNvSpPr/>
          <p:nvPr/>
        </p:nvSpPr>
        <p:spPr>
          <a:xfrm>
            <a:off x="1800710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2" name="module"/>
          <p:cNvSpPr/>
          <p:nvPr/>
        </p:nvSpPr>
        <p:spPr>
          <a:xfrm>
            <a:off x="1800710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3" name="module"/>
          <p:cNvSpPr/>
          <p:nvPr/>
        </p:nvSpPr>
        <p:spPr>
          <a:xfrm>
            <a:off x="1800710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4" name="module"/>
          <p:cNvSpPr/>
          <p:nvPr/>
        </p:nvSpPr>
        <p:spPr>
          <a:xfrm>
            <a:off x="1800710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5" name="module"/>
          <p:cNvSpPr/>
          <p:nvPr/>
        </p:nvSpPr>
        <p:spPr>
          <a:xfrm>
            <a:off x="2064057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6" name="module"/>
          <p:cNvSpPr/>
          <p:nvPr/>
        </p:nvSpPr>
        <p:spPr>
          <a:xfrm>
            <a:off x="2064057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7" name="module"/>
          <p:cNvSpPr/>
          <p:nvPr/>
        </p:nvSpPr>
        <p:spPr>
          <a:xfrm>
            <a:off x="2064057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8" name="module"/>
          <p:cNvSpPr/>
          <p:nvPr/>
        </p:nvSpPr>
        <p:spPr>
          <a:xfrm>
            <a:off x="2064057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29" name="module"/>
          <p:cNvSpPr/>
          <p:nvPr/>
        </p:nvSpPr>
        <p:spPr>
          <a:xfrm>
            <a:off x="2327404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0" name="module"/>
          <p:cNvSpPr/>
          <p:nvPr/>
        </p:nvSpPr>
        <p:spPr>
          <a:xfrm>
            <a:off x="2327404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1" name="module"/>
          <p:cNvSpPr/>
          <p:nvPr/>
        </p:nvSpPr>
        <p:spPr>
          <a:xfrm>
            <a:off x="2327404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2" name="module"/>
          <p:cNvSpPr/>
          <p:nvPr/>
        </p:nvSpPr>
        <p:spPr>
          <a:xfrm>
            <a:off x="2327404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3" name="module"/>
          <p:cNvSpPr/>
          <p:nvPr/>
        </p:nvSpPr>
        <p:spPr>
          <a:xfrm>
            <a:off x="2590751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4" name="module"/>
          <p:cNvSpPr/>
          <p:nvPr/>
        </p:nvSpPr>
        <p:spPr>
          <a:xfrm>
            <a:off x="2590751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5" name="module"/>
          <p:cNvSpPr/>
          <p:nvPr/>
        </p:nvSpPr>
        <p:spPr>
          <a:xfrm>
            <a:off x="2590751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6" name="module"/>
          <p:cNvSpPr/>
          <p:nvPr/>
        </p:nvSpPr>
        <p:spPr>
          <a:xfrm>
            <a:off x="2590751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7" name="module"/>
          <p:cNvSpPr/>
          <p:nvPr/>
        </p:nvSpPr>
        <p:spPr>
          <a:xfrm>
            <a:off x="2854098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8" name="module"/>
          <p:cNvSpPr/>
          <p:nvPr/>
        </p:nvSpPr>
        <p:spPr>
          <a:xfrm>
            <a:off x="2854098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39" name="module"/>
          <p:cNvSpPr/>
          <p:nvPr/>
        </p:nvSpPr>
        <p:spPr>
          <a:xfrm>
            <a:off x="2854098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0" name="module"/>
          <p:cNvSpPr/>
          <p:nvPr/>
        </p:nvSpPr>
        <p:spPr>
          <a:xfrm>
            <a:off x="2854098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1" name="module"/>
          <p:cNvSpPr/>
          <p:nvPr/>
        </p:nvSpPr>
        <p:spPr>
          <a:xfrm>
            <a:off x="3117446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2" name="module"/>
          <p:cNvSpPr/>
          <p:nvPr/>
        </p:nvSpPr>
        <p:spPr>
          <a:xfrm>
            <a:off x="3117446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3" name="module"/>
          <p:cNvSpPr/>
          <p:nvPr/>
        </p:nvSpPr>
        <p:spPr>
          <a:xfrm>
            <a:off x="3117446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4" name="module"/>
          <p:cNvSpPr/>
          <p:nvPr/>
        </p:nvSpPr>
        <p:spPr>
          <a:xfrm>
            <a:off x="3117446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5" name="module"/>
          <p:cNvSpPr/>
          <p:nvPr/>
        </p:nvSpPr>
        <p:spPr>
          <a:xfrm>
            <a:off x="3380793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6" name="module"/>
          <p:cNvSpPr/>
          <p:nvPr/>
        </p:nvSpPr>
        <p:spPr>
          <a:xfrm>
            <a:off x="3380793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7" name="module"/>
          <p:cNvSpPr/>
          <p:nvPr/>
        </p:nvSpPr>
        <p:spPr>
          <a:xfrm>
            <a:off x="3380793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8" name="module"/>
          <p:cNvSpPr/>
          <p:nvPr/>
        </p:nvSpPr>
        <p:spPr>
          <a:xfrm>
            <a:off x="3380793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49" name="module"/>
          <p:cNvSpPr/>
          <p:nvPr/>
        </p:nvSpPr>
        <p:spPr>
          <a:xfrm>
            <a:off x="3644140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0" name="module"/>
          <p:cNvSpPr/>
          <p:nvPr/>
        </p:nvSpPr>
        <p:spPr>
          <a:xfrm>
            <a:off x="3644140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1" name="module"/>
          <p:cNvSpPr/>
          <p:nvPr/>
        </p:nvSpPr>
        <p:spPr>
          <a:xfrm>
            <a:off x="3644140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2" name="module"/>
          <p:cNvSpPr/>
          <p:nvPr/>
        </p:nvSpPr>
        <p:spPr>
          <a:xfrm>
            <a:off x="3644140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3" name="module"/>
          <p:cNvSpPr/>
          <p:nvPr/>
        </p:nvSpPr>
        <p:spPr>
          <a:xfrm>
            <a:off x="3907487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4" name="module"/>
          <p:cNvSpPr/>
          <p:nvPr/>
        </p:nvSpPr>
        <p:spPr>
          <a:xfrm>
            <a:off x="3907487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5" name="module"/>
          <p:cNvSpPr/>
          <p:nvPr/>
        </p:nvSpPr>
        <p:spPr>
          <a:xfrm>
            <a:off x="3907487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6" name="module"/>
          <p:cNvSpPr/>
          <p:nvPr/>
        </p:nvSpPr>
        <p:spPr>
          <a:xfrm>
            <a:off x="3907487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7" name="module"/>
          <p:cNvSpPr/>
          <p:nvPr/>
        </p:nvSpPr>
        <p:spPr>
          <a:xfrm>
            <a:off x="4170834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8" name="module"/>
          <p:cNvSpPr/>
          <p:nvPr/>
        </p:nvSpPr>
        <p:spPr>
          <a:xfrm>
            <a:off x="4170834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59" name="module"/>
          <p:cNvSpPr/>
          <p:nvPr/>
        </p:nvSpPr>
        <p:spPr>
          <a:xfrm>
            <a:off x="4170834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0" name="module"/>
          <p:cNvSpPr/>
          <p:nvPr/>
        </p:nvSpPr>
        <p:spPr>
          <a:xfrm>
            <a:off x="4170834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1" name="module"/>
          <p:cNvSpPr/>
          <p:nvPr/>
        </p:nvSpPr>
        <p:spPr>
          <a:xfrm>
            <a:off x="4434182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2" name="module"/>
          <p:cNvSpPr/>
          <p:nvPr/>
        </p:nvSpPr>
        <p:spPr>
          <a:xfrm>
            <a:off x="4434182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3" name="module"/>
          <p:cNvSpPr/>
          <p:nvPr/>
        </p:nvSpPr>
        <p:spPr>
          <a:xfrm>
            <a:off x="4434182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4" name="module"/>
          <p:cNvSpPr/>
          <p:nvPr/>
        </p:nvSpPr>
        <p:spPr>
          <a:xfrm>
            <a:off x="4434182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5" name="module"/>
          <p:cNvSpPr/>
          <p:nvPr/>
        </p:nvSpPr>
        <p:spPr>
          <a:xfrm>
            <a:off x="4697529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6" name="module"/>
          <p:cNvSpPr/>
          <p:nvPr/>
        </p:nvSpPr>
        <p:spPr>
          <a:xfrm>
            <a:off x="4697529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7" name="module"/>
          <p:cNvSpPr/>
          <p:nvPr/>
        </p:nvSpPr>
        <p:spPr>
          <a:xfrm>
            <a:off x="4697529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8" name="module"/>
          <p:cNvSpPr/>
          <p:nvPr/>
        </p:nvSpPr>
        <p:spPr>
          <a:xfrm>
            <a:off x="4697529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69" name="module"/>
          <p:cNvSpPr/>
          <p:nvPr/>
        </p:nvSpPr>
        <p:spPr>
          <a:xfrm>
            <a:off x="4960876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0" name="module"/>
          <p:cNvSpPr/>
          <p:nvPr/>
        </p:nvSpPr>
        <p:spPr>
          <a:xfrm>
            <a:off x="4960876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1" name="module"/>
          <p:cNvSpPr/>
          <p:nvPr/>
        </p:nvSpPr>
        <p:spPr>
          <a:xfrm>
            <a:off x="4960876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2" name="module"/>
          <p:cNvSpPr/>
          <p:nvPr/>
        </p:nvSpPr>
        <p:spPr>
          <a:xfrm>
            <a:off x="4960876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3" name="module"/>
          <p:cNvSpPr/>
          <p:nvPr/>
        </p:nvSpPr>
        <p:spPr>
          <a:xfrm>
            <a:off x="5224223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4" name="module"/>
          <p:cNvSpPr/>
          <p:nvPr/>
        </p:nvSpPr>
        <p:spPr>
          <a:xfrm>
            <a:off x="5224223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5" name="module"/>
          <p:cNvSpPr/>
          <p:nvPr/>
        </p:nvSpPr>
        <p:spPr>
          <a:xfrm>
            <a:off x="5224223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6" name="module"/>
          <p:cNvSpPr/>
          <p:nvPr/>
        </p:nvSpPr>
        <p:spPr>
          <a:xfrm>
            <a:off x="5224223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7" name="module"/>
          <p:cNvSpPr/>
          <p:nvPr/>
        </p:nvSpPr>
        <p:spPr>
          <a:xfrm>
            <a:off x="5487570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8" name="module"/>
          <p:cNvSpPr/>
          <p:nvPr/>
        </p:nvSpPr>
        <p:spPr>
          <a:xfrm>
            <a:off x="5487570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79" name="module"/>
          <p:cNvSpPr/>
          <p:nvPr/>
        </p:nvSpPr>
        <p:spPr>
          <a:xfrm>
            <a:off x="5487570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80" name="module"/>
          <p:cNvSpPr/>
          <p:nvPr/>
        </p:nvSpPr>
        <p:spPr>
          <a:xfrm>
            <a:off x="5487570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81" name="module"/>
          <p:cNvSpPr/>
          <p:nvPr/>
        </p:nvSpPr>
        <p:spPr>
          <a:xfrm>
            <a:off x="5750918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82" name="module"/>
          <p:cNvSpPr/>
          <p:nvPr/>
        </p:nvSpPr>
        <p:spPr>
          <a:xfrm>
            <a:off x="5750918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83" name="module"/>
          <p:cNvSpPr/>
          <p:nvPr/>
        </p:nvSpPr>
        <p:spPr>
          <a:xfrm>
            <a:off x="5750918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84" name="module"/>
          <p:cNvSpPr/>
          <p:nvPr/>
        </p:nvSpPr>
        <p:spPr>
          <a:xfrm>
            <a:off x="5750918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85" name="module"/>
          <p:cNvSpPr/>
          <p:nvPr/>
        </p:nvSpPr>
        <p:spPr>
          <a:xfrm>
            <a:off x="6014265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86" name="module"/>
          <p:cNvSpPr/>
          <p:nvPr/>
        </p:nvSpPr>
        <p:spPr>
          <a:xfrm>
            <a:off x="6014265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87" name="module"/>
          <p:cNvSpPr/>
          <p:nvPr/>
        </p:nvSpPr>
        <p:spPr>
          <a:xfrm>
            <a:off x="6014265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88" name="module"/>
          <p:cNvSpPr/>
          <p:nvPr/>
        </p:nvSpPr>
        <p:spPr>
          <a:xfrm>
            <a:off x="6014265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89" name="module"/>
          <p:cNvSpPr/>
          <p:nvPr/>
        </p:nvSpPr>
        <p:spPr>
          <a:xfrm>
            <a:off x="6277612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90" name="module"/>
          <p:cNvSpPr/>
          <p:nvPr/>
        </p:nvSpPr>
        <p:spPr>
          <a:xfrm>
            <a:off x="6277612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91" name="module"/>
          <p:cNvSpPr/>
          <p:nvPr/>
        </p:nvSpPr>
        <p:spPr>
          <a:xfrm>
            <a:off x="6277612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92" name="module"/>
          <p:cNvSpPr/>
          <p:nvPr/>
        </p:nvSpPr>
        <p:spPr>
          <a:xfrm>
            <a:off x="6277612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93" name="module"/>
          <p:cNvSpPr/>
          <p:nvPr/>
        </p:nvSpPr>
        <p:spPr>
          <a:xfrm>
            <a:off x="6540959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94" name="module"/>
          <p:cNvSpPr/>
          <p:nvPr/>
        </p:nvSpPr>
        <p:spPr>
          <a:xfrm>
            <a:off x="6540959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95" name="module"/>
          <p:cNvSpPr/>
          <p:nvPr/>
        </p:nvSpPr>
        <p:spPr>
          <a:xfrm>
            <a:off x="6540959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96" name="module"/>
          <p:cNvSpPr/>
          <p:nvPr/>
        </p:nvSpPr>
        <p:spPr>
          <a:xfrm>
            <a:off x="6540959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97" name="module"/>
          <p:cNvSpPr/>
          <p:nvPr/>
        </p:nvSpPr>
        <p:spPr>
          <a:xfrm>
            <a:off x="6804306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98" name="module"/>
          <p:cNvSpPr/>
          <p:nvPr/>
        </p:nvSpPr>
        <p:spPr>
          <a:xfrm>
            <a:off x="6804306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99" name="module"/>
          <p:cNvSpPr/>
          <p:nvPr/>
        </p:nvSpPr>
        <p:spPr>
          <a:xfrm>
            <a:off x="6804306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00" name="module"/>
          <p:cNvSpPr/>
          <p:nvPr/>
        </p:nvSpPr>
        <p:spPr>
          <a:xfrm>
            <a:off x="6804306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01" name="module"/>
          <p:cNvSpPr/>
          <p:nvPr/>
        </p:nvSpPr>
        <p:spPr>
          <a:xfrm>
            <a:off x="7067654" y="2210361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02" name="module"/>
          <p:cNvSpPr/>
          <p:nvPr/>
        </p:nvSpPr>
        <p:spPr>
          <a:xfrm>
            <a:off x="7067654" y="2473708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03" name="module"/>
          <p:cNvSpPr/>
          <p:nvPr/>
        </p:nvSpPr>
        <p:spPr>
          <a:xfrm>
            <a:off x="7067654" y="2737055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04" name="module"/>
          <p:cNvSpPr/>
          <p:nvPr/>
        </p:nvSpPr>
        <p:spPr>
          <a:xfrm>
            <a:off x="7067654" y="3000402"/>
            <a:ext cx="231746" cy="231746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05" name="Text 103"/>
          <p:cNvSpPr txBox="1"/>
          <p:nvPr/>
        </p:nvSpPr>
        <p:spPr>
          <a:xfrm>
            <a:off x="731520" y="3385109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12.5 m</a:t>
            </a:r>
            <a:endParaRPr lang="en-US" sz="1200" dirty="0"/>
          </a:p>
        </p:txBody>
      </p:sp>
      <p:sp>
        <p:nvSpPr>
          <p:cNvPr id="106" name="Text 104"/>
          <p:cNvSpPr txBox="1"/>
          <p:nvPr/>
        </p:nvSpPr>
        <p:spPr>
          <a:xfrm>
            <a:off x="7424928" y="258409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2.0 m</a:t>
            </a:r>
            <a:endParaRPr lang="en-US" sz="1200" dirty="0"/>
          </a:p>
        </p:txBody>
      </p:sp>
      <p:sp>
        <p:nvSpPr>
          <p:cNvPr id="107" name="sensor"/>
          <p:cNvSpPr/>
          <p:nvPr/>
        </p:nvSpPr>
        <p:spPr>
          <a:xfrm>
            <a:off x="1645920" y="2437425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8" name="sensor"/>
          <p:cNvSpPr/>
          <p:nvPr/>
        </p:nvSpPr>
        <p:spPr>
          <a:xfrm>
            <a:off x="3621024" y="2858780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sensor"/>
          <p:cNvSpPr/>
          <p:nvPr/>
        </p:nvSpPr>
        <p:spPr>
          <a:xfrm>
            <a:off x="5596128" y="2437425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0" name="sensor"/>
          <p:cNvSpPr/>
          <p:nvPr/>
        </p:nvSpPr>
        <p:spPr>
          <a:xfrm>
            <a:off x="6912864" y="2858780"/>
            <a:ext cx="146304" cy="146304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cable"/>
          <p:cNvSpPr/>
          <p:nvPr/>
        </p:nvSpPr>
        <p:spPr>
          <a:xfrm>
            <a:off x="7315200" y="3247949"/>
            <a:ext cx="0" cy="868680"/>
          </a:xfrm>
          <a:prstGeom prst="line">
            <a:avLst/>
          </a:prstGeom>
          <a:noFill/>
          <a:ln w="25400">
            <a:solidFill>
              <a:srgbClr val="B87503"/>
            </a:solidFill>
            <a:prstDash val="dash"/>
          </a:ln>
        </p:spPr>
      </p:sp>
      <p:sp>
        <p:nvSpPr>
          <p:cNvPr id="112" name="cable"/>
          <p:cNvSpPr/>
          <p:nvPr/>
        </p:nvSpPr>
        <p:spPr>
          <a:xfrm>
            <a:off x="6903720" y="4116629"/>
            <a:ext cx="411480" cy="0"/>
          </a:xfrm>
          <a:prstGeom prst="line">
            <a:avLst/>
          </a:prstGeom>
          <a:noFill/>
          <a:ln w="25400">
            <a:solidFill>
              <a:srgbClr val="B87503"/>
            </a:solidFill>
            <a:prstDash val="dash"/>
          </a:ln>
        </p:spPr>
      </p:sp>
      <p:sp>
        <p:nvSpPr>
          <p:cNvPr id="113" name="inverter"/>
          <p:cNvSpPr/>
          <p:nvPr/>
        </p:nvSpPr>
        <p:spPr>
          <a:xfrm>
            <a:off x="5577840" y="3933749"/>
            <a:ext cx="1325880" cy="566928"/>
          </a:xfrm>
          <a:prstGeom prst="roundRect">
            <a:avLst>
              <a:gd name="adj" fmla="val 12903"/>
            </a:avLst>
          </a:prstGeom>
          <a:solidFill>
            <a:schemeClr val="accent6"/>
          </a:solidFill>
          <a:ln w="9525">
            <a:solidFill>
              <a:schemeClr val="accent6"/>
            </a:solidFill>
            <a:prstDash val="solid"/>
          </a:ln>
        </p:spPr>
      </p:sp>
      <p:sp>
        <p:nvSpPr>
          <p:cNvPr id="114" name="Text 112"/>
          <p:cNvSpPr txBox="1"/>
          <p:nvPr/>
        </p:nvSpPr>
        <p:spPr>
          <a:xfrm>
            <a:off x="5577840" y="3933749"/>
            <a:ext cx="1325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Inverter +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energy meter</a:t>
            </a:r>
            <a:endParaRPr lang="en-US" sz="1100" dirty="0"/>
          </a:p>
        </p:txBody>
      </p:sp>
      <p:sp>
        <p:nvSpPr>
          <p:cNvPr id="115" name="board"/>
          <p:cNvSpPr/>
          <p:nvPr/>
        </p:nvSpPr>
        <p:spPr>
          <a:xfrm>
            <a:off x="3840480" y="3933749"/>
            <a:ext cx="1417320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116" name="Text 114"/>
          <p:cNvSpPr txBox="1"/>
          <p:nvPr/>
        </p:nvSpPr>
        <p:spPr>
          <a:xfrm>
            <a:off x="3840480" y="3933749"/>
            <a:ext cx="14173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Campus LV board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(≤ 30 m)</a:t>
            </a:r>
            <a:endParaRPr lang="en-US" sz="1100" dirty="0"/>
          </a:p>
        </p:txBody>
      </p:sp>
      <p:sp>
        <p:nvSpPr>
          <p:cNvPr id="117" name="cable"/>
          <p:cNvSpPr/>
          <p:nvPr/>
        </p:nvSpPr>
        <p:spPr>
          <a:xfrm>
            <a:off x="5257800" y="4217213"/>
            <a:ext cx="320040" cy="0"/>
          </a:xfrm>
          <a:prstGeom prst="line">
            <a:avLst/>
          </a:prstGeom>
          <a:noFill/>
          <a:ln w="25400">
            <a:solidFill>
              <a:srgbClr val="B87503"/>
            </a:solidFill>
            <a:prstDash val="dash"/>
          </a:ln>
        </p:spPr>
      </p:sp>
      <p:sp>
        <p:nvSpPr>
          <p:cNvPr id="118" name="legend"/>
          <p:cNvSpPr/>
          <p:nvPr/>
        </p:nvSpPr>
        <p:spPr>
          <a:xfrm>
            <a:off x="731520" y="4800600"/>
            <a:ext cx="228600" cy="228600"/>
          </a:xfrm>
          <a:prstGeom prst="rect">
            <a:avLst/>
          </a:prstGeom>
          <a:solidFill>
            <a:srgbClr val="1F3354"/>
          </a:solidFill>
          <a:ln w="6350">
            <a:solidFill>
              <a:srgbClr val="6E7FA0"/>
            </a:solidFill>
            <a:prstDash val="solid"/>
          </a:ln>
        </p:spPr>
      </p:sp>
      <p:sp>
        <p:nvSpPr>
          <p:cNvPr id="119" name="Text 117"/>
          <p:cNvSpPr txBox="1"/>
          <p:nvPr/>
        </p:nvSpPr>
        <p:spPr>
          <a:xfrm>
            <a:off x="1051560" y="478231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40 W module on a 500 × 500 mm GridMats grid</a:t>
            </a:r>
            <a:endParaRPr lang="en-US" sz="1200" dirty="0"/>
          </a:p>
        </p:txBody>
      </p:sp>
      <p:sp>
        <p:nvSpPr>
          <p:cNvPr id="120" name="legend"/>
          <p:cNvSpPr/>
          <p:nvPr/>
        </p:nvSpPr>
        <p:spPr>
          <a:xfrm>
            <a:off x="768096" y="5212080"/>
            <a:ext cx="164592" cy="16459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Text 119"/>
          <p:cNvSpPr txBox="1"/>
          <p:nvPr/>
        </p:nvSpPr>
        <p:spPr>
          <a:xfrm>
            <a:off x="1051560" y="51663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Sensors: module temperature, moisture, reference cell</a:t>
            </a:r>
            <a:endParaRPr lang="en-US" sz="1200" dirty="0"/>
          </a:p>
        </p:txBody>
      </p:sp>
      <p:sp>
        <p:nvSpPr>
          <p:cNvPr id="122" name="legend"/>
          <p:cNvSpPr/>
          <p:nvPr/>
        </p:nvSpPr>
        <p:spPr>
          <a:xfrm>
            <a:off x="685800" y="5687568"/>
            <a:ext cx="320040" cy="0"/>
          </a:xfrm>
          <a:prstGeom prst="line">
            <a:avLst/>
          </a:prstGeom>
          <a:noFill/>
          <a:ln w="25400">
            <a:solidFill>
              <a:srgbClr val="B87503"/>
            </a:solidFill>
            <a:prstDash val="dash"/>
          </a:ln>
        </p:spPr>
      </p:sp>
      <p:sp>
        <p:nvSpPr>
          <p:cNvPr id="123" name="Text 121"/>
          <p:cNvSpPr txBox="1"/>
          <p:nvPr/>
        </p:nvSpPr>
        <p:spPr>
          <a:xfrm>
            <a:off x="1051560" y="55504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Low-voltage cable route</a:t>
            </a:r>
            <a:endParaRPr lang="en-US" sz="1200" dirty="0"/>
          </a:p>
        </p:txBody>
      </p:sp>
      <p:sp>
        <p:nvSpPr>
          <p:cNvPr id="124" name="spec-card"/>
          <p:cNvSpPr/>
          <p:nvPr/>
        </p:nvSpPr>
        <p:spPr>
          <a:xfrm>
            <a:off x="7863840" y="1645920"/>
            <a:ext cx="3776472" cy="4206240"/>
          </a:xfrm>
          <a:prstGeom prst="roundRect">
            <a:avLst>
              <a:gd name="adj" fmla="val 1937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25" name="Text 123"/>
          <p:cNvSpPr txBox="1"/>
          <p:nvPr/>
        </p:nvSpPr>
        <p:spPr>
          <a:xfrm>
            <a:off x="8092440" y="178308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Pilot specification</a:t>
            </a:r>
            <a:endParaRPr lang="en-US" sz="1600" dirty="0"/>
          </a:p>
        </p:txBody>
      </p:sp>
      <p:sp>
        <p:nvSpPr>
          <p:cNvPr id="126" name="Text 124"/>
          <p:cNvSpPr txBox="1"/>
          <p:nvPr/>
        </p:nvSpPr>
        <p:spPr>
          <a:xfrm>
            <a:off x="8092440" y="219456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Area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9372600" y="219456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25.0 m² (269 sq ft)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8092440" y="263347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Modules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9372600" y="263347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100 × 40 W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8092440" y="307238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Cells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9372600" y="307238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TOPCon (n-type)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8092440" y="3511296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Rated power</a:t>
            </a:r>
            <a:endParaRPr lang="en-US" sz="1300" dirty="0"/>
          </a:p>
        </p:txBody>
      </p:sp>
      <p:sp>
        <p:nvSpPr>
          <p:cNvPr id="133" name="Text 131"/>
          <p:cNvSpPr txBox="1"/>
          <p:nvPr/>
        </p:nvSpPr>
        <p:spPr>
          <a:xfrm>
            <a:off x="9372600" y="3511296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4.0 kWp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8092440" y="3950208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Build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9372600" y="3950208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New walkway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8092440" y="4389120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Connection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9372600" y="43891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Behind the meter, campus LV board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8092440" y="4828032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Monitoring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372600" y="4828032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12 months, live dashboard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8092440" y="5266944"/>
            <a:ext cx="1280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Install time</a:t>
            </a:r>
            <a:endParaRPr lang="en-US" sz="1300" dirty="0"/>
          </a:p>
        </p:txBody>
      </p:sp>
      <p:sp>
        <p:nvSpPr>
          <p:cNvPr id="141" name="Text 139"/>
          <p:cNvSpPr txBox="1"/>
          <p:nvPr/>
        </p:nvSpPr>
        <p:spPr>
          <a:xfrm>
            <a:off x="9372600" y="5266944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2-3 days on site</a:t>
            </a:r>
            <a:endParaRPr lang="en-US" sz="1300" dirty="0"/>
          </a:p>
        </p:txBody>
      </p:sp>
      <p:sp>
        <p:nvSpPr>
          <p:cNvPr id="142" name="source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Indicative layout; final layout follows the site assessment (shade, footfall, drainage, connection point).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it will generate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Mumbai sunshine, TOPCon (n-type) modules, 73% performance ratio after losses, 5% site shading.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694944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tat-value"/>
          <p:cNvSpPr txBox="1"/>
          <p:nvPr/>
        </p:nvSpPr>
        <p:spPr>
          <a:xfrm>
            <a:off x="8001000" y="1691640"/>
            <a:ext cx="3657600" cy="40990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3"/>
                </a:solidFill>
              </a:rPr>
              <a:t>5,170 kWh</a:t>
            </a:r>
            <a:endParaRPr lang="en-US" sz="2600" dirty="0"/>
          </a:p>
        </p:txBody>
      </p:sp>
      <p:sp>
        <p:nvSpPr>
          <p:cNvPr id="6" name="stat-label"/>
          <p:cNvSpPr txBox="1"/>
          <p:nvPr/>
        </p:nvSpPr>
        <p:spPr>
          <a:xfrm>
            <a:off x="8001000" y="2156407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year, estimated</a:t>
            </a:r>
            <a:endParaRPr lang="en-US" sz="1300" dirty="0"/>
          </a:p>
        </p:txBody>
      </p:sp>
      <p:sp>
        <p:nvSpPr>
          <p:cNvPr id="7" name="stat-value"/>
          <p:cNvSpPr txBox="1"/>
          <p:nvPr/>
        </p:nvSpPr>
        <p:spPr>
          <a:xfrm>
            <a:off x="8001000" y="2743200"/>
            <a:ext cx="3657600" cy="40990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6"/>
                </a:solidFill>
              </a:rPr>
              <a:t>14.2 kWh</a:t>
            </a:r>
            <a:endParaRPr lang="en-US" sz="2600" dirty="0"/>
          </a:p>
        </p:txBody>
      </p:sp>
      <p:sp>
        <p:nvSpPr>
          <p:cNvPr id="8" name="stat-label"/>
          <p:cNvSpPr txBox="1"/>
          <p:nvPr/>
        </p:nvSpPr>
        <p:spPr>
          <a:xfrm>
            <a:off x="8001000" y="3207967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 day on average</a:t>
            </a:r>
            <a:endParaRPr lang="en-US" sz="1300" dirty="0"/>
          </a:p>
        </p:txBody>
      </p:sp>
      <p:sp>
        <p:nvSpPr>
          <p:cNvPr id="9" name="stat-value"/>
          <p:cNvSpPr txBox="1"/>
          <p:nvPr/>
        </p:nvSpPr>
        <p:spPr>
          <a:xfrm>
            <a:off x="8001000" y="3794760"/>
            <a:ext cx="3657600" cy="40990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578 / 319</a:t>
            </a:r>
            <a:endParaRPr lang="en-US" sz="2600" dirty="0"/>
          </a:p>
        </p:txBody>
      </p:sp>
      <p:sp>
        <p:nvSpPr>
          <p:cNvPr id="10" name="stat-label"/>
          <p:cNvSpPr txBox="1"/>
          <p:nvPr/>
        </p:nvSpPr>
        <p:spPr>
          <a:xfrm>
            <a:off x="8001000" y="4259527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kWh in the best and the monsoon month</a:t>
            </a:r>
            <a:endParaRPr lang="en-US" sz="1300" dirty="0"/>
          </a:p>
        </p:txBody>
      </p:sp>
      <p:sp>
        <p:nvSpPr>
          <p:cNvPr id="11" name="stat-value"/>
          <p:cNvSpPr txBox="1"/>
          <p:nvPr/>
        </p:nvSpPr>
        <p:spPr>
          <a:xfrm>
            <a:off x="8001000" y="4846320"/>
            <a:ext cx="3657600" cy="409903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chemeClr val="accent2"/>
                </a:solidFill>
              </a:rPr>
              <a:t>3.7 t</a:t>
            </a:r>
            <a:endParaRPr lang="en-US" sz="2600" dirty="0"/>
          </a:p>
        </p:txBody>
      </p:sp>
      <p:sp>
        <p:nvSpPr>
          <p:cNvPr id="12" name="stat-label"/>
          <p:cNvSpPr txBox="1"/>
          <p:nvPr/>
        </p:nvSpPr>
        <p:spPr>
          <a:xfrm>
            <a:off x="8001000" y="5311087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CO2 avoided a year (CEA grid factor)</a:t>
            </a:r>
            <a:endParaRPr lang="en-US" sz="1300" dirty="0"/>
          </a:p>
        </p:txBody>
      </p:sp>
      <p:sp>
        <p:nvSpPr>
          <p:cNvPr id="13" name="source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Sunshine: typical-year Mumbai profile, 1,860 kWh/m²/yr (replace with site data after the site walk). Specific yield 1,293 kWh/kWp/yr.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the pilot costs, and who pays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List value of the pilot scope against what Reliance Jio pays. Ex-GST; GST extra at the applicable rate.</a:t>
            </a:r>
            <a:endParaRPr lang="en-US" sz="15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731520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143000"/>
                <a:gridCol w="1234440"/>
                <a:gridCol w="1188720"/>
              </a:tblGrid>
              <a:tr h="4297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Scope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GridMats covers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6B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Reliance Jio pays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2935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Site assessment and engineering design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₹0.40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₹0.40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Included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Ground preparation and GridMats OC-LW 40 base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₹0.26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₹0.26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Walkable PV layer (100 × 40 W, MLP lumber, wiring)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₹4.09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₹2.05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₹2.05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Electrical BOS, grid integration and metering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₹0.52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₹0.52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Logistics and installation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₹0.43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₹0.43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GridMats supervision, training and travel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₹0.85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₹0.85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Included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IoT sensors, dashboard and performance study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₹1.25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₹1.25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Included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Total, ex-GST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₹7.80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2E6B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₹4.55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C2293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₹3.26 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pay-card"/>
          <p:cNvSpPr/>
          <p:nvPr/>
        </p:nvSpPr>
        <p:spPr>
          <a:xfrm>
            <a:off x="8183880" y="1600200"/>
            <a:ext cx="3456432" cy="4251960"/>
          </a:xfrm>
          <a:prstGeom prst="roundRect">
            <a:avLst>
              <a:gd name="adj" fmla="val 2116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6" name="stat-value"/>
          <p:cNvSpPr txBox="1"/>
          <p:nvPr/>
        </p:nvSpPr>
        <p:spPr>
          <a:xfrm>
            <a:off x="8412480" y="1783080"/>
            <a:ext cx="30175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₹3.26 L</a:t>
            </a:r>
            <a:endParaRPr lang="en-US" sz="3000" dirty="0"/>
          </a:p>
        </p:txBody>
      </p:sp>
      <p:sp>
        <p:nvSpPr>
          <p:cNvPr id="7" name="stat-label"/>
          <p:cNvSpPr txBox="1"/>
          <p:nvPr/>
        </p:nvSpPr>
        <p:spPr>
          <a:xfrm>
            <a:off x="8412480" y="231091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Reliance Jio pays, ex-GST: ₹1,211/sq ft (₹3.55 L with GST)</a:t>
            </a:r>
            <a:endParaRPr lang="en-US" sz="1300" dirty="0"/>
          </a:p>
        </p:txBody>
      </p:sp>
      <p:sp>
        <p:nvSpPr>
          <p:cNvPr id="8" name="stat-value"/>
          <p:cNvSpPr txBox="1"/>
          <p:nvPr/>
        </p:nvSpPr>
        <p:spPr>
          <a:xfrm>
            <a:off x="8412480" y="3154680"/>
            <a:ext cx="3017520" cy="47296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000" b="1" dirty="0">
                <a:solidFill>
                  <a:schemeClr val="accent2"/>
                </a:solidFill>
              </a:rPr>
              <a:t>₹4.55 L</a:t>
            </a:r>
            <a:endParaRPr lang="en-US" sz="3000" dirty="0"/>
          </a:p>
        </p:txBody>
      </p:sp>
      <p:sp>
        <p:nvSpPr>
          <p:cNvPr id="9" name="stat-label"/>
          <p:cNvSpPr txBox="1"/>
          <p:nvPr/>
        </p:nvSpPr>
        <p:spPr>
          <a:xfrm>
            <a:off x="8412480" y="368251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GridMats contributes (58% of list): design, 50% of the PV layer, supervision, IoT study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8412480" y="470916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Defect liability: 12 months from handover, with joint inspections. PV layer price ₹1,521/sq ft (₹16,373/m²).</a:t>
            </a:r>
            <a:endParaRPr lang="en-US" sz="1200" dirty="0"/>
          </a:p>
        </p:txBody>
      </p:sp>
      <p:sp>
        <p:nvSpPr>
          <p:cNvPr id="11" name="source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Co-funding of the PV layer: 50% (pilot offer, needs MD approval). Full physical installed cost before co-funding: ₹5.30 L (₹1,971/sq ft).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Pilot economics, and what rollout looks like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The pilot is for evidence; the business case is the campus rollout at 1,000 m².</a:t>
            </a:r>
            <a:endParaRPr lang="en-US" sz="1500" dirty="0"/>
          </a:p>
        </p:txBody>
      </p:sp>
      <p:sp>
        <p:nvSpPr>
          <p:cNvPr id="4" name="pilot-econ"/>
          <p:cNvSpPr/>
          <p:nvPr/>
        </p:nvSpPr>
        <p:spPr>
          <a:xfrm>
            <a:off x="548640" y="1600200"/>
            <a:ext cx="3520440" cy="4251960"/>
          </a:xfrm>
          <a:prstGeom prst="roundRect">
            <a:avLst>
              <a:gd name="adj" fmla="val 2078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7373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PILOT</a:t>
            </a:r>
            <a:endParaRPr lang="en-US" sz="1300" dirty="0"/>
          </a:p>
        </p:txBody>
      </p:sp>
      <p:sp>
        <p:nvSpPr>
          <p:cNvPr id="6" name="stat-value"/>
          <p:cNvSpPr txBox="1"/>
          <p:nvPr/>
        </p:nvSpPr>
        <p:spPr>
          <a:xfrm>
            <a:off x="777240" y="2103120"/>
            <a:ext cx="3108960" cy="4414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</a:rPr>
              <a:t>6.9 years</a:t>
            </a:r>
            <a:endParaRPr lang="en-US" sz="2800" dirty="0"/>
          </a:p>
        </p:txBody>
      </p:sp>
      <p:sp>
        <p:nvSpPr>
          <p:cNvPr id="7" name="stat-label"/>
          <p:cNvSpPr txBox="1"/>
          <p:nvPr/>
        </p:nvSpPr>
        <p:spPr>
          <a:xfrm>
            <a:off x="777240" y="259941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payback on Reliance Jio's ₹3.26 L outlay</a:t>
            </a:r>
            <a:endParaRPr lang="en-US" sz="1300" dirty="0"/>
          </a:p>
        </p:txBody>
      </p:sp>
      <p:sp>
        <p:nvSpPr>
          <p:cNvPr id="8" name="stat-value"/>
          <p:cNvSpPr txBox="1"/>
          <p:nvPr/>
        </p:nvSpPr>
        <p:spPr>
          <a:xfrm>
            <a:off x="777240" y="3337560"/>
            <a:ext cx="3108960" cy="441434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10.7 years</a:t>
            </a:r>
            <a:endParaRPr lang="en-US" sz="2800" dirty="0"/>
          </a:p>
        </p:txBody>
      </p:sp>
      <p:sp>
        <p:nvSpPr>
          <p:cNvPr id="9" name="stat-label"/>
          <p:cNvSpPr txBox="1"/>
          <p:nvPr/>
        </p:nvSpPr>
        <p:spPr>
          <a:xfrm>
            <a:off x="777240" y="3833858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payback on the full ₹5.30 L installed cost, without co-funding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475488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Year-1 bill saving about ₹51,200 at ₹10.00/kWh.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4251960" y="1600200"/>
          <a:ext cx="480060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tat-value"/>
          <p:cNvSpPr txBox="1"/>
          <p:nvPr/>
        </p:nvSpPr>
        <p:spPr>
          <a:xfrm>
            <a:off x="9281160" y="1645920"/>
            <a:ext cx="2377440" cy="34684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₹1,860/sq ft</a:t>
            </a:r>
            <a:endParaRPr lang="en-US" sz="2200" dirty="0"/>
          </a:p>
        </p:txBody>
      </p:sp>
      <p:sp>
        <p:nvSpPr>
          <p:cNvPr id="13" name="stat-label"/>
          <p:cNvSpPr txBox="1"/>
          <p:nvPr/>
        </p:nvSpPr>
        <p:spPr>
          <a:xfrm>
            <a:off x="9281160" y="2047625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installed at rollout (₹20,020/m²)</a:t>
            </a:r>
            <a:endParaRPr lang="en-US" sz="1300" dirty="0"/>
          </a:p>
        </p:txBody>
      </p:sp>
      <p:sp>
        <p:nvSpPr>
          <p:cNvPr id="14" name="stat-value"/>
          <p:cNvSpPr txBox="1"/>
          <p:nvPr/>
        </p:nvSpPr>
        <p:spPr>
          <a:xfrm>
            <a:off x="9281160" y="2697480"/>
            <a:ext cx="2377440" cy="34684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9.6 years</a:t>
            </a:r>
            <a:endParaRPr lang="en-US" sz="2200" dirty="0"/>
          </a:p>
        </p:txBody>
      </p:sp>
      <p:sp>
        <p:nvSpPr>
          <p:cNvPr id="15" name="stat-label"/>
          <p:cNvSpPr txBox="1"/>
          <p:nvPr/>
        </p:nvSpPr>
        <p:spPr>
          <a:xfrm>
            <a:off x="9281160" y="3099185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payback, net of the walkway it replaces</a:t>
            </a:r>
            <a:endParaRPr lang="en-US" sz="1300" dirty="0"/>
          </a:p>
        </p:txBody>
      </p:sp>
      <p:sp>
        <p:nvSpPr>
          <p:cNvPr id="16" name="stat-value"/>
          <p:cNvSpPr txBox="1"/>
          <p:nvPr/>
        </p:nvSpPr>
        <p:spPr>
          <a:xfrm>
            <a:off x="9281160" y="3749040"/>
            <a:ext cx="2377440" cy="34684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</a:rPr>
              <a:t>9%</a:t>
            </a:r>
            <a:endParaRPr lang="en-US" sz="2200" dirty="0"/>
          </a:p>
        </p:txBody>
      </p:sp>
      <p:sp>
        <p:nvSpPr>
          <p:cNvPr id="17" name="stat-label"/>
          <p:cNvSpPr txBox="1"/>
          <p:nvPr/>
        </p:nvSpPr>
        <p:spPr>
          <a:xfrm>
            <a:off x="9281160" y="4150745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IRR over 20 years, pre-tax</a:t>
            </a:r>
            <a:endParaRPr lang="en-US" sz="1300" dirty="0"/>
          </a:p>
        </p:txBody>
      </p:sp>
      <p:sp>
        <p:nvSpPr>
          <p:cNvPr id="18" name="stat-value"/>
          <p:cNvSpPr txBox="1"/>
          <p:nvPr/>
        </p:nvSpPr>
        <p:spPr>
          <a:xfrm>
            <a:off x="9281160" y="4800600"/>
            <a:ext cx="2377440" cy="346841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6"/>
                </a:solidFill>
              </a:rPr>
              <a:t>₹12.46</a:t>
            </a:r>
            <a:endParaRPr lang="en-US" sz="2200" dirty="0"/>
          </a:p>
        </p:txBody>
      </p:sp>
      <p:sp>
        <p:nvSpPr>
          <p:cNvPr id="19" name="stat-label"/>
          <p:cNvSpPr txBox="1"/>
          <p:nvPr/>
        </p:nvSpPr>
        <p:spPr>
          <a:xfrm>
            <a:off x="9281160" y="5202305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per kWh, against grid power at ₹10.00</a:t>
            </a:r>
            <a:endParaRPr lang="en-US" sz="1300" dirty="0"/>
          </a:p>
        </p:txBody>
      </p:sp>
      <p:sp>
        <p:nvSpPr>
          <p:cNvPr id="20" name="source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Rollout uses the rollout PV-layer price (₹15,984/m²), the GridMats price ladder and a ₹1,200/m² credit for the paver walkway it replaces. 3% tariff escalation, 10% discount rate.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How it compares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Rooftop solar is cheaper per kWp. The walkway wins where roofs are full and a walkway is being built anyway.</a:t>
            </a:r>
            <a:endParaRPr lang="en-US" sz="15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5212080" cy="4251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035040" y="1600200"/>
          <a:ext cx="56052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960120"/>
                <a:gridCol w="1078992"/>
                <a:gridCol w="109728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 the same footprint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Walkway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293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Rooftop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Carport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Pavers + rooftop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Payback (years)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2.8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Walking surface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Shade, not a walkway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Roof or structure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Steel canopy and footings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Roof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Recycled plastic (t)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2"/>
          <p:cNvSpPr txBox="1"/>
          <p:nvPr/>
        </p:nvSpPr>
        <p:spPr>
          <a:xfrm>
            <a:off x="6035040" y="4754880"/>
            <a:ext cx="5605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Positioning: on walkways that are being built or relaid, on campuses where the roof is spoken for, and where visibility matters.</a:t>
            </a:r>
            <a:endParaRPr lang="en-US" sz="1400" dirty="0"/>
          </a:p>
        </p:txBody>
      </p:sp>
      <p:sp>
        <p:nvSpPr>
          <p:cNvPr id="7" name="source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Footprint 1,000 m². Rooftop ₹40/Wp and carport ₹61/Wp all-in (earlier GridMats ROI model benchmarks). Payback on year-1 figures, before any walkway credit.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moves the payback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Campus-rollout payback in years: power price against performance ratio. Base case: ₹10.00/kWh, 73%.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76656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987552"/>
                <a:gridCol w="987552"/>
                <a:gridCol w="987552"/>
                <a:gridCol w="987552"/>
                <a:gridCol w="987552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 / kWh  ↓   ·   PR  →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80%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</a:tr>
            </a:tbl>
          </a:graphicData>
        </a:graphic>
      </p:graphicFrame>
      <p:sp>
        <p:nvSpPr>
          <p:cNvPr id="5" name="sens-card"/>
          <p:cNvSpPr/>
          <p:nvPr/>
        </p:nvSpPr>
        <p:spPr>
          <a:xfrm>
            <a:off x="7680960" y="1600200"/>
            <a:ext cx="3959352" cy="4251960"/>
          </a:xfrm>
          <a:prstGeom prst="roundRect">
            <a:avLst>
              <a:gd name="adj" fmla="val 1848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909560" y="17373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Reading the table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909560" y="2148840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E6B3A"/>
                </a:solidFill>
              </a:rPr>
              <a:t>Green: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 years or less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B87503"/>
                </a:solidFill>
              </a:rPr>
              <a:t>Amber: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6 to 9 years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C22935"/>
                </a:solidFill>
              </a:rPr>
              <a:t>Red: </a:t>
            </a:r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above 9 years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909560" y="32461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Pilot payback on Reliance Jio's outlay vs GridMats co-funding of the PV layer</a:t>
            </a:r>
            <a:endParaRPr lang="en-US" sz="13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0" y="3886200"/>
          <a:ext cx="3520440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594360"/>
                <a:gridCol w="594360"/>
                <a:gridCol w="594360"/>
                <a:gridCol w="59436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Co-funding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Payback (yrs)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12.3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AE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7.5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4D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5.2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F1E6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7909560" y="489204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The pilot measures the performance ratio; the electricity bill sets the power price.</a:t>
            </a:r>
            <a:endParaRPr lang="en-US" sz="1200" dirty="0"/>
          </a:p>
        </p:txBody>
      </p:sp>
      <p:sp>
        <p:nvSpPr>
          <p:cNvPr id="11" name="source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Model sheet 'Sensitivity'. Simple payback on year-1 figures, net of the walkway it replaces.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Measured, not assumed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 scorecard agreed with Reliance Jio before installation and reviewed at 3 months.</a:t>
            </a:r>
            <a:endParaRPr lang="en-US" sz="1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72768"/>
          <a:ext cx="694944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017520"/>
                <a:gridCol w="8229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Weight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Energy generation vs estimate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 of the model's monthly estimate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Performance ratio achieved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PR used in the model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Pedestrian and maintenance-cart load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kN/m² uniform and 4.5 kN point load (IS 875 Part 2); no cracking or movement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Surface temperature (peak)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Within module specification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Slip resistance and walking comfort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R11 (DIN 51130) or wet pendulum PTV ≥ 36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Drainage and water ingress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ponding, no ingress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Electrical uptime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98%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Cleaning and maintenance effort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Within O&amp;M assumption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Module survival and repairability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irreparable failures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Visual finish and user acceptance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 acceptance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dash-card"/>
          <p:cNvSpPr/>
          <p:nvPr/>
        </p:nvSpPr>
        <p:spPr>
          <a:xfrm>
            <a:off x="7818120" y="1572768"/>
            <a:ext cx="3822192" cy="4297680"/>
          </a:xfrm>
          <a:prstGeom prst="roundRect">
            <a:avLst>
              <a:gd name="adj" fmla="val 1914"/>
            </a:avLst>
          </a:prstGeom>
          <a:solidFill>
            <a:schemeClr val="tx2"/>
          </a:solidFill>
          <a:ln w="9525">
            <a:solidFill>
              <a:schemeClr val="tx2"/>
            </a:solidFill>
            <a:prstDash val="solid"/>
          </a:ln>
        </p:spPr>
      </p:sp>
      <p:sp>
        <p:nvSpPr>
          <p:cNvPr id="6" name="icon-badge"/>
          <p:cNvSpPr/>
          <p:nvPr/>
        </p:nvSpPr>
        <p:spPr>
          <a:xfrm>
            <a:off x="8046720" y="1755648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pic>
        <p:nvPicPr>
          <p:cNvPr id="7" name="Image 0" descr="Microch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83880" y="1892808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732520" y="180136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Live pilot dashboard</a:t>
            </a:r>
            <a:endParaRPr lang="en-US" sz="1700" dirty="0"/>
          </a:p>
        </p:txBody>
      </p:sp>
      <p:sp>
        <p:nvSpPr>
          <p:cNvPr id="9" name="Text 5"/>
          <p:cNvSpPr txBox="1"/>
          <p:nvPr/>
        </p:nvSpPr>
        <p:spPr>
          <a:xfrm>
            <a:off x="8046720" y="2514600"/>
            <a:ext cx="34290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Energy: kWh per day and W per m²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Module temperature and ventilation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Moisture, rainfall and drainage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Uptime and fault alerts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chemeClr val="bg1"/>
                </a:solidFill>
              </a:rPr>
              <a:t>Data exportable to the campus IoT stack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8046720" y="4937760"/>
            <a:ext cx="3429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F2B33D"/>
                </a:solidFill>
              </a:rPr>
              <a:t>GridMats Pavement Monitor, extended for the Solar Walkway.</a:t>
            </a:r>
            <a:endParaRPr lang="en-US" sz="1200" dirty="0"/>
          </a:p>
        </p:txBody>
      </p:sp>
      <p:sp>
        <p:nvSpPr>
          <p:cNvPr id="11" name="source"/>
          <p:cNvSpPr txBox="1"/>
          <p:nvPr/>
        </p:nvSpPr>
        <p:spPr>
          <a:xfrm>
            <a:off x="548640" y="603504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KPIs and weights from the earlier GridMats Solar Walkway ROI model (pilot scorecard). Targets are finalised jointly before installation.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From site walk to switch-on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About six weeks to switch-on, a 3-month evaluation, then monitoring through the monsoon.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4114800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4652533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M2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5190265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M3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727998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M4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5730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M5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803463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M6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341195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M7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7878928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M8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416660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M9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54393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M10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492125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M11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029858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M12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10567590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M13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11105323" y="1600200"/>
            <a:ext cx="5377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accent4"/>
                </a:solidFill>
              </a:rPr>
              <a:t>M14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9659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Site walk, shading and generation estimate</a:t>
            </a:r>
            <a:endParaRPr lang="en-US" sz="1300" dirty="0"/>
          </a:p>
        </p:txBody>
      </p:sp>
      <p:sp>
        <p:nvSpPr>
          <p:cNvPr id="19" name="gantt"/>
          <p:cNvSpPr/>
          <p:nvPr/>
        </p:nvSpPr>
        <p:spPr>
          <a:xfrm>
            <a:off x="4114800" y="2011680"/>
            <a:ext cx="215093" cy="274320"/>
          </a:xfrm>
          <a:prstGeom prst="roundRect">
            <a:avLst>
              <a:gd name="adj" fmla="val 2550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244144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Engineering, electrical and safety approvals</a:t>
            </a:r>
            <a:endParaRPr lang="en-US" sz="1300" dirty="0"/>
          </a:p>
        </p:txBody>
      </p:sp>
      <p:sp>
        <p:nvSpPr>
          <p:cNvPr id="21" name="gantt"/>
          <p:cNvSpPr/>
          <p:nvPr/>
        </p:nvSpPr>
        <p:spPr>
          <a:xfrm>
            <a:off x="4276120" y="2487168"/>
            <a:ext cx="376413" cy="274320"/>
          </a:xfrm>
          <a:prstGeom prst="roundRect">
            <a:avLst>
              <a:gd name="adj" fmla="val 2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48640" y="2916936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Order; supply date fixed in the PO</a:t>
            </a:r>
            <a:endParaRPr lang="en-US" sz="1300" dirty="0"/>
          </a:p>
        </p:txBody>
      </p:sp>
      <p:sp>
        <p:nvSpPr>
          <p:cNvPr id="23" name="gantt"/>
          <p:cNvSpPr/>
          <p:nvPr/>
        </p:nvSpPr>
        <p:spPr>
          <a:xfrm>
            <a:off x="4598759" y="2962656"/>
            <a:ext cx="268866" cy="274320"/>
          </a:xfrm>
          <a:prstGeom prst="roundRect">
            <a:avLst>
              <a:gd name="adj" fmla="val 20406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48640" y="3392424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Install (2-3 days) and commission</a:t>
            </a:r>
            <a:endParaRPr lang="en-US" sz="1300" dirty="0"/>
          </a:p>
        </p:txBody>
      </p:sp>
      <p:sp>
        <p:nvSpPr>
          <p:cNvPr id="25" name="gantt"/>
          <p:cNvSpPr/>
          <p:nvPr/>
        </p:nvSpPr>
        <p:spPr>
          <a:xfrm>
            <a:off x="4867626" y="3438144"/>
            <a:ext cx="137160" cy="274320"/>
          </a:xfrm>
          <a:prstGeom prst="roundRect">
            <a:avLst>
              <a:gd name="adj" fmla="val 4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48640" y="3867912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Evaluation against the scorecard (3 months)</a:t>
            </a:r>
            <a:endParaRPr lang="en-US" sz="1300" dirty="0"/>
          </a:p>
        </p:txBody>
      </p:sp>
      <p:sp>
        <p:nvSpPr>
          <p:cNvPr id="27" name="gantt"/>
          <p:cNvSpPr/>
          <p:nvPr/>
        </p:nvSpPr>
        <p:spPr>
          <a:xfrm>
            <a:off x="4975172" y="3913632"/>
            <a:ext cx="1613198" cy="274320"/>
          </a:xfrm>
          <a:prstGeom prst="roundRect">
            <a:avLst>
              <a:gd name="adj" fmla="val 2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3434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Decision gate: rollout or refine</a:t>
            </a:r>
            <a:endParaRPr lang="en-US" sz="1300" dirty="0"/>
          </a:p>
        </p:txBody>
      </p:sp>
      <p:sp>
        <p:nvSpPr>
          <p:cNvPr id="29" name="gantt"/>
          <p:cNvSpPr/>
          <p:nvPr/>
        </p:nvSpPr>
        <p:spPr>
          <a:xfrm>
            <a:off x="6588370" y="4389120"/>
            <a:ext cx="137160" cy="274320"/>
          </a:xfrm>
          <a:prstGeom prst="roundRect">
            <a:avLst>
              <a:gd name="adj" fmla="val 4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48640" y="481888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Monitoring, live dashboard (12 months)</a:t>
            </a:r>
            <a:endParaRPr lang="en-US" sz="1300" dirty="0"/>
          </a:p>
        </p:txBody>
      </p:sp>
      <p:sp>
        <p:nvSpPr>
          <p:cNvPr id="31" name="gantt"/>
          <p:cNvSpPr/>
          <p:nvPr/>
        </p:nvSpPr>
        <p:spPr>
          <a:xfrm>
            <a:off x="4975172" y="4864608"/>
            <a:ext cx="6452790" cy="274320"/>
          </a:xfrm>
          <a:prstGeom prst="roundRect">
            <a:avLst>
              <a:gd name="adj" fmla="val 20000"/>
            </a:avLst>
          </a:prstGeom>
          <a:solidFill>
            <a:srgbClr val="B87503"/>
          </a:solidFill>
          <a:ln w="12700">
            <a:solidFill>
              <a:srgbClr val="B87503"/>
            </a:solidFill>
            <a:prstDash val="solid"/>
          </a:ln>
        </p:spPr>
      </p:sp>
      <p:sp>
        <p:nvSpPr>
          <p:cNvPr id="32" name="promise-card"/>
          <p:cNvSpPr/>
          <p:nvPr/>
        </p:nvSpPr>
        <p:spPr>
          <a:xfrm>
            <a:off x="548640" y="5532120"/>
            <a:ext cx="11094415" cy="457200"/>
          </a:xfrm>
          <a:prstGeom prst="roundRect">
            <a:avLst>
              <a:gd name="adj" fmla="val 16000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532120"/>
            <a:ext cx="106372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Built by teams GridMats trains, with a GridMats engineer on site for the whole installation.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From pilot to campus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Year-1 figures at each step; later phases use rollout prices for their area.</a:t>
            </a:r>
            <a:endParaRPr lang="en-US" sz="1500" dirty="0"/>
          </a:p>
        </p:txBody>
      </p:sp>
      <p:sp>
        <p:nvSpPr>
          <p:cNvPr id="4" name="phase-card"/>
          <p:cNvSpPr/>
          <p:nvPr/>
        </p:nvSpPr>
        <p:spPr>
          <a:xfrm>
            <a:off x="548640" y="1600200"/>
            <a:ext cx="2651760" cy="3657600"/>
          </a:xfrm>
          <a:prstGeom prst="roundRect">
            <a:avLst>
              <a:gd name="adj" fmla="val 2759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5" name="phase-head"/>
          <p:cNvSpPr/>
          <p:nvPr/>
        </p:nvSpPr>
        <p:spPr>
          <a:xfrm>
            <a:off x="548640" y="1600200"/>
            <a:ext cx="265176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600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Pilot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19385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25 m²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4231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4.0 kWp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731520" y="26974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rated power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9718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5.2 MWh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24612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 year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35204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₹0.5 L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37947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electricity saved a year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40690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3.7 t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731520" y="43434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CO2 avoided a year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31520" y="46177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11.4 years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731520" y="4892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payback at full pilot cost</a:t>
            </a:r>
            <a:endParaRPr lang="en-US" sz="1100" dirty="0"/>
          </a:p>
        </p:txBody>
      </p:sp>
      <p:sp>
        <p:nvSpPr>
          <p:cNvPr id="18" name="phase-card"/>
          <p:cNvSpPr/>
          <p:nvPr/>
        </p:nvSpPr>
        <p:spPr>
          <a:xfrm>
            <a:off x="3364992" y="1600200"/>
            <a:ext cx="2651760" cy="3657600"/>
          </a:xfrm>
          <a:prstGeom prst="roundRect">
            <a:avLst>
              <a:gd name="adj" fmla="val 2759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9" name="phase-head"/>
          <p:cNvSpPr/>
          <p:nvPr/>
        </p:nvSpPr>
        <p:spPr>
          <a:xfrm>
            <a:off x="3364992" y="1600200"/>
            <a:ext cx="2651760" cy="685800"/>
          </a:xfrm>
          <a:prstGeom prst="roundRect">
            <a:avLst>
              <a:gd name="adj" fmla="val 1066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547872" y="1600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Phase 2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3547872" y="19385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250 m²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3547872" y="24231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40 kWp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3547872" y="26974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rated power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3547872" y="29718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51.7 MWh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3547872" y="324612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 year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3547872" y="35204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₹5.2 L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3547872" y="37947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electricity saved a year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3547872" y="40690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36.7 t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3547872" y="43434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CO2 avoided a year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3547872" y="46177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6"/>
                </a:solidFill>
              </a:rPr>
              <a:t>10.8 years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3547872" y="4892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payback, net of walkway credit</a:t>
            </a:r>
            <a:endParaRPr lang="en-US" sz="1100" dirty="0"/>
          </a:p>
        </p:txBody>
      </p:sp>
      <p:sp>
        <p:nvSpPr>
          <p:cNvPr id="32" name="phase-card"/>
          <p:cNvSpPr/>
          <p:nvPr/>
        </p:nvSpPr>
        <p:spPr>
          <a:xfrm>
            <a:off x="6181344" y="1600200"/>
            <a:ext cx="2651760" cy="3657600"/>
          </a:xfrm>
          <a:prstGeom prst="roundRect">
            <a:avLst>
              <a:gd name="adj" fmla="val 2759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33" name="phase-head"/>
          <p:cNvSpPr/>
          <p:nvPr/>
        </p:nvSpPr>
        <p:spPr>
          <a:xfrm>
            <a:off x="6181344" y="1600200"/>
            <a:ext cx="265176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6364224" y="1600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Campus</a:t>
            </a:r>
            <a:endParaRPr lang="en-US" sz="1500" dirty="0"/>
          </a:p>
        </p:txBody>
      </p:sp>
      <p:sp>
        <p:nvSpPr>
          <p:cNvPr id="35" name="Text 33"/>
          <p:cNvSpPr txBox="1"/>
          <p:nvPr/>
        </p:nvSpPr>
        <p:spPr>
          <a:xfrm>
            <a:off x="6364224" y="19385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1,000 m²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6364224" y="24231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160 kWp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6364224" y="26974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rated power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6364224" y="29718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207 MWh</a:t>
            </a:r>
            <a:endParaRPr lang="en-US" sz="1600" dirty="0"/>
          </a:p>
        </p:txBody>
      </p:sp>
      <p:sp>
        <p:nvSpPr>
          <p:cNvPr id="39" name="Text 37"/>
          <p:cNvSpPr txBox="1"/>
          <p:nvPr/>
        </p:nvSpPr>
        <p:spPr>
          <a:xfrm>
            <a:off x="6364224" y="324612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 year</a:t>
            </a:r>
            <a:endParaRPr lang="en-US" sz="1100" dirty="0"/>
          </a:p>
        </p:txBody>
      </p:sp>
      <p:sp>
        <p:nvSpPr>
          <p:cNvPr id="40" name="Text 38"/>
          <p:cNvSpPr txBox="1"/>
          <p:nvPr/>
        </p:nvSpPr>
        <p:spPr>
          <a:xfrm>
            <a:off x="6364224" y="35204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₹20.7 L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6364224" y="37947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electricity saved a year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364224" y="40690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146.9 t</a:t>
            </a:r>
            <a:endParaRPr lang="en-US" sz="1600" dirty="0"/>
          </a:p>
        </p:txBody>
      </p:sp>
      <p:sp>
        <p:nvSpPr>
          <p:cNvPr id="43" name="Text 41"/>
          <p:cNvSpPr txBox="1"/>
          <p:nvPr/>
        </p:nvSpPr>
        <p:spPr>
          <a:xfrm>
            <a:off x="6364224" y="43434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CO2 avoided a year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6364224" y="46177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10.6 years</a:t>
            </a:r>
            <a:endParaRPr lang="en-US" sz="1600" dirty="0"/>
          </a:p>
        </p:txBody>
      </p:sp>
      <p:sp>
        <p:nvSpPr>
          <p:cNvPr id="45" name="Text 43"/>
          <p:cNvSpPr txBox="1"/>
          <p:nvPr/>
        </p:nvSpPr>
        <p:spPr>
          <a:xfrm>
            <a:off x="6364224" y="4892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payback, net of walkway credit</a:t>
            </a:r>
            <a:endParaRPr lang="en-US" sz="1100" dirty="0"/>
          </a:p>
        </p:txBody>
      </p:sp>
      <p:sp>
        <p:nvSpPr>
          <p:cNvPr id="46" name="phase-card"/>
          <p:cNvSpPr/>
          <p:nvPr/>
        </p:nvSpPr>
        <p:spPr>
          <a:xfrm>
            <a:off x="8997696" y="1600200"/>
            <a:ext cx="2651760" cy="3657600"/>
          </a:xfrm>
          <a:prstGeom prst="roundRect">
            <a:avLst>
              <a:gd name="adj" fmla="val 2759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47" name="phase-head"/>
          <p:cNvSpPr/>
          <p:nvPr/>
        </p:nvSpPr>
        <p:spPr>
          <a:xfrm>
            <a:off x="8997696" y="1600200"/>
            <a:ext cx="2651760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180576" y="16002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Portfolio</a:t>
            </a:r>
            <a:endParaRPr lang="en-US" sz="1500" dirty="0"/>
          </a:p>
        </p:txBody>
      </p:sp>
      <p:sp>
        <p:nvSpPr>
          <p:cNvPr id="49" name="Text 47"/>
          <p:cNvSpPr txBox="1"/>
          <p:nvPr/>
        </p:nvSpPr>
        <p:spPr>
          <a:xfrm>
            <a:off x="9180576" y="1938528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5,000 m²</a:t>
            </a:r>
            <a:endParaRPr lang="en-US" sz="1200" dirty="0"/>
          </a:p>
        </p:txBody>
      </p:sp>
      <p:sp>
        <p:nvSpPr>
          <p:cNvPr id="50" name="Text 48"/>
          <p:cNvSpPr txBox="1"/>
          <p:nvPr/>
        </p:nvSpPr>
        <p:spPr>
          <a:xfrm>
            <a:off x="9180576" y="242316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800 kWp</a:t>
            </a:r>
            <a:endParaRPr lang="en-US" sz="1600" dirty="0"/>
          </a:p>
        </p:txBody>
      </p:sp>
      <p:sp>
        <p:nvSpPr>
          <p:cNvPr id="51" name="Text 49"/>
          <p:cNvSpPr txBox="1"/>
          <p:nvPr/>
        </p:nvSpPr>
        <p:spPr>
          <a:xfrm>
            <a:off x="9180576" y="269748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rated power</a:t>
            </a:r>
            <a:endParaRPr lang="en-US" sz="1100" dirty="0"/>
          </a:p>
        </p:txBody>
      </p:sp>
      <p:sp>
        <p:nvSpPr>
          <p:cNvPr id="52" name="Text 50"/>
          <p:cNvSpPr txBox="1"/>
          <p:nvPr/>
        </p:nvSpPr>
        <p:spPr>
          <a:xfrm>
            <a:off x="9180576" y="297180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1,034 MWh</a:t>
            </a:r>
            <a:endParaRPr lang="en-US" sz="1600" dirty="0"/>
          </a:p>
        </p:txBody>
      </p:sp>
      <p:sp>
        <p:nvSpPr>
          <p:cNvPr id="53" name="Text 51"/>
          <p:cNvSpPr txBox="1"/>
          <p:nvPr/>
        </p:nvSpPr>
        <p:spPr>
          <a:xfrm>
            <a:off x="9180576" y="324612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a year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9180576" y="352044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₹103.4 L</a:t>
            </a:r>
            <a:endParaRPr lang="en-US" sz="1600" dirty="0"/>
          </a:p>
        </p:txBody>
      </p:sp>
      <p:sp>
        <p:nvSpPr>
          <p:cNvPr id="55" name="Text 53"/>
          <p:cNvSpPr txBox="1"/>
          <p:nvPr/>
        </p:nvSpPr>
        <p:spPr>
          <a:xfrm>
            <a:off x="9180576" y="379476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electricity saved a year</a:t>
            </a:r>
            <a:endParaRPr lang="en-US" sz="1100" dirty="0"/>
          </a:p>
        </p:txBody>
      </p:sp>
      <p:sp>
        <p:nvSpPr>
          <p:cNvPr id="56" name="Text 54"/>
          <p:cNvSpPr txBox="1"/>
          <p:nvPr/>
        </p:nvSpPr>
        <p:spPr>
          <a:xfrm>
            <a:off x="9180576" y="40690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734.3 t</a:t>
            </a:r>
            <a:endParaRPr lang="en-US" sz="1600" dirty="0"/>
          </a:p>
        </p:txBody>
      </p:sp>
      <p:sp>
        <p:nvSpPr>
          <p:cNvPr id="57" name="Text 55"/>
          <p:cNvSpPr txBox="1"/>
          <p:nvPr/>
        </p:nvSpPr>
        <p:spPr>
          <a:xfrm>
            <a:off x="9180576" y="434340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CO2 avoided a year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9180576" y="461772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10.6 years</a:t>
            </a:r>
            <a:endParaRPr lang="en-US" sz="1600" dirty="0"/>
          </a:p>
        </p:txBody>
      </p:sp>
      <p:sp>
        <p:nvSpPr>
          <p:cNvPr id="59" name="Text 57"/>
          <p:cNvSpPr txBox="1"/>
          <p:nvPr/>
        </p:nvSpPr>
        <p:spPr>
          <a:xfrm>
            <a:off x="9180576" y="4892040"/>
            <a:ext cx="2286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payback, net of walkway credit</a:t>
            </a:r>
            <a:endParaRPr lang="en-US" sz="1100" dirty="0"/>
          </a:p>
        </p:txBody>
      </p:sp>
      <p:sp>
        <p:nvSpPr>
          <p:cNvPr id="60" name="source"/>
          <p:cNvSpPr txBox="1"/>
          <p:nvPr/>
        </p:nvSpPr>
        <p:spPr>
          <a:xfrm>
            <a:off x="548640" y="544068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Portfolio: Jio offices and EV-charging walkways (illustrative). Phase areas are editable on the model's 'Client' sheet.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Built on the GridMats platform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The structural platform is proven in roads and surfaces; the Solar Walkway is the next product on it.</a:t>
            </a:r>
            <a:endParaRPr lang="en-US" sz="1500" dirty="0"/>
          </a:p>
        </p:txBody>
      </p:sp>
      <p:sp>
        <p:nvSpPr>
          <p:cNvPr id="4" name="cred-card"/>
          <p:cNvSpPr/>
          <p:nvPr/>
        </p:nvSpPr>
        <p:spPr>
          <a:xfrm>
            <a:off x="548640" y="1600200"/>
            <a:ext cx="210312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7647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32 sites, 65,081 m²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240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built across 12 states</a:t>
            </a:r>
            <a:endParaRPr lang="en-US" sz="1200" dirty="0"/>
          </a:p>
        </p:txBody>
      </p:sp>
      <p:sp>
        <p:nvSpPr>
          <p:cNvPr id="7" name="cred-card"/>
          <p:cNvSpPr/>
          <p:nvPr/>
        </p:nvSpPr>
        <p:spPr>
          <a:xfrm>
            <a:off x="2788920" y="1600200"/>
            <a:ext cx="210312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926080" y="17647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 million+ sq ft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2240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of GridMats supplied</a:t>
            </a:r>
            <a:endParaRPr lang="en-US" sz="1200" dirty="0"/>
          </a:p>
        </p:txBody>
      </p:sp>
      <p:sp>
        <p:nvSpPr>
          <p:cNvPr id="10" name="cred-card"/>
          <p:cNvSpPr/>
          <p:nvPr/>
        </p:nvSpPr>
        <p:spPr>
          <a:xfrm>
            <a:off x="5029200" y="1600200"/>
            <a:ext cx="210312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166360" y="17647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Indian Patent 398992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166360" y="22402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patented 3D recycled-polymer grid</a:t>
            </a:r>
            <a:endParaRPr lang="en-US" sz="1200" dirty="0"/>
          </a:p>
        </p:txBody>
      </p:sp>
      <p:sp>
        <p:nvSpPr>
          <p:cNvPr id="13" name="cred-card"/>
          <p:cNvSpPr/>
          <p:nvPr/>
        </p:nvSpPr>
        <p:spPr>
          <a:xfrm>
            <a:off x="548640" y="2926080"/>
            <a:ext cx="210312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85800" y="3090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CII GreenPro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certified green product</a:t>
            </a:r>
            <a:endParaRPr lang="en-US" sz="1200" dirty="0"/>
          </a:p>
        </p:txBody>
      </p:sp>
      <p:sp>
        <p:nvSpPr>
          <p:cNvPr id="16" name="cred-card"/>
          <p:cNvSpPr/>
          <p:nvPr/>
        </p:nvSpPr>
        <p:spPr>
          <a:xfrm>
            <a:off x="2788920" y="2926080"/>
            <a:ext cx="210312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2926080" y="3090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IISc · IIT Hyderabad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2926080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R&amp;D and pavement testing partners</a:t>
            </a:r>
            <a:endParaRPr lang="en-US" sz="1200" dirty="0"/>
          </a:p>
        </p:txBody>
      </p:sp>
      <p:sp>
        <p:nvSpPr>
          <p:cNvPr id="19" name="cred-card"/>
          <p:cNvSpPr/>
          <p:nvPr/>
        </p:nvSpPr>
        <p:spPr>
          <a:xfrm>
            <a:off x="5029200" y="2926080"/>
            <a:ext cx="2103120" cy="1188720"/>
          </a:xfrm>
          <a:prstGeom prst="roundRect">
            <a:avLst>
              <a:gd name="adj" fmla="val 6154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166360" y="309067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100% recycled PP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166360" y="35661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post-consumer polypropylene base</a:t>
            </a:r>
            <a:endParaRPr lang="en-US" sz="1200" dirty="0"/>
          </a:p>
        </p:txBody>
      </p:sp>
      <p:pic>
        <p:nvPicPr>
          <p:cNvPr id="22" name="Image 0" descr="Existing GridMats custom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343400"/>
            <a:ext cx="6583680" cy="1655064"/>
          </a:xfrm>
          <a:prstGeom prst="rect">
            <a:avLst/>
          </a:prstGeom>
        </p:spPr>
      </p:pic>
      <p:sp>
        <p:nvSpPr>
          <p:cNvPr id="23" name="founder-card"/>
          <p:cNvSpPr/>
          <p:nvPr/>
        </p:nvSpPr>
        <p:spPr>
          <a:xfrm>
            <a:off x="7452360" y="1600200"/>
            <a:ext cx="4187952" cy="4398264"/>
          </a:xfrm>
          <a:prstGeom prst="roundRect">
            <a:avLst>
              <a:gd name="adj" fmla="val 1747"/>
            </a:avLst>
          </a:prstGeom>
          <a:solidFill>
            <a:schemeClr val="bg1"/>
          </a:solidFill>
          <a:ln w="9525">
            <a:solidFill>
              <a:srgbClr val="E3E3E3"/>
            </a:solidFill>
            <a:prstDash val="solid"/>
          </a:ln>
        </p:spPr>
      </p:sp>
      <p:pic>
        <p:nvPicPr>
          <p:cNvPr id="24" name="Image 1" descr="Dr. Prathap Bhimasena Rao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680960" y="1783080"/>
            <a:ext cx="1463040" cy="201168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9281160" y="1828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Dr. Prathap Bhimasena Rao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9281160" y="2377440"/>
            <a:ext cx="2240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</a:rPr>
              <a:t>Founder &amp; Managing Director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680960" y="397764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2"/>
                </a:solidFill>
              </a:rPr>
              <a:t>26 years in leadership and innovation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2"/>
                </a:solidFill>
              </a:rPr>
              <a:t>Ex-Indian Air Force; Global VP, Hewlett-Packard (2010-11)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chemeClr val="tx2"/>
                </a:solidFill>
              </a:rPr>
              <a:t>Two PhDs in management science</a:t>
            </a:r>
            <a:endParaRPr lang="en-US" sz="1200" dirty="0"/>
          </a:p>
        </p:txBody>
      </p:sp>
      <p:sp>
        <p:nvSpPr>
          <p:cNvPr id="28" name="source"/>
          <p:cNvSpPr txBox="1"/>
          <p:nvPr/>
        </p:nvSpPr>
        <p:spPr>
          <a:xfrm>
            <a:off x="548640" y="608076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Figures and customers relate to existing (non-solar) GridMats road and surface applications. The Solar Walkway is pre-commercial.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411480"/>
            <a:ext cx="9144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Let's walk the site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143000"/>
            <a:ext cx="9144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bg2"/>
                </a:solidFill>
              </a:rPr>
              <a:t>What GridMats needs from Reliance Jio, and the four steps to a measured result.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745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2B33D"/>
                </a:solidFill>
              </a:rPr>
              <a:t>FROM RELIANCE JIO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28600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 sunny 12-14 m stretch of walkway, about 2 m wide, with little shade from 9 am to 4 pm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 low-voltage connection point within about 30 m (distribution board or lighting panel)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Permission for a 2-3 day installation window and a safety induction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 soaked CBR test of the subgrade at the pilot stretch (done at the site walk, one test per 25 m²)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A Jio facilities contact for monthly readings and the 3-month review</a:t>
            </a:r>
            <a:endParaRPr lang="en-US" sz="1400" dirty="0"/>
          </a:p>
        </p:txBody>
      </p:sp>
      <p:sp>
        <p:nvSpPr>
          <p:cNvPr id="6" name="badge"/>
          <p:cNvSpPr/>
          <p:nvPr/>
        </p:nvSpPr>
        <p:spPr>
          <a:xfrm>
            <a:off x="6309360" y="187452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309360" y="1874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6995160" y="185623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Site walk and opportunity assessment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995160" y="216712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Shade, footfall, drainage and the electrical connection.</a:t>
            </a:r>
            <a:endParaRPr lang="en-US" sz="1300" dirty="0"/>
          </a:p>
        </p:txBody>
      </p:sp>
      <p:sp>
        <p:nvSpPr>
          <p:cNvPr id="10" name="badge"/>
          <p:cNvSpPr/>
          <p:nvPr/>
        </p:nvSpPr>
        <p:spPr>
          <a:xfrm>
            <a:off x="6309360" y="283464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0936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995160" y="281635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Concept layout and generation estimate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995160" y="312724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Module layout, monthly kWh, final price.</a:t>
            </a:r>
            <a:endParaRPr lang="en-US" sz="1300" dirty="0"/>
          </a:p>
        </p:txBody>
      </p:sp>
      <p:sp>
        <p:nvSpPr>
          <p:cNvPr id="14" name="badge"/>
          <p:cNvSpPr/>
          <p:nvPr/>
        </p:nvSpPr>
        <p:spPr>
          <a:xfrm>
            <a:off x="6309360" y="379476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09360" y="3794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377647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Pilot engineering and order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995160" y="408736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Electrical, safety and monitoring details; PO with the supply date.</a:t>
            </a:r>
            <a:endParaRPr lang="en-US" sz="1300" dirty="0"/>
          </a:p>
        </p:txBody>
      </p:sp>
      <p:sp>
        <p:nvSpPr>
          <p:cNvPr id="18" name="badge"/>
          <p:cNvSpPr/>
          <p:nvPr/>
        </p:nvSpPr>
        <p:spPr>
          <a:xfrm>
            <a:off x="6309360" y="4754880"/>
            <a:ext cx="502920" cy="50292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09360" y="4754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995160" y="4736592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Install, measure, decide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995160" y="5047488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bg2"/>
                </a:solidFill>
              </a:rPr>
              <a:t>2-3 days on site; 3-month scorecard review.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9893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Dr. Prathap Bhimasena Rao  ·  prathap@gridmats.com  ·  sales@gridmats.com  ·  +91 63626 46287  ·  www.gridmats.com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bg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92608"/>
            <a:ext cx="94183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Key assumptions and sources</a:t>
            </a:r>
            <a:endParaRPr lang="en-US" sz="32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50976"/>
            <a:ext cx="9418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4"/>
                </a:solidFill>
              </a:rPr>
              <a:t>Every value is an input in the companion model; change it there and rebuild the deck.</a:t>
            </a:r>
            <a:endParaRPr lang="en-US" sz="15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36192"/>
          <a:ext cx="1109441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4023360"/>
                <a:gridCol w="4325112"/>
              </a:tblGrid>
              <a:tr h="39319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Assumption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Value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22935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Source / basis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A22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Design basis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 W module · 4 per m² · 160 W/m²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Flier (6 Oct 2026); Client/Partner Deck v2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Sunshine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Mumbai: 1,860 kWh/m²/yr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Typical year; replace with site data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Cell technology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TOPCon (n-type): -0.29%/°C; 1% then 0.6%/yr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 datasheets; walk-on wear +0.2%/yr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Performance ratio; shading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73% (seven losses); 5%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Loss stack on 'Product &amp; Costs'; site assessment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Power price; escalation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₹10.00/kWh; 3%/yr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MSEDCL HT-II, MERC order 25 Mar 2026; confirm from bill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PV layer price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₹1,521/sq ft pilot; ₹1,485/sq ft rollout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GridMats pilot and volume pricing, Oct 2026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Ground, base, electrical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Prep ₹34/sq ft (100 mm WMM); OC-LW 40 ₹64/sq ft; electrical ₹6.7/Wp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Site soil CBR 5% (confirm by test); price ladder Sep 2026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O&amp;M; life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1.5% of capex/yr; 20 years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Earlier ROI model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Rooftop; carport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₹40/Wp; ₹61/Wp all-in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Earlier ROI model benchmarks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GST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8.9% composite (5% goods, 18% services)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Notification 9/2025, from 22 Sep 2025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ource"/>
          <p:cNvSpPr txBox="1"/>
          <p:nvPr/>
        </p:nvSpPr>
        <p:spPr>
          <a:xfrm>
            <a:off x="548640" y="5989320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4"/>
                </a:solidFill>
              </a:rPr>
              <a:t>Walkway power is the 160 W/m² design basis (Oct 2026). Prices are GridMats pilot prices, ex-GST. Performance ratio 73% from a seven-loss stack, not a flat figure.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411480" cy="256032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idMats Solar">
  <a:themeElements>
    <a:clrScheme name="GridMats Solar">
      <a:dk1>
        <a:srgbClr val="1A1A1A"/>
      </a:dk1>
      <a:lt1>
        <a:srgbClr val="FFFFFF"/>
      </a:lt1>
      <a:dk2>
        <a:srgbClr val="111A22"/>
      </a:dk2>
      <a:lt2>
        <a:srgbClr val="F6F6F4"/>
      </a:lt2>
      <a:accent1>
        <a:srgbClr val="C22935"/>
      </a:accent1>
      <a:accent2>
        <a:srgbClr val="2E6B3A"/>
      </a:accent2>
      <a:accent3>
        <a:srgbClr val="B87503"/>
      </a:accent3>
      <a:accent4>
        <a:srgbClr val="6F6F6F"/>
      </a:accent4>
      <a:accent5>
        <a:srgbClr val="FBEAEC"/>
      </a:accent5>
      <a:accent6>
        <a:srgbClr val="0E2E4F"/>
      </a:accent6>
      <a:hlink>
        <a:srgbClr val="C22935"/>
      </a:hlink>
      <a:folHlink>
        <a:srgbClr val="A11F2A"/>
      </a:folHlink>
    </a:clrScheme>
    <a:fontScheme name="GridMats Sola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GridMats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GridMats Solar Walkway: pilot proposal for Reliance Jio</dc:title>
  <dc:subject>GridMats Solar Walkway pilot and rollout proposal</dc:subject>
  <dc:creator>GridMats (GroundReality Enterprises Pvt Ltd)</dc:creator>
  <cp:lastModifiedBy>GridMats (GroundReality Enterprises Pvt Ltd)</cp:lastModifiedBy>
  <cp:revision>1</cp:revision>
  <dcterms:created xsi:type="dcterms:W3CDTF">2026-10-07T10:28:58Z</dcterms:created>
  <dcterms:modified xsi:type="dcterms:W3CDTF">2026-10-07T10:28:58Z</dcterms:modified>
</cp:coreProperties>
</file>