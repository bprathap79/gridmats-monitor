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ecf2e75-eed0-25d4-2a1c-710e22c0ca0e}">
          <p14:sldIdLst>
            <p14:sldId id="256"/>
            <p14:sldId id="257"/>
          </p14:sldIdLst>
        </p14:section>
        <p14:section name="Why now" id="{51ed5121-3993-2bf4-af0a-6858695772a7}">
          <p14:sldIdLst>
            <p14:sldId id="258"/>
          </p14:sldIdLst>
        </p14:section>
        <p14:section name="Proof" id="{ea2bdde7-a6bd-b347-cb3e-149a27460618}">
          <p14:sldIdLst>
            <p14:sldId id="259"/>
            <p14:sldId id="260"/>
          </p14:sldIdLst>
        </p14:section>
        <p14:section name="Solution" id="{a55c3b31-e567-4631-790c-a0699db072f2}">
          <p14:sldIdLst>
            <p14:sldId id="261"/>
            <p14:sldId id="262"/>
            <p14:sldId id="263"/>
          </p14:sldIdLst>
        </p14:section>
        <p14:section name="Economics" id="{7d6f124e-bf78-ece9-df03-917525361128}">
          <p14:sldIdLst>
            <p14:sldId id="264"/>
            <p14:sldId id="265"/>
            <p14:sldId id="266"/>
            <p14:sldId id="267"/>
            <p14:sldId id="268"/>
            <p14:sldId id="269"/>
            <p14:sldId id="270"/>
          </p14:sldIdLst>
        </p14:section>
        <p14:section name="Pilot" id="{f5df2927-42f4-2906-608e-cc0f215d9c4b}">
          <p14:sldIdLst>
            <p14:sldId id="271"/>
            <p14:sldId id="272"/>
            <p14:sldId id="273"/>
            <p14:sldId id="274"/>
          </p14:sldIdLst>
        </p14:section>
        <p14:section name="Close" id="{79c2f18d-3aa5-f371-7bfc-84ae9837d697}">
          <p14:sldIdLst>
            <p14:sldId id="275"/>
          </p14:sldIdLst>
        </p14:section>
        <p14:section name="Appendix" id="{d6c6e8d7-2954-dfa2-615e-f9278b21b264}">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1A"/>
                </a:solidFill>
                <a:latin typeface="+mn-lt"/>
              </a:defRPr>
            </a:pPr>
            <a:r>
              <a:rPr sz="1400" b="0" i="0" u="none" strike="noStrike">
                <a:solidFill>
                  <a:srgbClr val="1A1A1A"/>
                </a:solidFill>
                <a:latin typeface="+mn-lt"/>
              </a:rPr>
              <a:t>O&amp;M tracks (₹ per m²)</a:t>
            </a:r>
          </a:p>
        </c:rich>
      </c:tx>
      <c:layout/>
      <c:overlay val="0"/>
    </c:title>
    <c:autoTitleDeleted val="0"/>
    <c:plotArea>
      <c:layout/>
      <c:barChart>
        <c:barDir val="col"/>
        <c:grouping val="clustered"/>
        <c:varyColors val="0"/>
        <c:ser>
          <c:idx val="0"/>
          <c:order val="0"/>
          <c:tx>
            <c:strRef>
              <c:f>Sheet1!$B$1</c:f>
              <c:strCache>
                <c:ptCount val="1"/>
                <c:pt idx="0">
                  <c:v>Build cost</c:v>
                </c:pt>
              </c:strCache>
            </c:strRef>
          </c:tx>
          <c:spPr>
            <a:solidFill>
              <a:srgbClr val="9A9A9A"/>
            </a:solidFill>
            <a:effectLst/>
          </c:spPr>
          <c:invertIfNegative val="0"/>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Sheet1!$A$2:$A$3</c:f>
              <c:multiLvlStrCache>
                <c:ptCount val="2"/>
                <c:lvl>
                  <c:pt idx="0">
                    <c:v>WBM / gravel</c:v>
                  </c:pt>
                  <c:pt idx="1">
                    <c:v>GridMats S2</c:v>
                  </c:pt>
                </c:lvl>
              </c:multiLvlStrCache>
            </c:multiLvlStrRef>
          </c:cat>
          <c:val>
            <c:numRef>
              <c:f>Sheet1!$B$2:$B$3</c:f>
              <c:numCache>
                <c:formatCode>General</c:formatCode>
                <c:ptCount val="2"/>
                <c:pt idx="0">
                  <c:v>600</c:v>
                </c:pt>
                <c:pt idx="1">
                  <c:v>1681.5</c:v>
                </c:pt>
              </c:numCache>
            </c:numRef>
          </c:val>
        </c:ser>
        <c:ser>
          <c:idx val="1"/>
          <c:order val="1"/>
          <c:tx>
            <c:strRef>
              <c:f>Sheet1!$C$1</c:f>
              <c:strCache>
                <c:ptCount val="1"/>
                <c:pt idx="0">
                  <c:v>25-year life-cycle cost (PV)</c:v>
                </c:pt>
              </c:strCache>
            </c:strRef>
          </c:tx>
          <c:spPr>
            <a:solidFill>
              <a:srgbClr val="C22935"/>
            </a:solidFill>
            <a:effectLst/>
          </c:spPr>
          <c:invertIfNegative val="0"/>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Sheet1!$A$2:$A$3</c:f>
              <c:multiLvlStrCache>
                <c:ptCount val="2"/>
                <c:lvl>
                  <c:pt idx="0">
                    <c:v>WBM / gravel</c:v>
                  </c:pt>
                  <c:pt idx="1">
                    <c:v>GridMats S2</c:v>
                  </c:pt>
                </c:lvl>
              </c:multiLvlStrCache>
            </c:multiLvlStrRef>
          </c:cat>
          <c:val>
            <c:numRef>
              <c:f>Sheet1!$C$2:$C$3</c:f>
              <c:numCache>
                <c:formatCode>General</c:formatCode>
                <c:ptCount val="2"/>
                <c:pt idx="0">
                  <c:v>2139.52551542231</c:v>
                </c:pt>
                <c:pt idx="1">
                  <c:v>2002.02950345818</c:v>
                </c:pt>
              </c:numCache>
            </c:numRef>
          </c:val>
        </c:ser>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A9A9A"/>
            </a:solidFill>
            <a:prstDash val="solid"/>
            <a:round/>
          </a:ln>
        </c:spPr>
        <c:txPr>
          <a:bodyPr/>
          <a:lstStyle/>
          <a:p>
            <a:pPr>
              <a:defRPr sz="1200" b="0" i="0" u="none" strike="noStrike">
                <a:solidFill>
                  <a:srgbClr val="3F3F3F"/>
                </a:solidFill>
                <a:latin typeface="+mn-lt"/>
              </a:defRPr>
            </a:pPr>
            <a:endParaRPr lang="en-US"/>
          </a:p>
        </c:txPr>
        <c:crossAx val="2094734552"/>
        <c:crosses val="autoZero"/>
        <c:auto val="1"/>
        <c:lblAlgn val="ctr"/>
        <c:noMultiLvlLbl val="1"/>
      </c:catAx>
      <c:valAx>
        <c:axId val="2094734552"/>
        <c:scaling>
          <c:orientation val="minMax"/>
          <c:max val="400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F6F6F"/>
                </a:solidFill>
                <a:latin typeface="+mn-lt"/>
              </a:defRPr>
            </a:pPr>
            <a:endParaRPr lang="en-US"/>
          </a:p>
        </c:txPr>
        <c:crossAx val="2094734554"/>
        <c:crosses val="autoZero"/>
        <c:crossBetween val="between"/>
        <c:majorUnit val="1000"/>
      </c:valAx>
      <c:spPr>
        <a:noFill/>
        <a:ln>
          <a:noFill/>
        </a:ln>
        <a:effectLst/>
      </c:spPr>
    </c:plotArea>
    <c:legend>
      <c:legendPos val="b"/>
      <c:overlay val="0"/>
      <c:txPr>
        <a:bodyPr/>
        <a:lstStyle/>
        <a:p>
          <a:pPr>
            <a:defRPr sz="1100">
              <a:solidFill>
                <a:srgbClr val="3F3F3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1A"/>
                </a:solidFill>
                <a:latin typeface="+mn-lt"/>
              </a:defRPr>
            </a:pPr>
            <a:r>
              <a:rPr sz="1400" b="0" i="0" u="none" strike="noStrike">
                <a:solidFill>
                  <a:srgbClr val="1A1A1A"/>
                </a:solidFill>
                <a:latin typeface="+mn-lt"/>
              </a:rPr>
              <a:t>Main roads (₹ per m²)</a:t>
            </a:r>
          </a:p>
        </c:rich>
      </c:tx>
      <c:layout/>
      <c:overlay val="0"/>
    </c:title>
    <c:autoTitleDeleted val="0"/>
    <c:plotArea>
      <c:layout/>
      <c:barChart>
        <c:barDir val="col"/>
        <c:grouping val="clustered"/>
        <c:varyColors val="0"/>
        <c:ser>
          <c:idx val="0"/>
          <c:order val="0"/>
          <c:tx>
            <c:strRef>
              <c:f>Sheet1!$B$1</c:f>
              <c:strCache>
                <c:ptCount val="1"/>
                <c:pt idx="0">
                  <c:v>Build cost</c:v>
                </c:pt>
              </c:strCache>
            </c:strRef>
          </c:tx>
          <c:spPr>
            <a:solidFill>
              <a:srgbClr val="9A9A9A"/>
            </a:solidFill>
            <a:effectLst/>
          </c:spPr>
          <c:invertIfNegative val="0"/>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Bituminous</c:v>
                  </c:pt>
                  <c:pt idx="1">
                    <c:v>GridMats S1</c:v>
                  </c:pt>
                  <c:pt idx="2">
                    <c:v>Concrete</c:v>
                  </c:pt>
                </c:lvl>
              </c:multiLvlStrCache>
            </c:multiLvlStrRef>
          </c:cat>
          <c:val>
            <c:numRef>
              <c:f>Sheet1!$B$2:$B$4</c:f>
              <c:numCache>
                <c:formatCode>General</c:formatCode>
                <c:ptCount val="3"/>
                <c:pt idx="0">
                  <c:v>2000</c:v>
                </c:pt>
                <c:pt idx="1">
                  <c:v>2029.2</c:v>
                </c:pt>
                <c:pt idx="2">
                  <c:v>3200</c:v>
                </c:pt>
              </c:numCache>
            </c:numRef>
          </c:val>
        </c:ser>
        <c:ser>
          <c:idx val="1"/>
          <c:order val="1"/>
          <c:tx>
            <c:strRef>
              <c:f>Sheet1!$C$1</c:f>
              <c:strCache>
                <c:ptCount val="1"/>
                <c:pt idx="0">
                  <c:v>25-year life-cycle cost (PV)</c:v>
                </c:pt>
              </c:strCache>
            </c:strRef>
          </c:tx>
          <c:spPr>
            <a:solidFill>
              <a:srgbClr val="C22935"/>
            </a:solidFill>
            <a:effectLst/>
          </c:spPr>
          <c:invertIfNegative val="0"/>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Bituminous</c:v>
                  </c:pt>
                  <c:pt idx="1">
                    <c:v>GridMats S1</c:v>
                  </c:pt>
                  <c:pt idx="2">
                    <c:v>Concrete</c:v>
                  </c:pt>
                </c:lvl>
              </c:multiLvlStrCache>
            </c:multiLvlStrRef>
          </c:cat>
          <c:val>
            <c:numRef>
              <c:f>Sheet1!$C$2:$C$4</c:f>
              <c:numCache>
                <c:formatCode>General</c:formatCode>
                <c:ptCount val="3"/>
                <c:pt idx="0">
                  <c:v>3329.37978256314</c:v>
                </c:pt>
                <c:pt idx="1">
                  <c:v>2329.03363733347</c:v>
                </c:pt>
                <c:pt idx="2">
                  <c:v>3497.72590646445</c:v>
                </c:pt>
              </c:numCache>
            </c:numRef>
          </c:val>
        </c:ser>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A9A9A"/>
            </a:solidFill>
            <a:prstDash val="solid"/>
            <a:round/>
          </a:ln>
        </c:spPr>
        <c:txPr>
          <a:bodyPr/>
          <a:lstStyle/>
          <a:p>
            <a:pPr>
              <a:defRPr sz="1200" b="0" i="0" u="none" strike="noStrike">
                <a:solidFill>
                  <a:srgbClr val="3F3F3F"/>
                </a:solidFill>
                <a:latin typeface="+mn-lt"/>
              </a:defRPr>
            </a:pPr>
            <a:endParaRPr lang="en-US"/>
          </a:p>
        </c:txPr>
        <c:crossAx val="2094734552"/>
        <c:crosses val="autoZero"/>
        <c:auto val="1"/>
        <c:lblAlgn val="ctr"/>
        <c:noMultiLvlLbl val="1"/>
      </c:catAx>
      <c:valAx>
        <c:axId val="2094734552"/>
        <c:scaling>
          <c:orientation val="minMax"/>
          <c:max val="4000"/>
          <c:min val="0"/>
        </c:scaling>
        <c:delete val="0"/>
        <c:axPos val="l"/>
        <c:majorGridlines>
          <c:spPr>
            <a:ln w="6350" cap="flat">
              <a:solidFill>
                <a:srgbClr val="E3E3E3"/>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F6F6F"/>
                </a:solidFill>
                <a:latin typeface="+mn-lt"/>
              </a:defRPr>
            </a:pPr>
            <a:endParaRPr lang="en-US"/>
          </a:p>
        </c:txPr>
        <c:crossAx val="2094734554"/>
        <c:crosses val="autoZero"/>
        <c:crossBetween val="between"/>
        <c:majorUnit val="1000"/>
      </c:valAx>
      <c:spPr>
        <a:noFill/>
        <a:ln>
          <a:noFill/>
        </a:ln>
        <a:effectLst/>
      </c:spPr>
    </c:plotArea>
    <c:legend>
      <c:legendPos val="b"/>
      <c:overlay val="0"/>
      <c:txPr>
        <a:bodyPr/>
        <a:lstStyle/>
        <a:p>
          <a:pPr>
            <a:defRPr sz="1100">
              <a:solidFill>
                <a:srgbClr val="3F3F3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1A"/>
                </a:solidFill>
                <a:latin typeface="+mn-lt"/>
              </a:defRPr>
            </a:pPr>
            <a:r>
              <a:rPr sz="1400" b="0" i="0" u="none" strike="noStrike">
                <a:solidFill>
                  <a:srgbClr val="1A1A1A"/>
                </a:solidFill>
                <a:latin typeface="+mn-lt"/>
              </a:rPr>
              <a:t>Present value over 25 years, ₹ Cr per 100 MW</a:t>
            </a:r>
          </a:p>
        </c:rich>
      </c:tx>
      <c:layout/>
      <c:overlay val="0"/>
    </c:title>
    <c:autoTitleDeleted val="0"/>
    <c:plotArea>
      <c:layout/>
      <c:barChart>
        <c:barDir val="bar"/>
        <c:grouping val="clustered"/>
        <c:varyColors val="0"/>
        <c:ser>
          <c:idx val="0"/>
          <c:order val="0"/>
          <c:tx>
            <c:strRef>
              <c:f>Sheet1!$B$1</c:f>
              <c:strCache>
                <c:ptCount val="1"/>
                <c:pt idx="0">
                  <c:v>₹ Cr (present value)</c:v>
                </c:pt>
              </c:strCache>
            </c:strRef>
          </c:tx>
          <c:spPr>
            <a:solidFill>
              <a:srgbClr val="1F7A3A"/>
            </a:solidFill>
            <a:effectLst/>
          </c:spPr>
          <c:invertIfNegative val="0"/>
          <c:dLbls>
            <c:numFmt formatCode="#,##0.00;-#,##0.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C22935"/>
              </a:solidFill>
              <a:effectLst/>
            </c:spPr>
          </c:dPt>
          <c:dPt>
            <c:idx val="1"/>
            <c:invertIfNegative val="0"/>
            <c:bubble3D val="0"/>
            <c:spPr>
              <a:solidFill>
                <a:srgbClr val="1F7A3A"/>
              </a:solidFill>
              <a:effectLst/>
            </c:spPr>
          </c:dPt>
          <c:dPt>
            <c:idx val="2"/>
            <c:invertIfNegative val="0"/>
            <c:bubble3D val="0"/>
            <c:spPr>
              <a:solidFill>
                <a:srgbClr val="1F7A3A"/>
              </a:solidFill>
              <a:effectLst/>
            </c:spPr>
          </c:dPt>
          <c:dPt>
            <c:idx val="3"/>
            <c:invertIfNegative val="0"/>
            <c:bubble3D val="0"/>
            <c:spPr>
              <a:solidFill>
                <a:srgbClr val="1F7A3A"/>
              </a:solidFill>
              <a:effectLst/>
            </c:spPr>
          </c:dPt>
          <c:cat>
            <c:multiLvlStrRef>
              <c:f>Sheet1!$A$2:$A$5</c:f>
              <c:multiLvlStrCache>
                <c:ptCount val="4"/>
                <c:lvl>
                  <c:pt idx="0">
                    <c:v>Up-front GridMats premium</c:v>
                  </c:pt>
                  <c:pt idx="1">
                    <c:v>Road upkeep avoided</c:v>
                  </c:pt>
                  <c:pt idx="2">
                    <c:v>More energy from cleaner modules</c:v>
                  </c:pt>
                  <c:pt idx="3">
                    <c:v>Carbon value</c:v>
                  </c:pt>
                </c:lvl>
              </c:multiLvlStrCache>
            </c:multiLvlStrRef>
          </c:cat>
          <c:val>
            <c:numRef>
              <c:f>Sheet1!$B$2:$B$5</c:f>
              <c:numCache>
                <c:formatCode>General</c:formatCode>
                <c:ptCount val="4"/>
                <c:pt idx="0">
                  <c:v>-3.459285</c:v>
                </c:pt>
                <c:pt idx="1">
                  <c:v>5.69302049910044</c:v>
                </c:pt>
                <c:pt idx="2">
                  <c:v>1.40157676641388</c:v>
                </c:pt>
                <c:pt idx="3">
                  <c:v>0.459590573292027</c:v>
                </c:pt>
              </c:numCache>
            </c:numRef>
          </c:val>
        </c:ser>
        <c:dLbls>
          <c:numFmt formatCode="#,##0.00;-#,##0.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9A9A9A"/>
            </a:solidFill>
            <a:prstDash val="solid"/>
            <a:round/>
          </a:ln>
        </c:spPr>
        <c:txPr>
          <a:bodyPr/>
          <a:lstStyle/>
          <a:p>
            <a:pPr>
              <a:defRPr sz="1200" b="0" i="0" u="none" strike="noStrike">
                <a:solidFill>
                  <a:srgbClr val="3F3F3F"/>
                </a:solidFill>
                <a:latin typeface="+mn-lt"/>
              </a:defRPr>
            </a:pPr>
            <a:endParaRPr lang="en-US"/>
          </a:p>
        </c:txPr>
        <c:crossAx val="2094734552"/>
        <c:crosses val="autoZero"/>
        <c:auto val="1"/>
        <c:lblAlgn val="ctr"/>
        <c:noMultiLvlLbl val="1"/>
      </c:catAx>
      <c:valAx>
        <c:axId val="2094734552"/>
        <c:scaling>
          <c:orientation val="minMax"/>
          <c:max val="7"/>
          <c:min val="-5"/>
        </c:scaling>
        <c:delete val="0"/>
        <c:axPos val="b"/>
        <c:majorGridlines>
          <c:spPr>
            <a:ln w="6350" cap="flat">
              <a:solidFill>
                <a:srgbClr val="E3E3E3"/>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6F6F6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1A"/>
                </a:solidFill>
                <a:latin typeface="+mn-lt"/>
              </a:defRPr>
            </a:pPr>
            <a:r>
              <a:rPr sz="1400" b="0" i="0" u="none" strike="noStrike">
                <a:solidFill>
                  <a:srgbClr val="1A1A1A"/>
                </a:solidFill>
                <a:latin typeface="+mn-lt"/>
              </a:rPr>
              <a:t>NPV per 100 MW block, ₹ Cr</a:t>
            </a:r>
          </a:p>
        </c:rich>
      </c:tx>
      <c:layout/>
      <c:overlay val="0"/>
    </c:title>
    <c:autoTitleDeleted val="0"/>
    <c:plotArea>
      <c:layout/>
      <c:barChart>
        <c:barDir val="bar"/>
        <c:grouping val="clustered"/>
        <c:varyColors val="0"/>
        <c:ser>
          <c:idx val="0"/>
          <c:order val="0"/>
          <c:tx>
            <c:strRef>
              <c:f>Sheet1!$B$1</c:f>
              <c:strCache>
                <c:ptCount val="1"/>
                <c:pt idx="0">
                  <c:v>Pessimistic</c:v>
                </c:pt>
              </c:strCache>
            </c:strRef>
          </c:tx>
          <c:spPr>
            <a:solidFill>
              <a:srgbClr val="9A9A9A"/>
            </a:solidFill>
            <a:effectLst/>
          </c:spPr>
          <c:invertIfNegative val="0"/>
          <c:dLbls>
            <c:numFmt formatCode="#,##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Sheet1!$A$2:$A$10</c:f>
              <c:multiLvlStrCache>
                <c:ptCount val="9"/>
                <c:lvl>
                  <c:pt idx="0">
                    <c:v>WBM upkeep ±50%</c:v>
                  </c:pt>
                  <c:pt idx="1">
                    <c:v>Share of soiling from track dust</c:v>
                  </c:pt>
                  <c:pt idx="2">
                    <c:v>Discount rate</c:v>
                  </c:pt>
                  <c:pt idx="3">
                    <c:v>Bituminous upkeep ±50%</c:v>
                  </c:pt>
                  <c:pt idx="4">
                    <c:v>GridMats upkeep ±50%</c:v>
                  </c:pt>
                  <c:pt idx="5">
                    <c:v>Carbon value (₹ / t CO2e)</c:v>
                  </c:pt>
                  <c:pt idx="6">
                    <c:v>GridMats grid price ±10%</c:v>
                  </c:pt>
                  <c:pt idx="7">
                    <c:v>Road length per 100 MW (km)</c:v>
                  </c:pt>
                  <c:pt idx="8">
                    <c:v>Value of extra energy (₹ / kWh)</c:v>
                  </c:pt>
                </c:lvl>
              </c:multiLvlStrCache>
            </c:multiLvlStrRef>
          </c:cat>
          <c:val>
            <c:numRef>
              <c:f>Sheet1!$B$2:$B$10</c:f>
              <c:numCache>
                <c:formatCode>General</c:formatCode>
                <c:ptCount val="9"/>
                <c:pt idx="0">
                  <c:v>1.6701501520162</c:v>
                </c:pt>
                <c:pt idx="1">
                  <c:v>2.88932477577416</c:v>
                </c:pt>
                <c:pt idx="2">
                  <c:v>2.87894149522511</c:v>
                </c:pt>
                <c:pt idx="3">
                  <c:v>2.89846103449951</c:v>
                </c:pt>
                <c:pt idx="4">
                  <c:v>3.32021859725959</c:v>
                </c:pt>
                <c:pt idx="5">
                  <c:v>3.63531226551432</c:v>
                </c:pt>
                <c:pt idx="6">
                  <c:v>3.61724550654099</c:v>
                </c:pt>
                <c:pt idx="7">
                  <c:v>3.63759568995473</c:v>
                </c:pt>
                <c:pt idx="8">
                  <c:v>3.93917208698258</c:v>
                </c:pt>
              </c:numCache>
            </c:numRef>
          </c:val>
        </c:ser>
        <c:ser>
          <c:idx val="1"/>
          <c:order val="1"/>
          <c:tx>
            <c:strRef>
              <c:f>Sheet1!$C$1</c:f>
              <c:strCache>
                <c:ptCount val="1"/>
                <c:pt idx="0">
                  <c:v>Optimistic</c:v>
                </c:pt>
              </c:strCache>
            </c:strRef>
          </c:tx>
          <c:spPr>
            <a:solidFill>
              <a:srgbClr val="1F7A3A"/>
            </a:solidFill>
            <a:effectLst/>
          </c:spPr>
          <c:invertIfNegative val="0"/>
          <c:dLbls>
            <c:numFmt formatCode="#,##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Sheet1!$A$2:$A$10</c:f>
              <c:multiLvlStrCache>
                <c:ptCount val="9"/>
                <c:lvl>
                  <c:pt idx="0">
                    <c:v>WBM upkeep ±50%</c:v>
                  </c:pt>
                  <c:pt idx="1">
                    <c:v>Share of soiling from track dust</c:v>
                  </c:pt>
                  <c:pt idx="2">
                    <c:v>Discount rate</c:v>
                  </c:pt>
                  <c:pt idx="3">
                    <c:v>Bituminous upkeep ±50%</c:v>
                  </c:pt>
                  <c:pt idx="4">
                    <c:v>GridMats upkeep ±50%</c:v>
                  </c:pt>
                  <c:pt idx="5">
                    <c:v>Carbon value (₹ / t CO2e)</c:v>
                  </c:pt>
                  <c:pt idx="6">
                    <c:v>GridMats grid price ±10%</c:v>
                  </c:pt>
                  <c:pt idx="7">
                    <c:v>Road length per 100 MW (km)</c:v>
                  </c:pt>
                  <c:pt idx="8">
                    <c:v>Value of extra energy (₹ / kWh)</c:v>
                  </c:pt>
                </c:lvl>
              </c:multiLvlStrCache>
            </c:multiLvlStrRef>
          </c:cat>
          <c:val>
            <c:numRef>
              <c:f>Sheet1!$C$2:$C$10</c:f>
              <c:numCache>
                <c:formatCode>General</c:formatCode>
                <c:ptCount val="9"/>
                <c:pt idx="0">
                  <c:v>6.51965552559649</c:v>
                </c:pt>
                <c:pt idx="1">
                  <c:v>5.90326993335462</c:v>
                </c:pt>
                <c:pt idx="2">
                  <c:v>5.70787192590868</c:v>
                </c:pt>
                <c:pt idx="3">
                  <c:v>5.29134464311317</c:v>
                </c:pt>
                <c:pt idx="4">
                  <c:v>4.8695870803531</c:v>
                </c:pt>
                <c:pt idx="5">
                  <c:v>4.62014920828295</c:v>
                </c:pt>
                <c:pt idx="6">
                  <c:v>4.5725601710717</c:v>
                </c:pt>
                <c:pt idx="7">
                  <c:v>4.55220998765796</c:v>
                </c:pt>
                <c:pt idx="8">
                  <c:v>4.51018484366971</c:v>
                </c:pt>
              </c:numCache>
            </c:numRef>
          </c:val>
        </c:ser>
        <c:dLbls>
          <c:numFmt formatCode="#,##0.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9A9A9A"/>
            </a:solidFill>
            <a:prstDash val="solid"/>
            <a:round/>
          </a:ln>
        </c:spPr>
        <c:txPr>
          <a:bodyPr/>
          <a:lstStyle/>
          <a:p>
            <a:pPr>
              <a:defRPr sz="1100" b="0" i="0" u="none" strike="noStrike">
                <a:solidFill>
                  <a:srgbClr val="3F3F3F"/>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b"/>
        <c:majorGridlines>
          <c:spPr>
            <a:ln w="6350" cap="flat">
              <a:solidFill>
                <a:srgbClr val="E3E3E3"/>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6F6F6F"/>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3F3F3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1A"/>
                </a:solidFill>
                <a:latin typeface="+mn-lt"/>
              </a:defRPr>
            </a:pPr>
            <a:r>
              <a:rPr sz="1400" b="0" i="0" u="none" strike="noStrike">
                <a:solidFill>
                  <a:srgbClr val="1A1A1A"/>
                </a:solidFill>
                <a:latin typeface="+mn-lt"/>
              </a:rPr>
              <a:t>Capex per kWp, solar part only</a:t>
            </a:r>
          </a:p>
        </c:rich>
      </c:tx>
      <c:layout/>
      <c:overlay val="0"/>
    </c:title>
    <c:autoTitleDeleted val="0"/>
    <c:plotArea>
      <c:layout/>
      <c:barChart>
        <c:barDir val="bar"/>
        <c:grouping val="clustered"/>
        <c:varyColors val="0"/>
        <c:ser>
          <c:idx val="0"/>
          <c:order val="0"/>
          <c:tx>
            <c:strRef>
              <c:f>Sheet1!$B$1</c:f>
              <c:strCache>
                <c:ptCount val="1"/>
                <c:pt idx="0">
                  <c:v>₹ per kWp</c:v>
                </c:pt>
              </c:strCache>
            </c:strRef>
          </c:tx>
          <c:spPr>
            <a:solidFill>
              <a:srgbClr val="B87503"/>
            </a:solidFill>
            <a:effectLst/>
          </c:spPr>
          <c:invertIfNegative val="0"/>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C&amp;I rooftop</c:v>
                  </c:pt>
                  <c:pt idx="1">
                    <c:v>Solar carport</c:v>
                  </c:pt>
                  <c:pt idx="2">
                    <c:v>GridMats Solar Walkway</c:v>
                  </c:pt>
                </c:lvl>
              </c:multiLvlStrCache>
            </c:multiLvlStrRef>
          </c:cat>
          <c:val>
            <c:numRef>
              <c:f>Sheet1!$B$2:$B$4</c:f>
              <c:numCache>
                <c:formatCode>General</c:formatCode>
                <c:ptCount val="3"/>
                <c:pt idx="0">
                  <c:v>40000</c:v>
                </c:pt>
                <c:pt idx="1">
                  <c:v>50000</c:v>
                </c:pt>
                <c:pt idx="2">
                  <c:v>71875</c:v>
                </c:pt>
              </c:numCache>
            </c:numRef>
          </c:val>
        </c:ser>
        <c:dLbls>
          <c:numFmt formatCode="₹#,##0"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9A9A9A"/>
            </a:solidFill>
            <a:prstDash val="solid"/>
            <a:round/>
          </a:ln>
        </c:spPr>
        <c:txPr>
          <a:bodyPr/>
          <a:lstStyle/>
          <a:p>
            <a:pPr>
              <a:defRPr sz="1200" b="0" i="0" u="none" strike="noStrike">
                <a:solidFill>
                  <a:srgbClr val="3F3F3F"/>
                </a:solidFill>
                <a:latin typeface="+mn-lt"/>
              </a:defRPr>
            </a:pPr>
            <a:endParaRPr lang="en-US"/>
          </a:p>
        </c:txPr>
        <c:crossAx val="2094734552"/>
        <c:crosses val="autoZero"/>
        <c:auto val="1"/>
        <c:lblAlgn val="ctr"/>
        <c:noMultiLvlLbl val="1"/>
      </c:catAx>
      <c:valAx>
        <c:axId val="2094734552"/>
        <c:scaling>
          <c:orientation val="minMax"/>
          <c:max val="90000"/>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F6F6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the same GridMats grid that Reliance already used at its Kutch solar block can (1) cut the life-cycle cost of solar-park roads, (2) keep dust off modules, and (3) as a GridMats Solar Walkway, turn walkways into generators. Every number in this deck comes from the companion Excel model; assumptions are labelled and the pilot is designed to measure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messages, one ask. Lead with the roads: that is where the money is. The soiling benefit and the walkway economics are flagged as assumptions to be measured. The ask is small relative to Reliance's build programme: about one crore all-in including civil works by Reliance's own EPC.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Reliance's Kutch build-out is ramping from this post-monsoon season. Roads come first. Each conventional choice has a known cost: gravel needs regrading and throws dust on modules, concrete puts curing on the critical path, bitumen needs periodic renewal. GridMats is designed to avoid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Reliance has already bought and built GridMats once. Be candid: it was a trial without measurement. The pilot proposed here is designed to produce the performance data that the 2025 trial did not, against control sections built the conventional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Credentials, with the approved wording. 407 t/m² is a lab test on the empty panel, not a pavement capacity. IIT Hyderabad work is an interim report presented at TGS2026. The Godrej Vikhroli road is the most recent heavy-truck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for heavy roads and yards, S2 for O&amp;M tracks (what Reliance used at Kutch), S6 mats for temporary crane and access pads, and the Solar Walkway with IoT sensing for campuses. One supplier, one method statement for every EPC contractor, hold-point QC by GridMats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sections sit on geotextile over Kutch's saline, low-CBR formation, as at Z2. Final layer thicknesses are confirmed with IITPAVE once CBR and axle loads are measured at the pilot block. Costs are the model's bottom-up build-ups, ex-GST, with Reliance's EPC doing the civil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this is pilot-stage. The design basis is about 160 W per m² of walkway: one 40 W module on each of four grids per m². What the pilot measures: real W/m², kWh per m² per day, module temperature, slip resistance and uptime. A natural extension for Reliance: co-develop the walkable module using Reliance HJT cells from Jamnagar.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picture. On O&amp;M tracks GridMats S2 costs about 2.8 times WBM to build, but WBM is regraded every monsoon and regravelled every few years; over 25 years S2 comes out cheaper. On main roads S1 costs about the same as bitumen to build and avoids renewals every five years. Against concrete, S1 is cheaper on day one and over the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from premium to value for a 100 MW block. About 3.5 crore more up front, under 1% of a 400 crore plant. Road upkeep avoided alone is worth about 5.7 crore in present value; cleaner modules add about 1.4 crore and carbon about 0.5 crore. Net: about 4.1 crore per 100 MW, paying back in under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The biggest swing is how much WBM really costs to keep up; even at half the base estimate, NPV stays positive at about 1.7 crore per block. With no soiling benefit at all, roads alone still return about 2.3 crore per block. Discount rate 8 to 12% moves NPV between about 2.9 and 5.7 crore.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benefit unique to solar parks, and the one we are most careful about: it is an assumption until measured. Base case: of a 3% yearly soiling loss, 15% comes from track dust, and GridMats cuts that dust by 70%, so about 0.3% more energy, roughly 590 MWh a year per 100 MW. The pilot design puts reference cells and dust gauges at matching distances from a GridMats track and a WBM control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Walkway economics depend on the price of the power it replaces. At commercial tariffs in Mumbai, payback is under six years; at Jamnagar's lower industrial tariff, about eight. The per-kWp cost is higher than rooftop, so position it where roofs are full or shaded and the walkway is needed anyway, and for visibility at headquarters, Jio World Centre, data-centre campuses and EV hubs.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Sustainability numbers that can go straight into BRSR-style reporting, with the method shown in the model. Most of the CO2e comes from the extra clean energy, so it depends on the soiling assumption. Position GridMats alongside Reliance's own ReRoute, not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view. Per GW, about 100 km of internal road, about 41 crore of NPV and over 3,000 tonnes of recycled PP. The 20 GW column is indicative only; supply at that scale would run under a park-wide rate contract with phased deliveries.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A: one kilometre of road in a block being built this season, half main road and half O&amp;M track, beside conventional control sections. B: a 50 m² Solar Walkway where leadership walks past it every day. C: a year of joint measurement, through one monsoon, with a rate-contract decision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Reliance pays about 55 lakh for 68.5 lakh of scope. The grid is at the annual-contract rate, 23% below what Reliance paid in 2025. Design, full-build supervision with travel, a year of monitoring and half the walkway PV are on GridMats. If the pilot meets its measures, the rate is held for a 12-month park contract and 10% of the pilot grid value comes back as a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is defined before we start, using GridMats' own maintenance thresholds, and judged against Reliance's control sections. The live dashboard shows the sensor feed from the road; Reliance can export the data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2025 learnings without dwelling on them: supply timing, aggregate quality, design for very weak soil, and supervision length. Each now has a specific fix in the pilot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 date: name the block and the sponsor this month so that the road is built in this dry season and measured through the 2027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questions on assumptions. Every value is an input in the model and can be changed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412480" cy="19202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4114800"/>
            <a:ext cx="841248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GridMats Solar × Reliance  |  Proposal for discussion  |  October 2026</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1280160"/>
            <a:ext cx="11094415" cy="45720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412480" cy="1920240"/>
          </a:xfrm>
          <a:prstGeom prst="rect">
            <a:avLst/>
          </a:prstGeom>
          <a:noFill/>
          <a:ln/>
        </p:spPr>
        <p:txBody>
          <a:bodyPr wrap="square" lIns="0" tIns="0" rIns="0" bIns="0" rtlCol="0" anchor="b"/>
          <a:lstStyle/>
          <a:p>
            <a:pPr algn="l" indent="0" marL="0">
              <a:buNone/>
            </a:pPr>
            <a:r>
              <a:rPr lang="en-US" sz="4400" b="1" dirty="0">
                <a:solidFill>
                  <a:schemeClr val="bg1"/>
                </a:solidFill>
              </a:rPr>
              <a:t>Roads that keep panels clean. Walkways that make power.</a:t>
            </a:r>
            <a:endParaRPr lang="en-US" sz="4400" dirty="0"/>
          </a:p>
        </p:txBody>
      </p:sp>
      <p:sp>
        <p:nvSpPr>
          <p:cNvPr id="3" name="Text 0"/>
          <p:cNvSpPr/>
          <p:nvPr>
            <p:ph idx="101" type="body" hasCustomPrompt="1"/>
          </p:nvPr>
        </p:nvSpPr>
        <p:spPr>
          <a:xfrm>
            <a:off x="548640" y="4114800"/>
            <a:ext cx="8412480" cy="1097280"/>
          </a:xfrm>
          <a:prstGeom prst="rect">
            <a:avLst/>
          </a:prstGeom>
          <a:noFill/>
          <a:ln/>
        </p:spPr>
        <p:txBody>
          <a:bodyPr wrap="square" lIns="0" tIns="0" rIns="0" bIns="0" rtlCol="0" anchor="t"/>
          <a:lstStyle/>
          <a:p>
            <a:pPr indent="0" marL="0">
              <a:buNone/>
            </a:pPr>
            <a:r>
              <a:rPr lang="en-US" sz="1800" dirty="0">
                <a:solidFill>
                  <a:schemeClr val="bg2"/>
                </a:solidFill>
              </a:rPr>
              <a:t>GridMats Solar × Reliance New Energy: cost-benefit case and pilot proposal</a:t>
            </a:r>
            <a:endParaRPr lang="en-US" sz="1800" dirty="0"/>
          </a:p>
          <a:p>
            <a:pPr indent="0" marL="0">
              <a:buNone/>
            </a:pPr>
            <a:r>
              <a:rPr lang="en-US" sz="1800" dirty="0">
                <a:solidFill>
                  <a:schemeClr val="bg2"/>
                </a:solidFill>
              </a:rPr>
              <a:t>Prepared for Reliance Industries Ltd  ·  October 2026</a:t>
            </a:r>
            <a:endParaRPr lang="en-US" sz="1800" dirty="0"/>
          </a:p>
        </p:txBody>
      </p:sp>
      <p:sp>
        <p:nvSpPr>
          <p:cNvPr id="4" name="motif-hex"/>
          <p:cNvSpPr/>
          <p:nvPr/>
        </p:nvSpPr>
        <p:spPr>
          <a:xfrm>
            <a:off x="9418320" y="1188720"/>
            <a:ext cx="1051560" cy="914400"/>
          </a:xfrm>
          <a:prstGeom prst="hexagon">
            <a:avLst/>
          </a:prstGeom>
          <a:solidFill>
            <a:schemeClr val="accent1"/>
          </a:solidFill>
          <a:ln w="25400">
            <a:solidFill>
              <a:schemeClr val="tx1"/>
            </a:solidFill>
            <a:prstDash val="solid"/>
          </a:ln>
        </p:spPr>
      </p:sp>
      <p:sp>
        <p:nvSpPr>
          <p:cNvPr id="5" name="motif-hex"/>
          <p:cNvSpPr/>
          <p:nvPr/>
        </p:nvSpPr>
        <p:spPr>
          <a:xfrm>
            <a:off x="10378440" y="1737360"/>
            <a:ext cx="1051560" cy="914400"/>
          </a:xfrm>
          <a:prstGeom prst="hexagon">
            <a:avLst/>
          </a:prstGeom>
          <a:solidFill>
            <a:schemeClr val="accent6"/>
          </a:solidFill>
          <a:ln w="25400">
            <a:solidFill>
              <a:schemeClr val="tx1"/>
            </a:solidFill>
            <a:prstDash val="solid"/>
          </a:ln>
        </p:spPr>
      </p:sp>
      <p:sp>
        <p:nvSpPr>
          <p:cNvPr id="6" name="motif-hex"/>
          <p:cNvSpPr/>
          <p:nvPr/>
        </p:nvSpPr>
        <p:spPr>
          <a:xfrm>
            <a:off x="9418320" y="2286000"/>
            <a:ext cx="1051560" cy="914400"/>
          </a:xfrm>
          <a:prstGeom prst="hexagon">
            <a:avLst/>
          </a:prstGeom>
          <a:solidFill>
            <a:schemeClr val="tx2"/>
          </a:solidFill>
          <a:ln w="25400">
            <a:solidFill>
              <a:schemeClr val="tx1"/>
            </a:solidFill>
            <a:prstDash val="solid"/>
          </a:ln>
        </p:spPr>
      </p:sp>
      <p:sp>
        <p:nvSpPr>
          <p:cNvPr id="7" name="motif-hex"/>
          <p:cNvSpPr/>
          <p:nvPr/>
        </p:nvSpPr>
        <p:spPr>
          <a:xfrm>
            <a:off x="10378440" y="2834640"/>
            <a:ext cx="1051560" cy="914400"/>
          </a:xfrm>
          <a:prstGeom prst="hexagon">
            <a:avLst/>
          </a:prstGeom>
          <a:solidFill>
            <a:schemeClr val="accent1"/>
          </a:solidFill>
          <a:ln w="25400">
            <a:solidFill>
              <a:schemeClr val="tx1"/>
            </a:solidFill>
            <a:prstDash val="solid"/>
          </a:ln>
        </p:spPr>
      </p:sp>
      <p:sp>
        <p:nvSpPr>
          <p:cNvPr id="8" name="motif-hex"/>
          <p:cNvSpPr/>
          <p:nvPr/>
        </p:nvSpPr>
        <p:spPr>
          <a:xfrm>
            <a:off x="9418320" y="3383280"/>
            <a:ext cx="1051560" cy="914400"/>
          </a:xfrm>
          <a:prstGeom prst="hexagon">
            <a:avLst/>
          </a:prstGeom>
          <a:solidFill>
            <a:schemeClr val="accent6"/>
          </a:solidFill>
          <a:ln w="25400">
            <a:solidFill>
              <a:schemeClr val="tx1"/>
            </a:solidFill>
            <a:prstDash val="solid"/>
          </a:ln>
        </p:spPr>
      </p:sp>
      <p:sp>
        <p:nvSpPr>
          <p:cNvPr id="9" name="motif-hex"/>
          <p:cNvSpPr/>
          <p:nvPr/>
        </p:nvSpPr>
        <p:spPr>
          <a:xfrm>
            <a:off x="10378440" y="3931920"/>
            <a:ext cx="1051560" cy="914400"/>
          </a:xfrm>
          <a:prstGeom prst="hexagon">
            <a:avLst/>
          </a:prstGeom>
          <a:solidFill>
            <a:schemeClr val="tx2"/>
          </a:solidFill>
          <a:ln w="25400">
            <a:solidFill>
              <a:schemeClr val="tx1"/>
            </a:solidFill>
            <a:prstDash val="solid"/>
          </a:ln>
        </p:spPr>
      </p:sp>
      <p:pic>
        <p:nvPicPr>
          <p:cNvPr id="10" name="Image 0" descr="solar panel">    </p:cNvPr>
          <p:cNvPicPr>
            <a:picLocks noChangeAspect="1"/>
          </p:cNvPicPr>
          <p:nvPr/>
        </p:nvPicPr>
        <p:blipFill>
          <a:blip r:embed="rId1"/>
          <a:stretch>
            <a:fillRect/>
          </a:stretch>
        </p:blipFill>
        <p:spPr>
          <a:xfrm>
            <a:off x="10607040" y="3017520"/>
            <a:ext cx="566928" cy="566928"/>
          </a:xfrm>
          <a:prstGeom prst="rect">
            <a:avLst/>
          </a:prstGeom>
        </p:spPr>
      </p:pic>
      <p:pic>
        <p:nvPicPr>
          <p:cNvPr id="11" name="Image 1" descr="road">    </p:cNvPr>
          <p:cNvPicPr>
            <a:picLocks noChangeAspect="1"/>
          </p:cNvPicPr>
          <p:nvPr/>
        </p:nvPicPr>
        <p:blipFill>
          <a:blip r:embed="rId2"/>
          <a:stretch>
            <a:fillRect/>
          </a:stretch>
        </p:blipFill>
        <p:spPr>
          <a:xfrm>
            <a:off x="9646920" y="2468880"/>
            <a:ext cx="566928" cy="566928"/>
          </a:xfrm>
          <a:prstGeom prst="rect">
            <a:avLst/>
          </a:prstGeom>
        </p:spPr>
      </p:pic>
      <p:pic>
        <p:nvPicPr>
          <p:cNvPr id="12" name="Image 2" descr="recycle">    </p:cNvPr>
          <p:cNvPicPr>
            <a:picLocks noChangeAspect="1"/>
          </p:cNvPicPr>
          <p:nvPr/>
        </p:nvPicPr>
        <p:blipFill>
          <a:blip r:embed="rId3"/>
          <a:stretch>
            <a:fillRect/>
          </a:stretch>
        </p:blipFill>
        <p:spPr>
          <a:xfrm>
            <a:off x="9646920" y="3566160"/>
            <a:ext cx="566928" cy="566928"/>
          </a:xfrm>
          <a:prstGeom prst="rect">
            <a:avLst/>
          </a:prstGeom>
        </p:spPr>
      </p:pic>
      <p:sp>
        <p:nvSpPr>
          <p:cNvPr id="13" name="Text 8"/>
          <p:cNvSpPr txBox="1"/>
          <p:nvPr/>
        </p:nvSpPr>
        <p:spPr>
          <a:xfrm>
            <a:off x="548640" y="6126480"/>
            <a:ext cx="7315200" cy="320040"/>
          </a:xfrm>
          <a:prstGeom prst="rect">
            <a:avLst/>
          </a:prstGeom>
          <a:noFill/>
          <a:ln/>
        </p:spPr>
        <p:txBody>
          <a:bodyPr wrap="square" lIns="0" tIns="0" rIns="0" bIns="0" rtlCol="0" anchor="t"/>
          <a:lstStyle/>
          <a:p>
            <a:pPr indent="0" marL="0">
              <a:buNone/>
            </a:pPr>
            <a:r>
              <a:rPr lang="en-US" sz="1200" dirty="0">
                <a:solidFill>
                  <a:schemeClr val="bg2"/>
                </a:solidFill>
              </a:rPr>
              <a:t>GridMats Engineered Surface Systems  ·  www.gridmats.com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The case in one page</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GridMats on Reliance's solar parks pays back in under five years; a pilot this dry season proves it on Reliance's own data.</a:t>
            </a:r>
            <a:endParaRPr lang="en-US" sz="1600" dirty="0"/>
          </a:p>
        </p:txBody>
      </p:sp>
      <p:sp>
        <p:nvSpPr>
          <p:cNvPr id="4" name="hex-FaRoad"/>
          <p:cNvSpPr/>
          <p:nvPr/>
        </p:nvSpPr>
        <p:spPr>
          <a:xfrm>
            <a:off x="548640" y="1737360"/>
            <a:ext cx="640080" cy="563270"/>
          </a:xfrm>
          <a:prstGeom prst="hexagon">
            <a:avLst/>
          </a:prstGeom>
          <a:solidFill>
            <a:schemeClr val="accent1"/>
          </a:solidFill>
          <a:ln w="12700">
            <a:solidFill>
              <a:schemeClr val="accent1"/>
            </a:solidFill>
            <a:prstDash val="solid"/>
          </a:ln>
        </p:spPr>
      </p:sp>
      <p:pic>
        <p:nvPicPr>
          <p:cNvPr id="5" name="Image 0" descr="Road">    </p:cNvPr>
          <p:cNvPicPr>
            <a:picLocks noChangeAspect="1"/>
          </p:cNvPicPr>
          <p:nvPr/>
        </p:nvPicPr>
        <p:blipFill>
          <a:blip r:embed="rId1"/>
          <a:stretch>
            <a:fillRect/>
          </a:stretch>
        </p:blipFill>
        <p:spPr>
          <a:xfrm>
            <a:off x="721462" y="1871777"/>
            <a:ext cx="294437" cy="294437"/>
          </a:xfrm>
          <a:prstGeom prst="rect">
            <a:avLst/>
          </a:prstGeom>
        </p:spPr>
      </p:pic>
      <p:sp>
        <p:nvSpPr>
          <p:cNvPr id="6" name="Text 3"/>
          <p:cNvSpPr txBox="1"/>
          <p:nvPr/>
        </p:nvSpPr>
        <p:spPr>
          <a:xfrm>
            <a:off x="1417320" y="1719072"/>
            <a:ext cx="6263640" cy="320040"/>
          </a:xfrm>
          <a:prstGeom prst="rect">
            <a:avLst/>
          </a:prstGeom>
          <a:noFill/>
          <a:ln/>
        </p:spPr>
        <p:txBody>
          <a:bodyPr wrap="square" lIns="0" tIns="0" rIns="0" bIns="0" rtlCol="0" anchor="t"/>
          <a:lstStyle/>
          <a:p>
            <a:pPr indent="0" marL="0">
              <a:buNone/>
            </a:pPr>
            <a:r>
              <a:rPr lang="en-US" sz="1600" b="1" dirty="0">
                <a:solidFill>
                  <a:schemeClr val="tx1"/>
                </a:solidFill>
              </a:rPr>
              <a:t>Solar-park roads</a:t>
            </a:r>
            <a:endParaRPr lang="en-US" sz="1600" dirty="0"/>
          </a:p>
        </p:txBody>
      </p:sp>
      <p:sp>
        <p:nvSpPr>
          <p:cNvPr id="7" name="Text 4"/>
          <p:cNvSpPr txBox="1"/>
          <p:nvPr/>
        </p:nvSpPr>
        <p:spPr>
          <a:xfrm>
            <a:off x="1417320" y="2066544"/>
            <a:ext cx="6263640" cy="658368"/>
          </a:xfrm>
          <a:prstGeom prst="rect">
            <a:avLst/>
          </a:prstGeom>
          <a:noFill/>
          <a:ln/>
        </p:spPr>
        <p:txBody>
          <a:bodyPr wrap="square" lIns="0" tIns="0" rIns="0" bIns="0" rtlCol="0" anchor="t"/>
          <a:lstStyle/>
          <a:p>
            <a:pPr indent="0" marL="0">
              <a:buNone/>
            </a:pPr>
            <a:r>
              <a:rPr lang="en-US" sz="1400" dirty="0">
                <a:solidFill>
                  <a:schemeClr val="tx2"/>
                </a:solidFill>
              </a:rPr>
              <a:t>S1 on main roads, S2 on O&amp;M tracks: NPV ₹4.1 Cr per 100 MW block over 25 years, 21% IRR, 4.7 yrs payback; premium only 0.9% of plant capex.</a:t>
            </a:r>
            <a:endParaRPr lang="en-US" sz="1400" dirty="0"/>
          </a:p>
        </p:txBody>
      </p:sp>
      <p:sp>
        <p:nvSpPr>
          <p:cNvPr id="8" name="hex-FaSolarPanel"/>
          <p:cNvSpPr/>
          <p:nvPr/>
        </p:nvSpPr>
        <p:spPr>
          <a:xfrm>
            <a:off x="548640" y="2807208"/>
            <a:ext cx="640080" cy="563270"/>
          </a:xfrm>
          <a:prstGeom prst="hexagon">
            <a:avLst/>
          </a:prstGeom>
          <a:solidFill>
            <a:schemeClr val="accent1"/>
          </a:solidFill>
          <a:ln w="12700">
            <a:solidFill>
              <a:schemeClr val="accent1"/>
            </a:solidFill>
            <a:prstDash val="solid"/>
          </a:ln>
        </p:spPr>
      </p:sp>
      <p:pic>
        <p:nvPicPr>
          <p:cNvPr id="9" name="Image 1" descr="SolarPanel">    </p:cNvPr>
          <p:cNvPicPr>
            <a:picLocks noChangeAspect="1"/>
          </p:cNvPicPr>
          <p:nvPr/>
        </p:nvPicPr>
        <p:blipFill>
          <a:blip r:embed="rId2"/>
          <a:stretch>
            <a:fillRect/>
          </a:stretch>
        </p:blipFill>
        <p:spPr>
          <a:xfrm>
            <a:off x="721462" y="2941625"/>
            <a:ext cx="294437" cy="294437"/>
          </a:xfrm>
          <a:prstGeom prst="rect">
            <a:avLst/>
          </a:prstGeom>
        </p:spPr>
      </p:pic>
      <p:sp>
        <p:nvSpPr>
          <p:cNvPr id="10" name="Text 6"/>
          <p:cNvSpPr txBox="1"/>
          <p:nvPr/>
        </p:nvSpPr>
        <p:spPr>
          <a:xfrm>
            <a:off x="1417320" y="2788920"/>
            <a:ext cx="6263640" cy="320040"/>
          </a:xfrm>
          <a:prstGeom prst="rect">
            <a:avLst/>
          </a:prstGeom>
          <a:noFill/>
          <a:ln/>
        </p:spPr>
        <p:txBody>
          <a:bodyPr wrap="square" lIns="0" tIns="0" rIns="0" bIns="0" rtlCol="0" anchor="t"/>
          <a:lstStyle/>
          <a:p>
            <a:pPr indent="0" marL="0">
              <a:buNone/>
            </a:pPr>
            <a:r>
              <a:rPr lang="en-US" sz="1600" b="1" dirty="0">
                <a:solidFill>
                  <a:schemeClr val="tx1"/>
                </a:solidFill>
              </a:rPr>
              <a:t>Cleaner modules</a:t>
            </a:r>
            <a:endParaRPr lang="en-US" sz="1600" dirty="0"/>
          </a:p>
        </p:txBody>
      </p:sp>
      <p:sp>
        <p:nvSpPr>
          <p:cNvPr id="11" name="Text 7"/>
          <p:cNvSpPr txBox="1"/>
          <p:nvPr/>
        </p:nvSpPr>
        <p:spPr>
          <a:xfrm>
            <a:off x="1417320" y="3136392"/>
            <a:ext cx="6263640" cy="658368"/>
          </a:xfrm>
          <a:prstGeom prst="rect">
            <a:avLst/>
          </a:prstGeom>
          <a:noFill/>
          <a:ln/>
        </p:spPr>
        <p:txBody>
          <a:bodyPr wrap="square" lIns="0" tIns="0" rIns="0" bIns="0" rtlCol="0" anchor="t"/>
          <a:lstStyle/>
          <a:p>
            <a:pPr indent="0" marL="0">
              <a:buNone/>
            </a:pPr>
            <a:r>
              <a:rPr lang="en-US" sz="1400" dirty="0">
                <a:solidFill>
                  <a:schemeClr val="tx2"/>
                </a:solidFill>
              </a:rPr>
              <a:t>Dust-confining tracks cut traffic dust on nearby rows: about 590 MWh more a year per 100 MW (assumption the pilot measures).</a:t>
            </a:r>
            <a:endParaRPr lang="en-US" sz="1400" dirty="0"/>
          </a:p>
        </p:txBody>
      </p:sp>
      <p:sp>
        <p:nvSpPr>
          <p:cNvPr id="12" name="hex-FaWalking"/>
          <p:cNvSpPr/>
          <p:nvPr/>
        </p:nvSpPr>
        <p:spPr>
          <a:xfrm>
            <a:off x="548640" y="3877056"/>
            <a:ext cx="640080" cy="563270"/>
          </a:xfrm>
          <a:prstGeom prst="hexagon">
            <a:avLst/>
          </a:prstGeom>
          <a:solidFill>
            <a:schemeClr val="accent1"/>
          </a:solidFill>
          <a:ln w="12700">
            <a:solidFill>
              <a:schemeClr val="accent1"/>
            </a:solidFill>
            <a:prstDash val="solid"/>
          </a:ln>
        </p:spPr>
      </p:sp>
      <p:pic>
        <p:nvPicPr>
          <p:cNvPr id="13" name="Image 2" descr="Walking">    </p:cNvPr>
          <p:cNvPicPr>
            <a:picLocks noChangeAspect="1"/>
          </p:cNvPicPr>
          <p:nvPr/>
        </p:nvPicPr>
        <p:blipFill>
          <a:blip r:embed="rId3"/>
          <a:stretch>
            <a:fillRect/>
          </a:stretch>
        </p:blipFill>
        <p:spPr>
          <a:xfrm>
            <a:off x="721462" y="4011473"/>
            <a:ext cx="294437" cy="294437"/>
          </a:xfrm>
          <a:prstGeom prst="rect">
            <a:avLst/>
          </a:prstGeom>
        </p:spPr>
      </p:pic>
      <p:sp>
        <p:nvSpPr>
          <p:cNvPr id="14" name="Text 9"/>
          <p:cNvSpPr txBox="1"/>
          <p:nvPr/>
        </p:nvSpPr>
        <p:spPr>
          <a:xfrm>
            <a:off x="1417320" y="3858768"/>
            <a:ext cx="6263640" cy="320040"/>
          </a:xfrm>
          <a:prstGeom prst="rect">
            <a:avLst/>
          </a:prstGeom>
          <a:noFill/>
          <a:ln/>
        </p:spPr>
        <p:txBody>
          <a:bodyPr wrap="square" lIns="0" tIns="0" rIns="0" bIns="0" rtlCol="0" anchor="t"/>
          <a:lstStyle/>
          <a:p>
            <a:pPr indent="0" marL="0">
              <a:buNone/>
            </a:pPr>
            <a:r>
              <a:rPr lang="en-US" sz="1600" b="1" dirty="0">
                <a:solidFill>
                  <a:schemeClr val="tx1"/>
                </a:solidFill>
              </a:rPr>
              <a:t>Walkways that generate</a:t>
            </a:r>
            <a:endParaRPr lang="en-US" sz="1600" dirty="0"/>
          </a:p>
        </p:txBody>
      </p:sp>
      <p:sp>
        <p:nvSpPr>
          <p:cNvPr id="15" name="Text 10"/>
          <p:cNvSpPr txBox="1"/>
          <p:nvPr/>
        </p:nvSpPr>
        <p:spPr>
          <a:xfrm>
            <a:off x="1417320" y="4206240"/>
            <a:ext cx="6263640" cy="658368"/>
          </a:xfrm>
          <a:prstGeom prst="rect">
            <a:avLst/>
          </a:prstGeom>
          <a:noFill/>
          <a:ln/>
        </p:spPr>
        <p:txBody>
          <a:bodyPr wrap="square" lIns="0" tIns="0" rIns="0" bIns="0" rtlCol="0" anchor="t"/>
          <a:lstStyle/>
          <a:p>
            <a:pPr indent="0" marL="0">
              <a:buNone/>
            </a:pPr>
            <a:r>
              <a:rPr lang="en-US" sz="1400" dirty="0">
                <a:solidFill>
                  <a:schemeClr val="tx2"/>
                </a:solidFill>
              </a:rPr>
              <a:t>GridMats Solar Walkway, about 160 W/m²: payback about 5.6 years in Navi Mumbai and 8.1 at Jamnagar.</a:t>
            </a:r>
            <a:endParaRPr lang="en-US" sz="1400" dirty="0"/>
          </a:p>
        </p:txBody>
      </p:sp>
      <p:sp>
        <p:nvSpPr>
          <p:cNvPr id="16" name="hex-FaRecycle"/>
          <p:cNvSpPr/>
          <p:nvPr/>
        </p:nvSpPr>
        <p:spPr>
          <a:xfrm>
            <a:off x="548640" y="4946904"/>
            <a:ext cx="640080" cy="563270"/>
          </a:xfrm>
          <a:prstGeom prst="hexagon">
            <a:avLst/>
          </a:prstGeom>
          <a:solidFill>
            <a:schemeClr val="accent1"/>
          </a:solidFill>
          <a:ln w="12700">
            <a:solidFill>
              <a:schemeClr val="accent1"/>
            </a:solidFill>
            <a:prstDash val="solid"/>
          </a:ln>
        </p:spPr>
      </p:sp>
      <p:pic>
        <p:nvPicPr>
          <p:cNvPr id="17" name="Image 3" descr="Recycle">    </p:cNvPr>
          <p:cNvPicPr>
            <a:picLocks noChangeAspect="1"/>
          </p:cNvPicPr>
          <p:nvPr/>
        </p:nvPicPr>
        <p:blipFill>
          <a:blip r:embed="rId4"/>
          <a:stretch>
            <a:fillRect/>
          </a:stretch>
        </p:blipFill>
        <p:spPr>
          <a:xfrm>
            <a:off x="721462" y="5081321"/>
            <a:ext cx="294437" cy="294437"/>
          </a:xfrm>
          <a:prstGeom prst="rect">
            <a:avLst/>
          </a:prstGeom>
        </p:spPr>
      </p:pic>
      <p:sp>
        <p:nvSpPr>
          <p:cNvPr id="18" name="Text 12"/>
          <p:cNvSpPr txBox="1"/>
          <p:nvPr/>
        </p:nvSpPr>
        <p:spPr>
          <a:xfrm>
            <a:off x="1417320" y="4928616"/>
            <a:ext cx="6263640" cy="320040"/>
          </a:xfrm>
          <a:prstGeom prst="rect">
            <a:avLst/>
          </a:prstGeom>
          <a:noFill/>
          <a:ln/>
        </p:spPr>
        <p:txBody>
          <a:bodyPr wrap="square" lIns="0" tIns="0" rIns="0" bIns="0" rtlCol="0" anchor="t"/>
          <a:lstStyle/>
          <a:p>
            <a:pPr indent="0" marL="0">
              <a:buNone/>
            </a:pPr>
            <a:r>
              <a:rPr lang="en-US" sz="1600" b="1" dirty="0">
                <a:solidFill>
                  <a:schemeClr val="tx1"/>
                </a:solidFill>
              </a:rPr>
              <a:t>Circular and low-carbon</a:t>
            </a:r>
            <a:endParaRPr lang="en-US" sz="1600" dirty="0"/>
          </a:p>
        </p:txBody>
      </p:sp>
      <p:sp>
        <p:nvSpPr>
          <p:cNvPr id="19" name="Text 13"/>
          <p:cNvSpPr txBox="1"/>
          <p:nvPr/>
        </p:nvSpPr>
        <p:spPr>
          <a:xfrm>
            <a:off x="1417320" y="5276088"/>
            <a:ext cx="6263640" cy="658368"/>
          </a:xfrm>
          <a:prstGeom prst="rect">
            <a:avLst/>
          </a:prstGeom>
          <a:noFill/>
          <a:ln/>
        </p:spPr>
        <p:txBody>
          <a:bodyPr wrap="square" lIns="0" tIns="0" rIns="0" bIns="0" rtlCol="0" anchor="t"/>
          <a:lstStyle/>
          <a:p>
            <a:pPr indent="0" marL="0">
              <a:buNone/>
            </a:pPr>
            <a:r>
              <a:rPr lang="en-US" sz="1400" dirty="0">
                <a:solidFill>
                  <a:schemeClr val="tx2"/>
                </a:solidFill>
              </a:rPr>
              <a:t>Per 100 MW: 327 t of recycled PP put to use and about 10,900 t CO2e avoided over 25 years.</a:t>
            </a:r>
            <a:endParaRPr lang="en-US" sz="1400" dirty="0"/>
          </a:p>
        </p:txBody>
      </p:sp>
      <p:sp>
        <p:nvSpPr>
          <p:cNvPr id="20" name="ask-card"/>
          <p:cNvSpPr/>
          <p:nvPr/>
        </p:nvSpPr>
        <p:spPr>
          <a:xfrm>
            <a:off x="7818120" y="1783080"/>
            <a:ext cx="3822192" cy="4160520"/>
          </a:xfrm>
          <a:prstGeom prst="roundRect">
            <a:avLst>
              <a:gd name="adj" fmla="val 1914"/>
            </a:avLst>
          </a:prstGeom>
          <a:solidFill>
            <a:schemeClr val="accent5"/>
          </a:solidFill>
          <a:ln w="12700">
            <a:solidFill>
              <a:schemeClr val="accent5"/>
            </a:solidFill>
            <a:prstDash val="solid"/>
          </a:ln>
        </p:spPr>
      </p:sp>
      <p:sp>
        <p:nvSpPr>
          <p:cNvPr id="21" name="Text 15"/>
          <p:cNvSpPr txBox="1"/>
          <p:nvPr/>
        </p:nvSpPr>
        <p:spPr>
          <a:xfrm>
            <a:off x="8092440" y="1965960"/>
            <a:ext cx="3291840" cy="365760"/>
          </a:xfrm>
          <a:prstGeom prst="rect">
            <a:avLst/>
          </a:prstGeom>
          <a:noFill/>
          <a:ln/>
        </p:spPr>
        <p:txBody>
          <a:bodyPr wrap="square" lIns="0" tIns="0" rIns="0" bIns="0" rtlCol="0" anchor="t"/>
          <a:lstStyle/>
          <a:p>
            <a:pPr indent="0" marL="0">
              <a:buNone/>
            </a:pPr>
            <a:r>
              <a:rPr lang="en-US" sz="1800" b="1" dirty="0">
                <a:solidFill>
                  <a:schemeClr val="accent1"/>
                </a:solidFill>
              </a:rPr>
              <a:t>The ask</a:t>
            </a:r>
            <a:endParaRPr lang="en-US" sz="1800" dirty="0"/>
          </a:p>
        </p:txBody>
      </p:sp>
      <p:sp>
        <p:nvSpPr>
          <p:cNvPr id="22" name="Text 16"/>
          <p:cNvSpPr txBox="1"/>
          <p:nvPr/>
        </p:nvSpPr>
        <p:spPr>
          <a:xfrm>
            <a:off x="8092440" y="2423160"/>
            <a:ext cx="3291840" cy="32918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Pilot this dry season</a:t>
            </a:r>
            <a:endParaRPr lang="en-US" sz="1400" dirty="0"/>
          </a:p>
          <a:p>
            <a:pPr indent="0" marL="0">
              <a:spcAft>
                <a:spcPts val="400"/>
              </a:spcAft>
              <a:buNone/>
            </a:pPr>
            <a:r>
              <a:rPr lang="en-US" sz="1400" dirty="0">
                <a:solidFill>
                  <a:schemeClr val="tx1"/>
                </a:solidFill>
              </a:rPr>
              <a:t>1 km of solar-park road (S1 + S2) beside control sections, a 50 m² GridMats Solar Walkway, and 12 months of joint measurement.</a:t>
            </a:r>
            <a:endParaRPr lang="en-US" sz="1400" dirty="0"/>
          </a:p>
          <a:p>
            <a:pPr indent="0" marL="0">
              <a:spcAft>
                <a:spcPts val="400"/>
              </a:spcAft>
              <a:buNone/>
            </a:pPr>
            <a:r>
              <a:rPr lang="en-US" sz="800" dirty="0">
                <a:solidFill>
                  <a:schemeClr val="tx1"/>
                </a:solidFill>
              </a:rPr>
              <a:t> </a:t>
            </a:r>
            <a:endParaRPr lang="en-US" sz="1400" dirty="0"/>
          </a:p>
          <a:p>
            <a:pPr indent="0" marL="0">
              <a:spcAft>
                <a:spcPts val="400"/>
              </a:spcAft>
              <a:buNone/>
            </a:pPr>
            <a:r>
              <a:rPr lang="en-US" sz="1400" b="1" dirty="0">
                <a:solidFill>
                  <a:schemeClr val="tx1"/>
                </a:solidFill>
              </a:rPr>
              <a:t>Reliance pays ₹55.3 L</a:t>
            </a:r>
            <a:endParaRPr lang="en-US" sz="1400" dirty="0"/>
          </a:p>
          <a:p>
            <a:pPr indent="0" marL="0">
              <a:spcAft>
                <a:spcPts val="400"/>
              </a:spcAft>
              <a:buNone/>
            </a:pPr>
            <a:r>
              <a:rPr lang="en-US" sz="1400" dirty="0">
                <a:solidFill>
                  <a:schemeClr val="tx1"/>
                </a:solidFill>
              </a:rPr>
              <a:t>for ₹68.5 L of scope (ex-GST). Grid at ₹900/m², 23% below the 2025 trial price.</a:t>
            </a:r>
            <a:endParaRPr lang="en-US" sz="1400" dirty="0"/>
          </a:p>
          <a:p>
            <a:pPr indent="0" marL="0">
              <a:spcAft>
                <a:spcPts val="400"/>
              </a:spcAft>
              <a:buNone/>
            </a:pPr>
            <a:r>
              <a:rPr lang="en-US" sz="800" dirty="0">
                <a:solidFill>
                  <a:schemeClr val="tx1"/>
                </a:solidFill>
              </a:rPr>
              <a:t> </a:t>
            </a:r>
            <a:endParaRPr lang="en-US" sz="1400" dirty="0"/>
          </a:p>
          <a:p>
            <a:pPr indent="0" marL="0">
              <a:spcAft>
                <a:spcPts val="400"/>
              </a:spcAft>
              <a:buNone/>
            </a:pPr>
            <a:r>
              <a:rPr lang="en-US" sz="1400" b="1" dirty="0">
                <a:solidFill>
                  <a:schemeClr val="tx1"/>
                </a:solidFill>
              </a:rPr>
              <a:t>Decision at 12 months</a:t>
            </a:r>
            <a:endParaRPr lang="en-US" sz="1400" dirty="0"/>
          </a:p>
          <a:p>
            <a:pPr indent="0" marL="0">
              <a:spcAft>
                <a:spcPts val="400"/>
              </a:spcAft>
              <a:buNone/>
            </a:pPr>
            <a:r>
              <a:rPr lang="en-US" sz="1400" dirty="0">
                <a:solidFill>
                  <a:schemeClr val="tx1"/>
                </a:solidFill>
              </a:rPr>
              <a:t>If the measures are met, ₹900/m² is held for a park-wide 12-month rate contract.</a:t>
            </a:r>
            <a:endParaRPr lang="en-US" sz="1400" dirty="0"/>
          </a:p>
        </p:txBody>
      </p:sp>
      <p:sp>
        <p:nvSpPr>
          <p:cNvPr id="23" name="source"/>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Base case of the companion model (GridMats_Reliance_Solar_CostBenefit_Model.xlsx). Money ex-GST, 2026 prices, 10% discount rate.</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Kutch is being built now, on roads</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Every block needs its roads before a single module goes up, and the choice of road shows up in O&amp;M for 25 years.</a:t>
            </a:r>
            <a:endParaRPr lang="en-US" sz="1600" dirty="0"/>
          </a:p>
        </p:txBody>
      </p:sp>
      <p:sp>
        <p:nvSpPr>
          <p:cNvPr id="4" name="fact-card"/>
          <p:cNvSpPr/>
          <p:nvPr/>
        </p:nvSpPr>
        <p:spPr>
          <a:xfrm>
            <a:off x="548640" y="1783080"/>
            <a:ext cx="2697480" cy="1645920"/>
          </a:xfrm>
          <a:prstGeom prst="roundRect">
            <a:avLst>
              <a:gd name="adj" fmla="val 4444"/>
            </a:avLst>
          </a:prstGeom>
          <a:solidFill>
            <a:schemeClr val="bg2"/>
          </a:solidFill>
          <a:ln w="12700">
            <a:solidFill>
              <a:schemeClr val="bg2"/>
            </a:solidFill>
            <a:prstDash val="solid"/>
          </a:ln>
        </p:spPr>
      </p:sp>
      <p:sp>
        <p:nvSpPr>
          <p:cNvPr id="5" name="stat-value"/>
          <p:cNvSpPr txBox="1"/>
          <p:nvPr/>
        </p:nvSpPr>
        <p:spPr>
          <a:xfrm>
            <a:off x="777240" y="1965960"/>
            <a:ext cx="2286000" cy="518160"/>
          </a:xfrm>
          <a:prstGeom prst="rect">
            <a:avLst/>
          </a:prstGeom>
          <a:noFill/>
          <a:ln/>
        </p:spPr>
        <p:txBody>
          <a:bodyPr wrap="square" lIns="0" tIns="0" rIns="0" bIns="0" rtlCol="0" anchor="b"/>
          <a:lstStyle/>
          <a:p>
            <a:pPr indent="0" marL="0">
              <a:buNone/>
            </a:pPr>
            <a:r>
              <a:rPr lang="en-US" sz="3400" b="1" dirty="0">
                <a:solidFill>
                  <a:schemeClr val="accent1"/>
                </a:solidFill>
              </a:rPr>
              <a:t>5.5 lakh</a:t>
            </a:r>
            <a:endParaRPr lang="en-US" sz="3400" dirty="0"/>
          </a:p>
        </p:txBody>
      </p:sp>
      <p:sp>
        <p:nvSpPr>
          <p:cNvPr id="6" name="stat-label"/>
          <p:cNvSpPr txBox="1"/>
          <p:nvPr/>
        </p:nvSpPr>
        <p:spPr>
          <a:xfrm>
            <a:off x="777240" y="2529840"/>
            <a:ext cx="2286000" cy="566928"/>
          </a:xfrm>
          <a:prstGeom prst="rect">
            <a:avLst/>
          </a:prstGeom>
          <a:noFill/>
          <a:ln/>
        </p:spPr>
        <p:txBody>
          <a:bodyPr wrap="square" lIns="0" tIns="0" rIns="0" bIns="0" rtlCol="0" anchor="t"/>
          <a:lstStyle/>
          <a:p>
            <a:pPr indent="0" marL="0">
              <a:buNone/>
            </a:pPr>
            <a:r>
              <a:rPr lang="en-US" sz="1300" dirty="0">
                <a:solidFill>
                  <a:schemeClr val="tx2"/>
                </a:solidFill>
              </a:rPr>
              <a:t>acres at Kutch for Reliance's renewable giga-project</a:t>
            </a:r>
            <a:endParaRPr lang="en-US" sz="1300" dirty="0"/>
          </a:p>
        </p:txBody>
      </p:sp>
      <p:sp>
        <p:nvSpPr>
          <p:cNvPr id="7" name="fact-card"/>
          <p:cNvSpPr/>
          <p:nvPr/>
        </p:nvSpPr>
        <p:spPr>
          <a:xfrm>
            <a:off x="3474720" y="1783080"/>
            <a:ext cx="2697480" cy="1645920"/>
          </a:xfrm>
          <a:prstGeom prst="roundRect">
            <a:avLst>
              <a:gd name="adj" fmla="val 4444"/>
            </a:avLst>
          </a:prstGeom>
          <a:solidFill>
            <a:schemeClr val="bg2"/>
          </a:solidFill>
          <a:ln w="12700">
            <a:solidFill>
              <a:schemeClr val="bg2"/>
            </a:solidFill>
            <a:prstDash val="solid"/>
          </a:ln>
        </p:spPr>
      </p:sp>
      <p:sp>
        <p:nvSpPr>
          <p:cNvPr id="8" name="stat-value"/>
          <p:cNvSpPr txBox="1"/>
          <p:nvPr/>
        </p:nvSpPr>
        <p:spPr>
          <a:xfrm>
            <a:off x="3703320" y="1965960"/>
            <a:ext cx="2286000" cy="518160"/>
          </a:xfrm>
          <a:prstGeom prst="rect">
            <a:avLst/>
          </a:prstGeom>
          <a:noFill/>
          <a:ln/>
        </p:spPr>
        <p:txBody>
          <a:bodyPr wrap="square" lIns="0" tIns="0" rIns="0" bIns="0" rtlCol="0" anchor="b"/>
          <a:lstStyle/>
          <a:p>
            <a:pPr indent="0" marL="0">
              <a:buNone/>
            </a:pPr>
            <a:r>
              <a:rPr lang="en-US" sz="3400" b="1" dirty="0">
                <a:solidFill>
                  <a:schemeClr val="accent1"/>
                </a:solidFill>
              </a:rPr>
              <a:t>&gt;40 bn</a:t>
            </a:r>
            <a:endParaRPr lang="en-US" sz="3400" dirty="0"/>
          </a:p>
        </p:txBody>
      </p:sp>
      <p:sp>
        <p:nvSpPr>
          <p:cNvPr id="9" name="stat-label"/>
          <p:cNvSpPr txBox="1"/>
          <p:nvPr/>
        </p:nvSpPr>
        <p:spPr>
          <a:xfrm>
            <a:off x="3703320" y="2529840"/>
            <a:ext cx="2286000" cy="566928"/>
          </a:xfrm>
          <a:prstGeom prst="rect">
            <a:avLst/>
          </a:prstGeom>
          <a:noFill/>
          <a:ln/>
        </p:spPr>
        <p:txBody>
          <a:bodyPr wrap="square" lIns="0" tIns="0" rIns="0" bIns="0" rtlCol="0" anchor="t"/>
          <a:lstStyle/>
          <a:p>
            <a:pPr indent="0" marL="0">
              <a:buNone/>
            </a:pPr>
            <a:r>
              <a:rPr lang="en-US" sz="1300" dirty="0">
                <a:solidFill>
                  <a:schemeClr val="tx2"/>
                </a:solidFill>
              </a:rPr>
              <a:t>kWh a year planned output, about 3% of India's demand</a:t>
            </a:r>
            <a:endParaRPr lang="en-US" sz="1300" dirty="0"/>
          </a:p>
        </p:txBody>
      </p:sp>
      <p:sp>
        <p:nvSpPr>
          <p:cNvPr id="10" name="fact-card"/>
          <p:cNvSpPr/>
          <p:nvPr/>
        </p:nvSpPr>
        <p:spPr>
          <a:xfrm>
            <a:off x="548640" y="3657600"/>
            <a:ext cx="2697480" cy="1645920"/>
          </a:xfrm>
          <a:prstGeom prst="roundRect">
            <a:avLst>
              <a:gd name="adj" fmla="val 4444"/>
            </a:avLst>
          </a:prstGeom>
          <a:solidFill>
            <a:schemeClr val="bg2"/>
          </a:solidFill>
          <a:ln w="12700">
            <a:solidFill>
              <a:schemeClr val="bg2"/>
            </a:solidFill>
            <a:prstDash val="solid"/>
          </a:ln>
        </p:spPr>
      </p:sp>
      <p:sp>
        <p:nvSpPr>
          <p:cNvPr id="11" name="stat-value"/>
          <p:cNvSpPr txBox="1"/>
          <p:nvPr/>
        </p:nvSpPr>
        <p:spPr>
          <a:xfrm>
            <a:off x="777240" y="3840480"/>
            <a:ext cx="2286000" cy="518160"/>
          </a:xfrm>
          <a:prstGeom prst="rect">
            <a:avLst/>
          </a:prstGeom>
          <a:noFill/>
          <a:ln/>
        </p:spPr>
        <p:txBody>
          <a:bodyPr wrap="square" lIns="0" tIns="0" rIns="0" bIns="0" rtlCol="0" anchor="b"/>
          <a:lstStyle/>
          <a:p>
            <a:pPr indent="0" marL="0">
              <a:buNone/>
            </a:pPr>
            <a:r>
              <a:rPr lang="en-US" sz="3400" b="1" dirty="0">
                <a:solidFill>
                  <a:schemeClr val="accent1"/>
                </a:solidFill>
              </a:rPr>
              <a:t>55 MWp</a:t>
            </a:r>
            <a:endParaRPr lang="en-US" sz="3400" dirty="0"/>
          </a:p>
        </p:txBody>
      </p:sp>
      <p:sp>
        <p:nvSpPr>
          <p:cNvPr id="12" name="stat-label"/>
          <p:cNvSpPr txBox="1"/>
          <p:nvPr/>
        </p:nvSpPr>
        <p:spPr>
          <a:xfrm>
            <a:off x="777240" y="4404360"/>
            <a:ext cx="2286000" cy="566928"/>
          </a:xfrm>
          <a:prstGeom prst="rect">
            <a:avLst/>
          </a:prstGeom>
          <a:noFill/>
          <a:ln/>
        </p:spPr>
        <p:txBody>
          <a:bodyPr wrap="square" lIns="0" tIns="0" rIns="0" bIns="0" rtlCol="0" anchor="t"/>
          <a:lstStyle/>
          <a:p>
            <a:pPr indent="0" marL="0">
              <a:buNone/>
            </a:pPr>
            <a:r>
              <a:rPr lang="en-US" sz="1300" dirty="0">
                <a:solidFill>
                  <a:schemeClr val="tx2"/>
                </a:solidFill>
              </a:rPr>
              <a:t>of modules a day at peak installation</a:t>
            </a:r>
            <a:endParaRPr lang="en-US" sz="1300" dirty="0"/>
          </a:p>
        </p:txBody>
      </p:sp>
      <p:sp>
        <p:nvSpPr>
          <p:cNvPr id="13" name="fact-card"/>
          <p:cNvSpPr/>
          <p:nvPr/>
        </p:nvSpPr>
        <p:spPr>
          <a:xfrm>
            <a:off x="3474720" y="3657600"/>
            <a:ext cx="2697480" cy="1645920"/>
          </a:xfrm>
          <a:prstGeom prst="roundRect">
            <a:avLst>
              <a:gd name="adj" fmla="val 4444"/>
            </a:avLst>
          </a:prstGeom>
          <a:solidFill>
            <a:schemeClr val="bg2"/>
          </a:solidFill>
          <a:ln w="12700">
            <a:solidFill>
              <a:schemeClr val="bg2"/>
            </a:solidFill>
            <a:prstDash val="solid"/>
          </a:ln>
        </p:spPr>
      </p:sp>
      <p:sp>
        <p:nvSpPr>
          <p:cNvPr id="14" name="stat-value"/>
          <p:cNvSpPr txBox="1"/>
          <p:nvPr/>
        </p:nvSpPr>
        <p:spPr>
          <a:xfrm>
            <a:off x="3703320" y="3840480"/>
            <a:ext cx="2286000" cy="518160"/>
          </a:xfrm>
          <a:prstGeom prst="rect">
            <a:avLst/>
          </a:prstGeom>
          <a:noFill/>
          <a:ln/>
        </p:spPr>
        <p:txBody>
          <a:bodyPr wrap="square" lIns="0" tIns="0" rIns="0" bIns="0" rtlCol="0" anchor="b"/>
          <a:lstStyle/>
          <a:p>
            <a:pPr indent="0" marL="0">
              <a:buNone/>
            </a:pPr>
            <a:r>
              <a:rPr lang="en-US" sz="3400" b="1" dirty="0">
                <a:solidFill>
                  <a:schemeClr val="accent1"/>
                </a:solidFill>
              </a:rPr>
              <a:t>8-12 km</a:t>
            </a:r>
            <a:endParaRPr lang="en-US" sz="3400" dirty="0"/>
          </a:p>
        </p:txBody>
      </p:sp>
      <p:sp>
        <p:nvSpPr>
          <p:cNvPr id="15" name="stat-label"/>
          <p:cNvSpPr txBox="1"/>
          <p:nvPr/>
        </p:nvSpPr>
        <p:spPr>
          <a:xfrm>
            <a:off x="3703320" y="4404360"/>
            <a:ext cx="2286000" cy="566928"/>
          </a:xfrm>
          <a:prstGeom prst="rect">
            <a:avLst/>
          </a:prstGeom>
          <a:noFill/>
          <a:ln/>
        </p:spPr>
        <p:txBody>
          <a:bodyPr wrap="square" lIns="0" tIns="0" rIns="0" bIns="0" rtlCol="0" anchor="t"/>
          <a:lstStyle/>
          <a:p>
            <a:pPr indent="0" marL="0">
              <a:buNone/>
            </a:pPr>
            <a:r>
              <a:rPr lang="en-US" sz="1300" dirty="0">
                <a:solidFill>
                  <a:schemeClr val="tx2"/>
                </a:solidFill>
              </a:rPr>
              <a:t>of internal road for every 100 MW of solar</a:t>
            </a:r>
            <a:endParaRPr lang="en-US" sz="1300" dirty="0"/>
          </a:p>
        </p:txBody>
      </p:sp>
      <p:sp>
        <p:nvSpPr>
          <p:cNvPr id="16" name="Text 14"/>
          <p:cNvSpPr txBox="1"/>
          <p:nvPr/>
        </p:nvSpPr>
        <p:spPr>
          <a:xfrm>
            <a:off x="6629400" y="1783080"/>
            <a:ext cx="5029200" cy="365760"/>
          </a:xfrm>
          <a:prstGeom prst="rect">
            <a:avLst/>
          </a:prstGeom>
          <a:noFill/>
          <a:ln/>
        </p:spPr>
        <p:txBody>
          <a:bodyPr wrap="square" lIns="0" tIns="0" rIns="0" bIns="0" rtlCol="0" anchor="t"/>
          <a:lstStyle/>
          <a:p>
            <a:pPr indent="0" marL="0">
              <a:buNone/>
            </a:pPr>
            <a:r>
              <a:rPr lang="en-US" sz="1800" b="1" dirty="0">
                <a:solidFill>
                  <a:schemeClr val="tx1"/>
                </a:solidFill>
              </a:rPr>
              <a:t>What conventional roads cost a solar park</a:t>
            </a:r>
            <a:endParaRPr lang="en-US" sz="1800" dirty="0"/>
          </a:p>
        </p:txBody>
      </p:sp>
      <p:sp>
        <p:nvSpPr>
          <p:cNvPr id="17" name="hex-FaWind"/>
          <p:cNvSpPr/>
          <p:nvPr/>
        </p:nvSpPr>
        <p:spPr>
          <a:xfrm>
            <a:off x="6629400" y="2331720"/>
            <a:ext cx="548640" cy="482803"/>
          </a:xfrm>
          <a:prstGeom prst="hexagon">
            <a:avLst/>
          </a:prstGeom>
          <a:solidFill>
            <a:schemeClr val="tx2"/>
          </a:solidFill>
          <a:ln w="12700">
            <a:solidFill>
              <a:schemeClr val="tx2"/>
            </a:solidFill>
            <a:prstDash val="solid"/>
          </a:ln>
        </p:spPr>
      </p:sp>
      <p:pic>
        <p:nvPicPr>
          <p:cNvPr id="18" name="Image 0" descr="Wind">    </p:cNvPr>
          <p:cNvPicPr>
            <a:picLocks noChangeAspect="1"/>
          </p:cNvPicPr>
          <p:nvPr/>
        </p:nvPicPr>
        <p:blipFill>
          <a:blip r:embed="rId1"/>
          <a:stretch>
            <a:fillRect/>
          </a:stretch>
        </p:blipFill>
        <p:spPr>
          <a:xfrm>
            <a:off x="6777533" y="2446934"/>
            <a:ext cx="252374" cy="252374"/>
          </a:xfrm>
          <a:prstGeom prst="rect">
            <a:avLst/>
          </a:prstGeom>
        </p:spPr>
      </p:pic>
      <p:sp>
        <p:nvSpPr>
          <p:cNvPr id="19" name="Text 16"/>
          <p:cNvSpPr txBox="1"/>
          <p:nvPr/>
        </p:nvSpPr>
        <p:spPr>
          <a:xfrm>
            <a:off x="7360920" y="2350008"/>
            <a:ext cx="4297680" cy="685800"/>
          </a:xfrm>
          <a:prstGeom prst="rect">
            <a:avLst/>
          </a:prstGeom>
          <a:noFill/>
          <a:ln/>
        </p:spPr>
        <p:txBody>
          <a:bodyPr wrap="square" lIns="0" tIns="0" rIns="0" bIns="0" rtlCol="0" anchor="t"/>
          <a:lstStyle/>
          <a:p>
            <a:pPr indent="0" marL="0">
              <a:buNone/>
            </a:pPr>
            <a:r>
              <a:rPr lang="en-US" sz="1400" b="1" dirty="0">
                <a:solidFill>
                  <a:schemeClr val="tx1"/>
                </a:solidFill>
              </a:rPr>
              <a:t>WBM / gravel: </a:t>
            </a:r>
            <a:pPr indent="0" marL="0">
              <a:buNone/>
            </a:pPr>
            <a:r>
              <a:rPr lang="en-US" sz="1400" dirty="0">
                <a:solidFill>
                  <a:schemeClr val="tx1"/>
                </a:solidFill>
              </a:rPr>
              <a:t>ruts, washes out and raises dust; regraded every monsoon</a:t>
            </a:r>
            <a:endParaRPr lang="en-US" sz="1400" dirty="0"/>
          </a:p>
        </p:txBody>
      </p:sp>
      <p:sp>
        <p:nvSpPr>
          <p:cNvPr id="20" name="hex-FaClock"/>
          <p:cNvSpPr/>
          <p:nvPr/>
        </p:nvSpPr>
        <p:spPr>
          <a:xfrm>
            <a:off x="6629400" y="3227832"/>
            <a:ext cx="548640" cy="482803"/>
          </a:xfrm>
          <a:prstGeom prst="hexagon">
            <a:avLst/>
          </a:prstGeom>
          <a:solidFill>
            <a:schemeClr val="tx2"/>
          </a:solidFill>
          <a:ln w="12700">
            <a:solidFill>
              <a:schemeClr val="tx2"/>
            </a:solidFill>
            <a:prstDash val="solid"/>
          </a:ln>
        </p:spPr>
      </p:sp>
      <p:pic>
        <p:nvPicPr>
          <p:cNvPr id="21" name="Image 1" descr="Clock">    </p:cNvPr>
          <p:cNvPicPr>
            <a:picLocks noChangeAspect="1"/>
          </p:cNvPicPr>
          <p:nvPr/>
        </p:nvPicPr>
        <p:blipFill>
          <a:blip r:embed="rId2"/>
          <a:stretch>
            <a:fillRect/>
          </a:stretch>
        </p:blipFill>
        <p:spPr>
          <a:xfrm>
            <a:off x="6777533" y="3343046"/>
            <a:ext cx="252374" cy="252374"/>
          </a:xfrm>
          <a:prstGeom prst="rect">
            <a:avLst/>
          </a:prstGeom>
        </p:spPr>
      </p:pic>
      <p:sp>
        <p:nvSpPr>
          <p:cNvPr id="22" name="Text 18"/>
          <p:cNvSpPr txBox="1"/>
          <p:nvPr/>
        </p:nvSpPr>
        <p:spPr>
          <a:xfrm>
            <a:off x="7360920" y="3246120"/>
            <a:ext cx="4297680" cy="685800"/>
          </a:xfrm>
          <a:prstGeom prst="rect">
            <a:avLst/>
          </a:prstGeom>
          <a:noFill/>
          <a:ln/>
        </p:spPr>
        <p:txBody>
          <a:bodyPr wrap="square" lIns="0" tIns="0" rIns="0" bIns="0" rtlCol="0" anchor="t"/>
          <a:lstStyle/>
          <a:p>
            <a:pPr indent="0" marL="0">
              <a:buNone/>
            </a:pPr>
            <a:r>
              <a:rPr lang="en-US" sz="1400" b="1" dirty="0">
                <a:solidFill>
                  <a:schemeClr val="tx1"/>
                </a:solidFill>
              </a:rPr>
              <a:t>Concrete: </a:t>
            </a:r>
            <a:pPr indent="0" marL="0">
              <a:buNone/>
            </a:pPr>
            <a:r>
              <a:rPr lang="en-US" sz="1400" dirty="0">
                <a:solidFill>
                  <a:schemeClr val="tx1"/>
                </a:solidFill>
              </a:rPr>
              <a:t>14-28 days of curing on the critical path</a:t>
            </a:r>
            <a:endParaRPr lang="en-US" sz="1400" dirty="0"/>
          </a:p>
        </p:txBody>
      </p:sp>
      <p:sp>
        <p:nvSpPr>
          <p:cNvPr id="23" name="hex-FaTools"/>
          <p:cNvSpPr/>
          <p:nvPr/>
        </p:nvSpPr>
        <p:spPr>
          <a:xfrm>
            <a:off x="6629400" y="4123944"/>
            <a:ext cx="548640" cy="482803"/>
          </a:xfrm>
          <a:prstGeom prst="hexagon">
            <a:avLst/>
          </a:prstGeom>
          <a:solidFill>
            <a:schemeClr val="tx2"/>
          </a:solidFill>
          <a:ln w="12700">
            <a:solidFill>
              <a:schemeClr val="tx2"/>
            </a:solidFill>
            <a:prstDash val="solid"/>
          </a:ln>
        </p:spPr>
      </p:sp>
      <p:pic>
        <p:nvPicPr>
          <p:cNvPr id="24" name="Image 2" descr="Tools">    </p:cNvPr>
          <p:cNvPicPr>
            <a:picLocks noChangeAspect="1"/>
          </p:cNvPicPr>
          <p:nvPr/>
        </p:nvPicPr>
        <p:blipFill>
          <a:blip r:embed="rId3"/>
          <a:stretch>
            <a:fillRect/>
          </a:stretch>
        </p:blipFill>
        <p:spPr>
          <a:xfrm>
            <a:off x="6777533" y="4239158"/>
            <a:ext cx="252374" cy="252374"/>
          </a:xfrm>
          <a:prstGeom prst="rect">
            <a:avLst/>
          </a:prstGeom>
        </p:spPr>
      </p:pic>
      <p:sp>
        <p:nvSpPr>
          <p:cNvPr id="25" name="Text 20"/>
          <p:cNvSpPr txBox="1"/>
          <p:nvPr/>
        </p:nvSpPr>
        <p:spPr>
          <a:xfrm>
            <a:off x="7360920" y="4142232"/>
            <a:ext cx="4297680" cy="685800"/>
          </a:xfrm>
          <a:prstGeom prst="rect">
            <a:avLst/>
          </a:prstGeom>
          <a:noFill/>
          <a:ln/>
        </p:spPr>
        <p:txBody>
          <a:bodyPr wrap="square" lIns="0" tIns="0" rIns="0" bIns="0" rtlCol="0" anchor="t"/>
          <a:lstStyle/>
          <a:p>
            <a:pPr indent="0" marL="0">
              <a:buNone/>
            </a:pPr>
            <a:r>
              <a:rPr lang="en-US" sz="1400" b="1" dirty="0">
                <a:solidFill>
                  <a:schemeClr val="tx1"/>
                </a:solidFill>
              </a:rPr>
              <a:t>Bitumen: </a:t>
            </a:r>
            <a:pPr indent="0" marL="0">
              <a:buNone/>
            </a:pPr>
            <a:r>
              <a:rPr lang="en-US" sz="1400" dirty="0">
                <a:solidFill>
                  <a:schemeClr val="tx1"/>
                </a:solidFill>
              </a:rPr>
              <a:t>hot mix on site; renewal every 4-6 years</a:t>
            </a:r>
            <a:endParaRPr lang="en-US" sz="1400" dirty="0"/>
          </a:p>
        </p:txBody>
      </p:sp>
      <p:sp>
        <p:nvSpPr>
          <p:cNvPr id="26" name="hex-FaSun"/>
          <p:cNvSpPr/>
          <p:nvPr/>
        </p:nvSpPr>
        <p:spPr>
          <a:xfrm>
            <a:off x="6629400" y="5020056"/>
            <a:ext cx="548640" cy="482803"/>
          </a:xfrm>
          <a:prstGeom prst="hexagon">
            <a:avLst/>
          </a:prstGeom>
          <a:solidFill>
            <a:schemeClr val="tx2"/>
          </a:solidFill>
          <a:ln w="12700">
            <a:solidFill>
              <a:schemeClr val="tx2"/>
            </a:solidFill>
            <a:prstDash val="solid"/>
          </a:ln>
        </p:spPr>
      </p:sp>
      <p:pic>
        <p:nvPicPr>
          <p:cNvPr id="27" name="Image 3" descr="Sun">    </p:cNvPr>
          <p:cNvPicPr>
            <a:picLocks noChangeAspect="1"/>
          </p:cNvPicPr>
          <p:nvPr/>
        </p:nvPicPr>
        <p:blipFill>
          <a:blip r:embed="rId4"/>
          <a:stretch>
            <a:fillRect/>
          </a:stretch>
        </p:blipFill>
        <p:spPr>
          <a:xfrm>
            <a:off x="6777533" y="5135270"/>
            <a:ext cx="252374" cy="252374"/>
          </a:xfrm>
          <a:prstGeom prst="rect">
            <a:avLst/>
          </a:prstGeom>
        </p:spPr>
      </p:pic>
      <p:sp>
        <p:nvSpPr>
          <p:cNvPr id="28" name="Text 22"/>
          <p:cNvSpPr txBox="1"/>
          <p:nvPr/>
        </p:nvSpPr>
        <p:spPr>
          <a:xfrm>
            <a:off x="7360920" y="5038344"/>
            <a:ext cx="4297680" cy="685800"/>
          </a:xfrm>
          <a:prstGeom prst="rect">
            <a:avLst/>
          </a:prstGeom>
          <a:noFill/>
          <a:ln/>
        </p:spPr>
        <p:txBody>
          <a:bodyPr wrap="square" lIns="0" tIns="0" rIns="0" bIns="0" rtlCol="0" anchor="t"/>
          <a:lstStyle/>
          <a:p>
            <a:pPr indent="0" marL="0">
              <a:buNone/>
            </a:pPr>
            <a:r>
              <a:rPr lang="en-US" sz="1400" b="1" dirty="0">
                <a:solidFill>
                  <a:schemeClr val="tx1"/>
                </a:solidFill>
              </a:rPr>
              <a:t>Dust on modules: </a:t>
            </a:r>
            <a:pPr indent="0" marL="0">
              <a:buNone/>
            </a:pPr>
            <a:r>
              <a:rPr lang="en-US" sz="1400" dirty="0">
                <a:solidFill>
                  <a:schemeClr val="tx1"/>
                </a:solidFill>
              </a:rPr>
              <a:t>West-India soiling 0.3-0.5% a day in the dry season</a:t>
            </a:r>
            <a:endParaRPr lang="en-US" sz="1400" dirty="0"/>
          </a:p>
        </p:txBody>
      </p:sp>
      <p:sp>
        <p:nvSpPr>
          <p:cNvPr id="29" name="source"/>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Reliance AGM 2026 as reported (BusinessToday, 19 Jun 2026); GridMats solar and wind parks flier; IRC:82-2015; soiling studies (Gandhinagar 0.37%/day).</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Already proven on Reliance ground</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Reliance New Energy, Z2 block, Kutch: GridMats OC-HD 40 access road on saline, low-CBR ground (ordered Sep 2025).</a:t>
            </a:r>
            <a:endParaRPr lang="en-US" sz="1600" dirty="0"/>
          </a:p>
        </p:txBody>
      </p:sp>
      <p:sp>
        <p:nvSpPr>
          <p:cNvPr id="4" name="hex-FaLayerGroup"/>
          <p:cNvSpPr/>
          <p:nvPr/>
        </p:nvSpPr>
        <p:spPr>
          <a:xfrm>
            <a:off x="932688" y="1783080"/>
            <a:ext cx="603504" cy="531084"/>
          </a:xfrm>
          <a:prstGeom prst="hexagon">
            <a:avLst/>
          </a:prstGeom>
          <a:solidFill>
            <a:schemeClr val="accent1"/>
          </a:solidFill>
          <a:ln w="12700">
            <a:solidFill>
              <a:schemeClr val="accent1"/>
            </a:solidFill>
            <a:prstDash val="solid"/>
          </a:ln>
        </p:spPr>
      </p:sp>
      <p:pic>
        <p:nvPicPr>
          <p:cNvPr id="5" name="Image 0" descr="LayerGroup">    </p:cNvPr>
          <p:cNvPicPr>
            <a:picLocks noChangeAspect="1"/>
          </p:cNvPicPr>
          <p:nvPr/>
        </p:nvPicPr>
        <p:blipFill>
          <a:blip r:embed="rId1"/>
          <a:stretch>
            <a:fillRect/>
          </a:stretch>
        </p:blipFill>
        <p:spPr>
          <a:xfrm>
            <a:off x="1095634" y="1909816"/>
            <a:ext cx="277612" cy="277612"/>
          </a:xfrm>
          <a:prstGeom prst="rect">
            <a:avLst/>
          </a:prstGeom>
        </p:spPr>
      </p:pic>
      <p:sp>
        <p:nvSpPr>
          <p:cNvPr id="6" name="Text 3"/>
          <p:cNvSpPr txBox="1"/>
          <p:nvPr/>
        </p:nvSpPr>
        <p:spPr>
          <a:xfrm>
            <a:off x="548640" y="2468880"/>
            <a:ext cx="1371600" cy="411480"/>
          </a:xfrm>
          <a:prstGeom prst="rect">
            <a:avLst/>
          </a:prstGeom>
          <a:noFill/>
          <a:ln/>
        </p:spPr>
        <p:txBody>
          <a:bodyPr wrap="square" lIns="0" tIns="0" rIns="0" bIns="0" rtlCol="0" anchor="t"/>
          <a:lstStyle/>
          <a:p>
            <a:pPr algn="ctr" indent="0" marL="0">
              <a:buNone/>
            </a:pPr>
            <a:r>
              <a:rPr lang="en-US" sz="2000" b="1" dirty="0">
                <a:solidFill>
                  <a:schemeClr val="accent1"/>
                </a:solidFill>
              </a:rPr>
              <a:t>2,000 m²</a:t>
            </a:r>
            <a:endParaRPr lang="en-US" sz="2000" dirty="0"/>
          </a:p>
        </p:txBody>
      </p:sp>
      <p:sp>
        <p:nvSpPr>
          <p:cNvPr id="7" name="Text 4"/>
          <p:cNvSpPr txBox="1"/>
          <p:nvPr/>
        </p:nvSpPr>
        <p:spPr>
          <a:xfrm>
            <a:off x="548640" y="2880360"/>
            <a:ext cx="1371600" cy="822960"/>
          </a:xfrm>
          <a:prstGeom prst="rect">
            <a:avLst/>
          </a:prstGeom>
          <a:noFill/>
          <a:ln/>
        </p:spPr>
        <p:txBody>
          <a:bodyPr wrap="square" lIns="0" tIns="0" rIns="0" bIns="0" rtlCol="0" anchor="t"/>
          <a:lstStyle/>
          <a:p>
            <a:pPr algn="ctr" indent="0" marL="0">
              <a:buNone/>
            </a:pPr>
            <a:r>
              <a:rPr lang="en-US" sz="1200" dirty="0">
                <a:solidFill>
                  <a:schemeClr val="tx2"/>
                </a:solidFill>
              </a:rPr>
              <a:t>OC-HD 40 grid on 200 gsm geotextile</a:t>
            </a:r>
            <a:endParaRPr lang="en-US" sz="1200" dirty="0"/>
          </a:p>
        </p:txBody>
      </p:sp>
      <p:sp>
        <p:nvSpPr>
          <p:cNvPr id="8" name="hex-FaFlask"/>
          <p:cNvSpPr/>
          <p:nvPr/>
        </p:nvSpPr>
        <p:spPr>
          <a:xfrm>
            <a:off x="2414016" y="1783080"/>
            <a:ext cx="603504" cy="531084"/>
          </a:xfrm>
          <a:prstGeom prst="hexagon">
            <a:avLst/>
          </a:prstGeom>
          <a:solidFill>
            <a:schemeClr val="accent1"/>
          </a:solidFill>
          <a:ln w="12700">
            <a:solidFill>
              <a:schemeClr val="accent1"/>
            </a:solidFill>
            <a:prstDash val="solid"/>
          </a:ln>
        </p:spPr>
      </p:sp>
      <p:pic>
        <p:nvPicPr>
          <p:cNvPr id="9" name="Image 1" descr="Flask">    </p:cNvPr>
          <p:cNvPicPr>
            <a:picLocks noChangeAspect="1"/>
          </p:cNvPicPr>
          <p:nvPr/>
        </p:nvPicPr>
        <p:blipFill>
          <a:blip r:embed="rId2"/>
          <a:stretch>
            <a:fillRect/>
          </a:stretch>
        </p:blipFill>
        <p:spPr>
          <a:xfrm>
            <a:off x="2576962" y="1909816"/>
            <a:ext cx="277612" cy="277612"/>
          </a:xfrm>
          <a:prstGeom prst="rect">
            <a:avLst/>
          </a:prstGeom>
        </p:spPr>
      </p:pic>
      <p:sp>
        <p:nvSpPr>
          <p:cNvPr id="10" name="Text 6"/>
          <p:cNvSpPr txBox="1"/>
          <p:nvPr/>
        </p:nvSpPr>
        <p:spPr>
          <a:xfrm>
            <a:off x="2029968" y="2468880"/>
            <a:ext cx="1371600" cy="411480"/>
          </a:xfrm>
          <a:prstGeom prst="rect">
            <a:avLst/>
          </a:prstGeom>
          <a:noFill/>
          <a:ln/>
        </p:spPr>
        <p:txBody>
          <a:bodyPr wrap="square" lIns="0" tIns="0" rIns="0" bIns="0" rtlCol="0" anchor="t"/>
          <a:lstStyle/>
          <a:p>
            <a:pPr algn="ctr" indent="0" marL="0">
              <a:buNone/>
            </a:pPr>
            <a:r>
              <a:rPr lang="en-US" sz="2000" b="1" dirty="0">
                <a:solidFill>
                  <a:schemeClr val="accent1"/>
                </a:solidFill>
              </a:rPr>
              <a:t>IITPAVE</a:t>
            </a:r>
            <a:endParaRPr lang="en-US" sz="2000" dirty="0"/>
          </a:p>
        </p:txBody>
      </p:sp>
      <p:sp>
        <p:nvSpPr>
          <p:cNvPr id="11" name="Text 7"/>
          <p:cNvSpPr txBox="1"/>
          <p:nvPr/>
        </p:nvSpPr>
        <p:spPr>
          <a:xfrm>
            <a:off x="2029968" y="2880360"/>
            <a:ext cx="1371600" cy="822960"/>
          </a:xfrm>
          <a:prstGeom prst="rect">
            <a:avLst/>
          </a:prstGeom>
          <a:noFill/>
          <a:ln/>
        </p:spPr>
        <p:txBody>
          <a:bodyPr wrap="square" lIns="0" tIns="0" rIns="0" bIns="0" rtlCol="0" anchor="t"/>
          <a:lstStyle/>
          <a:p>
            <a:pPr algn="ctr" indent="0" marL="0">
              <a:buNone/>
            </a:pPr>
            <a:r>
              <a:rPr lang="en-US" sz="1200" dirty="0">
                <a:solidFill>
                  <a:schemeClr val="tx2"/>
                </a:solidFill>
              </a:rPr>
              <a:t>designed for CBR 3-5% saline subgrade</a:t>
            </a:r>
            <a:endParaRPr lang="en-US" sz="1200" dirty="0"/>
          </a:p>
        </p:txBody>
      </p:sp>
      <p:sp>
        <p:nvSpPr>
          <p:cNvPr id="12" name="hex-FaHardHat"/>
          <p:cNvSpPr/>
          <p:nvPr/>
        </p:nvSpPr>
        <p:spPr>
          <a:xfrm>
            <a:off x="3895344" y="1783080"/>
            <a:ext cx="603504" cy="531084"/>
          </a:xfrm>
          <a:prstGeom prst="hexagon">
            <a:avLst/>
          </a:prstGeom>
          <a:solidFill>
            <a:schemeClr val="accent1"/>
          </a:solidFill>
          <a:ln w="12700">
            <a:solidFill>
              <a:schemeClr val="accent1"/>
            </a:solidFill>
            <a:prstDash val="solid"/>
          </a:ln>
        </p:spPr>
      </p:sp>
      <p:pic>
        <p:nvPicPr>
          <p:cNvPr id="13" name="Image 2" descr="HardHat">    </p:cNvPr>
          <p:cNvPicPr>
            <a:picLocks noChangeAspect="1"/>
          </p:cNvPicPr>
          <p:nvPr/>
        </p:nvPicPr>
        <p:blipFill>
          <a:blip r:embed="rId3"/>
          <a:stretch>
            <a:fillRect/>
          </a:stretch>
        </p:blipFill>
        <p:spPr>
          <a:xfrm>
            <a:off x="4058290" y="1909816"/>
            <a:ext cx="277612" cy="277612"/>
          </a:xfrm>
          <a:prstGeom prst="rect">
            <a:avLst/>
          </a:prstGeom>
        </p:spPr>
      </p:pic>
      <p:sp>
        <p:nvSpPr>
          <p:cNvPr id="14" name="Text 9"/>
          <p:cNvSpPr txBox="1"/>
          <p:nvPr/>
        </p:nvSpPr>
        <p:spPr>
          <a:xfrm>
            <a:off x="3511296" y="2468880"/>
            <a:ext cx="1371600" cy="411480"/>
          </a:xfrm>
          <a:prstGeom prst="rect">
            <a:avLst/>
          </a:prstGeom>
          <a:noFill/>
          <a:ln/>
        </p:spPr>
        <p:txBody>
          <a:bodyPr wrap="square" lIns="0" tIns="0" rIns="0" bIns="0" rtlCol="0" anchor="t"/>
          <a:lstStyle/>
          <a:p>
            <a:pPr algn="ctr" indent="0" marL="0">
              <a:buNone/>
            </a:pPr>
            <a:r>
              <a:rPr lang="en-US" sz="2000" b="1" dirty="0">
                <a:solidFill>
                  <a:schemeClr val="accent1"/>
                </a:solidFill>
              </a:rPr>
              <a:t>4 days</a:t>
            </a:r>
            <a:endParaRPr lang="en-US" sz="2000" dirty="0"/>
          </a:p>
        </p:txBody>
      </p:sp>
      <p:sp>
        <p:nvSpPr>
          <p:cNvPr id="15" name="Text 10"/>
          <p:cNvSpPr txBox="1"/>
          <p:nvPr/>
        </p:nvSpPr>
        <p:spPr>
          <a:xfrm>
            <a:off x="3511296" y="2880360"/>
            <a:ext cx="1371600" cy="822960"/>
          </a:xfrm>
          <a:prstGeom prst="rect">
            <a:avLst/>
          </a:prstGeom>
          <a:noFill/>
          <a:ln/>
        </p:spPr>
        <p:txBody>
          <a:bodyPr wrap="square" lIns="0" tIns="0" rIns="0" bIns="0" rtlCol="0" anchor="t"/>
          <a:lstStyle/>
          <a:p>
            <a:pPr algn="ctr" indent="0" marL="0">
              <a:buNone/>
            </a:pPr>
            <a:r>
              <a:rPr lang="en-US" sz="1200" dirty="0">
                <a:solidFill>
                  <a:schemeClr val="tx2"/>
                </a:solidFill>
              </a:rPr>
              <a:t>to train Reliance's own civil crew</a:t>
            </a:r>
            <a:endParaRPr lang="en-US" sz="1200" dirty="0"/>
          </a:p>
        </p:txBody>
      </p:sp>
      <p:sp>
        <p:nvSpPr>
          <p:cNvPr id="16" name="hex-FaTruck"/>
          <p:cNvSpPr/>
          <p:nvPr/>
        </p:nvSpPr>
        <p:spPr>
          <a:xfrm>
            <a:off x="5376672" y="1783080"/>
            <a:ext cx="603504" cy="531084"/>
          </a:xfrm>
          <a:prstGeom prst="hexagon">
            <a:avLst/>
          </a:prstGeom>
          <a:solidFill>
            <a:schemeClr val="accent1"/>
          </a:solidFill>
          <a:ln w="12700">
            <a:solidFill>
              <a:schemeClr val="accent1"/>
            </a:solidFill>
            <a:prstDash val="solid"/>
          </a:ln>
        </p:spPr>
      </p:sp>
      <p:pic>
        <p:nvPicPr>
          <p:cNvPr id="17" name="Image 3" descr="Truck">    </p:cNvPr>
          <p:cNvPicPr>
            <a:picLocks noChangeAspect="1"/>
          </p:cNvPicPr>
          <p:nvPr/>
        </p:nvPicPr>
        <p:blipFill>
          <a:blip r:embed="rId4"/>
          <a:stretch>
            <a:fillRect/>
          </a:stretch>
        </p:blipFill>
        <p:spPr>
          <a:xfrm>
            <a:off x="5539618" y="1909816"/>
            <a:ext cx="277612" cy="277612"/>
          </a:xfrm>
          <a:prstGeom prst="rect">
            <a:avLst/>
          </a:prstGeom>
        </p:spPr>
      </p:pic>
      <p:sp>
        <p:nvSpPr>
          <p:cNvPr id="18" name="Text 12"/>
          <p:cNvSpPr txBox="1"/>
          <p:nvPr/>
        </p:nvSpPr>
        <p:spPr>
          <a:xfrm>
            <a:off x="4992624" y="2468880"/>
            <a:ext cx="1371600" cy="411480"/>
          </a:xfrm>
          <a:prstGeom prst="rect">
            <a:avLst/>
          </a:prstGeom>
          <a:noFill/>
          <a:ln/>
        </p:spPr>
        <p:txBody>
          <a:bodyPr wrap="square" lIns="0" tIns="0" rIns="0" bIns="0" rtlCol="0" anchor="t"/>
          <a:lstStyle/>
          <a:p>
            <a:pPr algn="ctr" indent="0" marL="0">
              <a:buNone/>
            </a:pPr>
            <a:r>
              <a:rPr lang="en-US" sz="2000" b="1" dirty="0">
                <a:solidFill>
                  <a:schemeClr val="accent1"/>
                </a:solidFill>
              </a:rPr>
              <a:t>Same day</a:t>
            </a:r>
            <a:endParaRPr lang="en-US" sz="2000" dirty="0"/>
          </a:p>
        </p:txBody>
      </p:sp>
      <p:sp>
        <p:nvSpPr>
          <p:cNvPr id="19" name="Text 13"/>
          <p:cNvSpPr txBox="1"/>
          <p:nvPr/>
        </p:nvSpPr>
        <p:spPr>
          <a:xfrm>
            <a:off x="4992624" y="2880360"/>
            <a:ext cx="1371600" cy="822960"/>
          </a:xfrm>
          <a:prstGeom prst="rect">
            <a:avLst/>
          </a:prstGeom>
          <a:noFill/>
          <a:ln/>
        </p:spPr>
        <p:txBody>
          <a:bodyPr wrap="square" lIns="0" tIns="0" rIns="0" bIns="0" rtlCol="0" anchor="t"/>
          <a:lstStyle/>
          <a:p>
            <a:pPr algn="ctr" indent="0" marL="0">
              <a:buNone/>
            </a:pPr>
            <a:r>
              <a:rPr lang="en-US" sz="1200" dirty="0">
                <a:solidFill>
                  <a:schemeClr val="tx2"/>
                </a:solidFill>
              </a:rPr>
              <a:t>opened to traffic the day it was filled</a:t>
            </a:r>
            <a:endParaRPr lang="en-US" sz="1200" dirty="0"/>
          </a:p>
        </p:txBody>
      </p:sp>
      <p:sp>
        <p:nvSpPr>
          <p:cNvPr id="20" name="learn-card"/>
          <p:cNvSpPr/>
          <p:nvPr/>
        </p:nvSpPr>
        <p:spPr>
          <a:xfrm>
            <a:off x="548640" y="3977640"/>
            <a:ext cx="5806440" cy="1600200"/>
          </a:xfrm>
          <a:prstGeom prst="roundRect">
            <a:avLst>
              <a:gd name="adj" fmla="val 4571"/>
            </a:avLst>
          </a:prstGeom>
          <a:solidFill>
            <a:schemeClr val="bg2"/>
          </a:solidFill>
          <a:ln w="12700">
            <a:solidFill>
              <a:schemeClr val="bg2"/>
            </a:solidFill>
            <a:prstDash val="solid"/>
          </a:ln>
        </p:spPr>
      </p:sp>
      <p:sp>
        <p:nvSpPr>
          <p:cNvPr id="21" name="Text 15"/>
          <p:cNvSpPr txBox="1"/>
          <p:nvPr/>
        </p:nvSpPr>
        <p:spPr>
          <a:xfrm>
            <a:off x="777240" y="4114800"/>
            <a:ext cx="5349240" cy="1371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What the trial proved, and what it did not measure</a:t>
            </a:r>
            <a:endParaRPr lang="en-US" sz="1400" dirty="0"/>
          </a:p>
          <a:p>
            <a:pPr indent="0" marL="0">
              <a:spcAft>
                <a:spcPts val="400"/>
              </a:spcAft>
              <a:buNone/>
            </a:pPr>
            <a:r>
              <a:rPr lang="en-US" sz="1400" dirty="0">
                <a:solidFill>
                  <a:schemeClr val="tx1"/>
                </a:solidFill>
              </a:rPr>
              <a:t>It proved the build: Reliance's crew laid the grid and opened the road at once. It did not record rutting, dust or upkeep against a conventional section. The pilot adds exactly that, so the next decision rests on Reliance's own data.</a:t>
            </a:r>
            <a:endParaRPr lang="en-US" sz="1400" dirty="0"/>
          </a:p>
        </p:txBody>
      </p:sp>
      <p:sp>
        <p:nvSpPr>
          <p:cNvPr id="22" name="Text 16"/>
          <p:cNvSpPr txBox="1"/>
          <p:nvPr/>
        </p:nvSpPr>
        <p:spPr>
          <a:xfrm>
            <a:off x="6720840" y="1783080"/>
            <a:ext cx="4937760" cy="320040"/>
          </a:xfrm>
          <a:prstGeom prst="rect">
            <a:avLst/>
          </a:prstGeom>
          <a:noFill/>
          <a:ln/>
        </p:spPr>
        <p:txBody>
          <a:bodyPr wrap="square" lIns="0" tIns="0" rIns="0" bIns="0" rtlCol="0" anchor="t"/>
          <a:lstStyle/>
          <a:p>
            <a:pPr indent="0" marL="0">
              <a:buNone/>
            </a:pPr>
            <a:r>
              <a:rPr lang="en-US" sz="1400" b="1" dirty="0">
                <a:solidFill>
                  <a:schemeClr val="tx1"/>
                </a:solidFill>
              </a:rPr>
              <a:t>2025 design, CBR 5% section (GM/OC/HD-5/GR)</a:t>
            </a:r>
            <a:endParaRPr lang="en-US" sz="1400" dirty="0"/>
          </a:p>
        </p:txBody>
      </p:sp>
      <p:sp>
        <p:nvSpPr>
          <p:cNvPr id="23" name="layer"/>
          <p:cNvSpPr/>
          <p:nvPr/>
        </p:nvSpPr>
        <p:spPr>
          <a:xfrm>
            <a:off x="6720840" y="2240280"/>
            <a:ext cx="3291840" cy="384048"/>
          </a:xfrm>
          <a:prstGeom prst="rect">
            <a:avLst/>
          </a:prstGeom>
          <a:solidFill>
            <a:srgbClr val="C22935"/>
          </a:solidFill>
          <a:ln w="9525">
            <a:solidFill>
              <a:srgbClr val="FFFFFF"/>
            </a:solidFill>
            <a:prstDash val="solid"/>
          </a:ln>
        </p:spPr>
      </p:sp>
      <p:sp>
        <p:nvSpPr>
          <p:cNvPr id="24" name="Text 18"/>
          <p:cNvSpPr txBox="1"/>
          <p:nvPr/>
        </p:nvSpPr>
        <p:spPr>
          <a:xfrm>
            <a:off x="6812280" y="2240280"/>
            <a:ext cx="3108960" cy="384048"/>
          </a:xfrm>
          <a:prstGeom prst="rect">
            <a:avLst/>
          </a:prstGeom>
          <a:noFill/>
          <a:ln/>
        </p:spPr>
        <p:txBody>
          <a:bodyPr wrap="square" lIns="0" tIns="0" rIns="0" bIns="0" rtlCol="0" anchor="ctr"/>
          <a:lstStyle/>
          <a:p>
            <a:pPr indent="0" marL="0">
              <a:buNone/>
            </a:pPr>
            <a:r>
              <a:rPr lang="en-US" sz="1100" dirty="0">
                <a:solidFill>
                  <a:srgbClr val="FFFFFF"/>
                </a:solidFill>
              </a:rPr>
              <a:t>12 mm-down aggregate in 40 mm OC-HD grid</a:t>
            </a:r>
            <a:endParaRPr lang="en-US" sz="1100" dirty="0"/>
          </a:p>
        </p:txBody>
      </p:sp>
      <p:sp>
        <p:nvSpPr>
          <p:cNvPr id="25" name="Text 19"/>
          <p:cNvSpPr txBox="1"/>
          <p:nvPr/>
        </p:nvSpPr>
        <p:spPr>
          <a:xfrm>
            <a:off x="10149840" y="2286000"/>
            <a:ext cx="1554480" cy="292608"/>
          </a:xfrm>
          <a:prstGeom prst="rect">
            <a:avLst/>
          </a:prstGeom>
          <a:noFill/>
          <a:ln/>
        </p:spPr>
        <p:txBody>
          <a:bodyPr wrap="square" lIns="0" tIns="0" rIns="0" bIns="0" rtlCol="0" anchor="ctr"/>
          <a:lstStyle/>
          <a:p>
            <a:pPr indent="0" marL="0">
              <a:buNone/>
            </a:pPr>
            <a:r>
              <a:rPr lang="en-US" sz="1200" dirty="0">
                <a:solidFill>
                  <a:schemeClr val="tx2"/>
                </a:solidFill>
              </a:rPr>
              <a:t>70 mm</a:t>
            </a:r>
            <a:endParaRPr lang="en-US" sz="1200" dirty="0"/>
          </a:p>
        </p:txBody>
      </p:sp>
      <p:sp>
        <p:nvSpPr>
          <p:cNvPr id="26" name="layer"/>
          <p:cNvSpPr/>
          <p:nvPr/>
        </p:nvSpPr>
        <p:spPr>
          <a:xfrm>
            <a:off x="6720840" y="2624328"/>
            <a:ext cx="3291840" cy="868680"/>
          </a:xfrm>
          <a:prstGeom prst="rect">
            <a:avLst/>
          </a:prstGeom>
          <a:solidFill>
            <a:srgbClr val="B8B1A3"/>
          </a:solidFill>
          <a:ln w="9525">
            <a:solidFill>
              <a:srgbClr val="FFFFFF"/>
            </a:solidFill>
            <a:prstDash val="solid"/>
          </a:ln>
        </p:spPr>
      </p:sp>
      <p:sp>
        <p:nvSpPr>
          <p:cNvPr id="27" name="Text 21"/>
          <p:cNvSpPr txBox="1"/>
          <p:nvPr/>
        </p:nvSpPr>
        <p:spPr>
          <a:xfrm>
            <a:off x="6812280" y="2624328"/>
            <a:ext cx="3108960" cy="868680"/>
          </a:xfrm>
          <a:prstGeom prst="rect">
            <a:avLst/>
          </a:prstGeom>
          <a:noFill/>
          <a:ln/>
        </p:spPr>
        <p:txBody>
          <a:bodyPr wrap="square" lIns="0" tIns="0" rIns="0" bIns="0" rtlCol="0" anchor="ctr"/>
          <a:lstStyle/>
          <a:p>
            <a:pPr indent="0" marL="0">
              <a:buNone/>
            </a:pPr>
            <a:r>
              <a:rPr lang="en-US" sz="1100" dirty="0">
                <a:solidFill>
                  <a:srgbClr val="1A1A1A"/>
                </a:solidFill>
              </a:rPr>
              <a:t>Upper sub-base, 20-40 mm blended gravel</a:t>
            </a:r>
            <a:endParaRPr lang="en-US" sz="1100" dirty="0"/>
          </a:p>
        </p:txBody>
      </p:sp>
      <p:sp>
        <p:nvSpPr>
          <p:cNvPr id="28" name="Text 22"/>
          <p:cNvSpPr txBox="1"/>
          <p:nvPr/>
        </p:nvSpPr>
        <p:spPr>
          <a:xfrm>
            <a:off x="10149840" y="2912364"/>
            <a:ext cx="1554480" cy="292608"/>
          </a:xfrm>
          <a:prstGeom prst="rect">
            <a:avLst/>
          </a:prstGeom>
          <a:noFill/>
          <a:ln/>
        </p:spPr>
        <p:txBody>
          <a:bodyPr wrap="square" lIns="0" tIns="0" rIns="0" bIns="0" rtlCol="0" anchor="ctr"/>
          <a:lstStyle/>
          <a:p>
            <a:pPr indent="0" marL="0">
              <a:buNone/>
            </a:pPr>
            <a:r>
              <a:rPr lang="en-US" sz="1200" dirty="0">
                <a:solidFill>
                  <a:schemeClr val="tx2"/>
                </a:solidFill>
              </a:rPr>
              <a:t>300 mm</a:t>
            </a:r>
            <a:endParaRPr lang="en-US" sz="1200" dirty="0"/>
          </a:p>
        </p:txBody>
      </p:sp>
      <p:sp>
        <p:nvSpPr>
          <p:cNvPr id="29" name="layer"/>
          <p:cNvSpPr/>
          <p:nvPr/>
        </p:nvSpPr>
        <p:spPr>
          <a:xfrm>
            <a:off x="6720840" y="3493008"/>
            <a:ext cx="3291840" cy="640080"/>
          </a:xfrm>
          <a:prstGeom prst="rect">
            <a:avLst/>
          </a:prstGeom>
          <a:solidFill>
            <a:srgbClr val="CFC8B8"/>
          </a:solidFill>
          <a:ln w="9525">
            <a:solidFill>
              <a:srgbClr val="FFFFFF"/>
            </a:solidFill>
            <a:prstDash val="solid"/>
          </a:ln>
        </p:spPr>
      </p:sp>
      <p:sp>
        <p:nvSpPr>
          <p:cNvPr id="30" name="Text 24"/>
          <p:cNvSpPr txBox="1"/>
          <p:nvPr/>
        </p:nvSpPr>
        <p:spPr>
          <a:xfrm>
            <a:off x="6812280" y="3493008"/>
            <a:ext cx="3108960" cy="640080"/>
          </a:xfrm>
          <a:prstGeom prst="rect">
            <a:avLst/>
          </a:prstGeom>
          <a:noFill/>
          <a:ln/>
        </p:spPr>
        <p:txBody>
          <a:bodyPr wrap="square" lIns="0" tIns="0" rIns="0" bIns="0" rtlCol="0" anchor="ctr"/>
          <a:lstStyle/>
          <a:p>
            <a:pPr indent="0" marL="0">
              <a:buNone/>
            </a:pPr>
            <a:r>
              <a:rPr lang="en-US" sz="1100" dirty="0">
                <a:solidFill>
                  <a:srgbClr val="1A1A1A"/>
                </a:solidFill>
              </a:rPr>
              <a:t>GSB Grade II</a:t>
            </a:r>
            <a:endParaRPr lang="en-US" sz="1100" dirty="0"/>
          </a:p>
        </p:txBody>
      </p:sp>
      <p:sp>
        <p:nvSpPr>
          <p:cNvPr id="31" name="Text 25"/>
          <p:cNvSpPr txBox="1"/>
          <p:nvPr/>
        </p:nvSpPr>
        <p:spPr>
          <a:xfrm>
            <a:off x="10149840" y="3666744"/>
            <a:ext cx="1554480" cy="292608"/>
          </a:xfrm>
          <a:prstGeom prst="rect">
            <a:avLst/>
          </a:prstGeom>
          <a:noFill/>
          <a:ln/>
        </p:spPr>
        <p:txBody>
          <a:bodyPr wrap="square" lIns="0" tIns="0" rIns="0" bIns="0" rtlCol="0" anchor="ctr"/>
          <a:lstStyle/>
          <a:p>
            <a:pPr indent="0" marL="0">
              <a:buNone/>
            </a:pPr>
            <a:r>
              <a:rPr lang="en-US" sz="1200" dirty="0">
                <a:solidFill>
                  <a:schemeClr val="tx2"/>
                </a:solidFill>
              </a:rPr>
              <a:t>200 mm</a:t>
            </a:r>
            <a:endParaRPr lang="en-US" sz="1200" dirty="0"/>
          </a:p>
        </p:txBody>
      </p:sp>
      <p:sp>
        <p:nvSpPr>
          <p:cNvPr id="32" name="layer"/>
          <p:cNvSpPr/>
          <p:nvPr/>
        </p:nvSpPr>
        <p:spPr>
          <a:xfrm>
            <a:off x="6720840" y="4133088"/>
            <a:ext cx="3291840" cy="109728"/>
          </a:xfrm>
          <a:prstGeom prst="rect">
            <a:avLst/>
          </a:prstGeom>
          <a:solidFill>
            <a:srgbClr val="1A1A1A"/>
          </a:solidFill>
          <a:ln w="9525">
            <a:solidFill>
              <a:srgbClr val="FFFFFF"/>
            </a:solidFill>
            <a:prstDash val="solid"/>
          </a:ln>
        </p:spPr>
      </p:sp>
      <p:sp>
        <p:nvSpPr>
          <p:cNvPr id="33" name="Text 27"/>
          <p:cNvSpPr txBox="1"/>
          <p:nvPr/>
        </p:nvSpPr>
        <p:spPr>
          <a:xfrm>
            <a:off x="10149840" y="4041648"/>
            <a:ext cx="1554480" cy="292608"/>
          </a:xfrm>
          <a:prstGeom prst="rect">
            <a:avLst/>
          </a:prstGeom>
          <a:noFill/>
          <a:ln/>
        </p:spPr>
        <p:txBody>
          <a:bodyPr wrap="square" lIns="0" tIns="0" rIns="0" bIns="0" rtlCol="0" anchor="ctr"/>
          <a:lstStyle/>
          <a:p>
            <a:pPr indent="0" marL="0">
              <a:buNone/>
            </a:pPr>
            <a:r>
              <a:rPr lang="en-US" sz="1200" dirty="0">
                <a:solidFill>
                  <a:schemeClr val="tx2"/>
                </a:solidFill>
              </a:rPr>
              <a:t>200 gsm geofabric separator</a:t>
            </a:r>
            <a:endParaRPr lang="en-US" sz="1200" dirty="0"/>
          </a:p>
        </p:txBody>
      </p:sp>
      <p:sp>
        <p:nvSpPr>
          <p:cNvPr id="34" name="layer"/>
          <p:cNvSpPr/>
          <p:nvPr/>
        </p:nvSpPr>
        <p:spPr>
          <a:xfrm>
            <a:off x="6720840" y="4242816"/>
            <a:ext cx="3291840" cy="502920"/>
          </a:xfrm>
          <a:prstGeom prst="rect">
            <a:avLst/>
          </a:prstGeom>
          <a:solidFill>
            <a:srgbClr val="8C7B6B"/>
          </a:solidFill>
          <a:ln w="9525">
            <a:solidFill>
              <a:srgbClr val="FFFFFF"/>
            </a:solidFill>
            <a:prstDash val="solid"/>
          </a:ln>
        </p:spPr>
      </p:sp>
      <p:sp>
        <p:nvSpPr>
          <p:cNvPr id="35" name="Text 29"/>
          <p:cNvSpPr txBox="1"/>
          <p:nvPr/>
        </p:nvSpPr>
        <p:spPr>
          <a:xfrm>
            <a:off x="6812280" y="4242816"/>
            <a:ext cx="3108960" cy="502920"/>
          </a:xfrm>
          <a:prstGeom prst="rect">
            <a:avLst/>
          </a:prstGeom>
          <a:noFill/>
          <a:ln/>
        </p:spPr>
        <p:txBody>
          <a:bodyPr wrap="square" lIns="0" tIns="0" rIns="0" bIns="0" rtlCol="0" anchor="ctr"/>
          <a:lstStyle/>
          <a:p>
            <a:pPr indent="0" marL="0">
              <a:buNone/>
            </a:pPr>
            <a:r>
              <a:rPr lang="en-US" sz="1100" dirty="0">
                <a:solidFill>
                  <a:srgbClr val="FFFFFF"/>
                </a:solidFill>
              </a:rPr>
              <a:t>Subgrade, CBR 5%</a:t>
            </a:r>
            <a:endParaRPr lang="en-US" sz="1100" dirty="0"/>
          </a:p>
        </p:txBody>
      </p:sp>
      <p:sp>
        <p:nvSpPr>
          <p:cNvPr id="36" name="Text 30"/>
          <p:cNvSpPr txBox="1"/>
          <p:nvPr/>
        </p:nvSpPr>
        <p:spPr>
          <a:xfrm>
            <a:off x="10149840" y="4347972"/>
            <a:ext cx="1554480" cy="292608"/>
          </a:xfrm>
          <a:prstGeom prst="rect">
            <a:avLst/>
          </a:prstGeom>
          <a:noFill/>
          <a:ln/>
        </p:spPr>
        <p:txBody>
          <a:bodyPr wrap="square" lIns="0" tIns="0" rIns="0" bIns="0" rtlCol="0" anchor="ctr"/>
          <a:lstStyle/>
          <a:p>
            <a:pPr indent="0" marL="0">
              <a:buNone/>
            </a:pPr>
            <a:endParaRPr lang="en-US" sz="1200" dirty="0"/>
          </a:p>
        </p:txBody>
      </p:sp>
      <p:sp>
        <p:nvSpPr>
          <p:cNvPr id="37" name="source"/>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Reliance purchase and work orders (Sep 2025); GridMats design note 'Design of gravel roads for low CBR% soils', IITPAVE (Aug 2025). Not to scale.</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GridMats: surfaces made from waste plastic</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Six systems, one GridMats platform: interlocking grids of 100% post-consumer recycled polypropylene.</a:t>
            </a:r>
            <a:endParaRPr lang="en-US" sz="1600" dirty="0"/>
          </a:p>
        </p:txBody>
      </p:sp>
      <p:sp>
        <p:nvSpPr>
          <p:cNvPr id="4" name="hex-FaRecycle"/>
          <p:cNvSpPr/>
          <p:nvPr/>
        </p:nvSpPr>
        <p:spPr>
          <a:xfrm>
            <a:off x="548640" y="1783080"/>
            <a:ext cx="566928" cy="498897"/>
          </a:xfrm>
          <a:prstGeom prst="hexagon">
            <a:avLst/>
          </a:prstGeom>
          <a:solidFill>
            <a:schemeClr val="accent1"/>
          </a:solidFill>
          <a:ln w="12700">
            <a:solidFill>
              <a:schemeClr val="accent1"/>
            </a:solidFill>
            <a:prstDash val="solid"/>
          </a:ln>
        </p:spPr>
      </p:sp>
      <p:pic>
        <p:nvPicPr>
          <p:cNvPr id="5" name="Image 0" descr="Recycle">    </p:cNvPr>
          <p:cNvPicPr>
            <a:picLocks noChangeAspect="1"/>
          </p:cNvPicPr>
          <p:nvPr/>
        </p:nvPicPr>
        <p:blipFill>
          <a:blip r:embed="rId1"/>
          <a:stretch>
            <a:fillRect/>
          </a:stretch>
        </p:blipFill>
        <p:spPr>
          <a:xfrm>
            <a:off x="701711" y="1902135"/>
            <a:ext cx="260787" cy="260787"/>
          </a:xfrm>
          <a:prstGeom prst="rect">
            <a:avLst/>
          </a:prstGeom>
        </p:spPr>
      </p:pic>
      <p:sp>
        <p:nvSpPr>
          <p:cNvPr id="6" name="Text 3"/>
          <p:cNvSpPr txBox="1"/>
          <p:nvPr/>
        </p:nvSpPr>
        <p:spPr>
          <a:xfrm>
            <a:off x="1280160" y="1764792"/>
            <a:ext cx="2880360" cy="347472"/>
          </a:xfrm>
          <a:prstGeom prst="rect">
            <a:avLst/>
          </a:prstGeom>
          <a:noFill/>
          <a:ln/>
        </p:spPr>
        <p:txBody>
          <a:bodyPr wrap="square" lIns="0" tIns="0" rIns="0" bIns="0" rtlCol="0" anchor="t"/>
          <a:lstStyle/>
          <a:p>
            <a:pPr indent="0" marL="0">
              <a:buNone/>
            </a:pPr>
            <a:r>
              <a:rPr lang="en-US" sz="1600" b="1" dirty="0">
                <a:solidFill>
                  <a:schemeClr val="tx1"/>
                </a:solidFill>
              </a:rPr>
              <a:t>100% recycled PP</a:t>
            </a:r>
            <a:endParaRPr lang="en-US" sz="1600" dirty="0"/>
          </a:p>
        </p:txBody>
      </p:sp>
      <p:sp>
        <p:nvSpPr>
          <p:cNvPr id="7" name="Text 4"/>
          <p:cNvSpPr txBox="1"/>
          <p:nvPr/>
        </p:nvSpPr>
        <p:spPr>
          <a:xfrm>
            <a:off x="1280160" y="2130552"/>
            <a:ext cx="2880360" cy="914400"/>
          </a:xfrm>
          <a:prstGeom prst="rect">
            <a:avLst/>
          </a:prstGeom>
          <a:noFill/>
          <a:ln/>
        </p:spPr>
        <p:txBody>
          <a:bodyPr wrap="square" lIns="0" tIns="0" rIns="0" bIns="0" rtlCol="0" anchor="t"/>
          <a:lstStyle/>
          <a:p>
            <a:pPr indent="0" marL="0">
              <a:buNone/>
            </a:pPr>
            <a:r>
              <a:rPr lang="en-US" sz="1300" dirty="0">
                <a:solidFill>
                  <a:schemeClr val="tx2"/>
                </a:solidFill>
              </a:rPr>
              <a:t>6.6 kg of post-consumer plastic in every m² of OC-HD 40</a:t>
            </a:r>
            <a:endParaRPr lang="en-US" sz="1300" dirty="0"/>
          </a:p>
        </p:txBody>
      </p:sp>
      <p:sp>
        <p:nvSpPr>
          <p:cNvPr id="8" name="hex-FaCubes"/>
          <p:cNvSpPr/>
          <p:nvPr/>
        </p:nvSpPr>
        <p:spPr>
          <a:xfrm>
            <a:off x="4297680" y="1783080"/>
            <a:ext cx="566928" cy="498897"/>
          </a:xfrm>
          <a:prstGeom prst="hexagon">
            <a:avLst/>
          </a:prstGeom>
          <a:solidFill>
            <a:schemeClr val="accent1"/>
          </a:solidFill>
          <a:ln w="12700">
            <a:solidFill>
              <a:schemeClr val="accent1"/>
            </a:solidFill>
            <a:prstDash val="solid"/>
          </a:ln>
        </p:spPr>
      </p:sp>
      <p:pic>
        <p:nvPicPr>
          <p:cNvPr id="9" name="Image 1" descr="Cubes">    </p:cNvPr>
          <p:cNvPicPr>
            <a:picLocks noChangeAspect="1"/>
          </p:cNvPicPr>
          <p:nvPr/>
        </p:nvPicPr>
        <p:blipFill>
          <a:blip r:embed="rId2"/>
          <a:stretch>
            <a:fillRect/>
          </a:stretch>
        </p:blipFill>
        <p:spPr>
          <a:xfrm>
            <a:off x="4450751" y="1902135"/>
            <a:ext cx="260787" cy="260787"/>
          </a:xfrm>
          <a:prstGeom prst="rect">
            <a:avLst/>
          </a:prstGeom>
        </p:spPr>
      </p:pic>
      <p:sp>
        <p:nvSpPr>
          <p:cNvPr id="10" name="Text 6"/>
          <p:cNvSpPr txBox="1"/>
          <p:nvPr/>
        </p:nvSpPr>
        <p:spPr>
          <a:xfrm>
            <a:off x="5029200" y="1764792"/>
            <a:ext cx="2880360" cy="347472"/>
          </a:xfrm>
          <a:prstGeom prst="rect">
            <a:avLst/>
          </a:prstGeom>
          <a:noFill/>
          <a:ln/>
        </p:spPr>
        <p:txBody>
          <a:bodyPr wrap="square" lIns="0" tIns="0" rIns="0" bIns="0" rtlCol="0" anchor="t"/>
          <a:lstStyle/>
          <a:p>
            <a:pPr indent="0" marL="0">
              <a:buNone/>
            </a:pPr>
            <a:r>
              <a:rPr lang="en-US" sz="1600" b="1" dirty="0">
                <a:solidFill>
                  <a:schemeClr val="tx1"/>
                </a:solidFill>
              </a:rPr>
              <a:t>407 t/m²</a:t>
            </a:r>
            <a:endParaRPr lang="en-US" sz="1600" dirty="0"/>
          </a:p>
        </p:txBody>
      </p:sp>
      <p:sp>
        <p:nvSpPr>
          <p:cNvPr id="11" name="Text 7"/>
          <p:cNvSpPr txBox="1"/>
          <p:nvPr/>
        </p:nvSpPr>
        <p:spPr>
          <a:xfrm>
            <a:off x="5029200" y="2130552"/>
            <a:ext cx="2880360" cy="914400"/>
          </a:xfrm>
          <a:prstGeom prst="rect">
            <a:avLst/>
          </a:prstGeom>
          <a:noFill/>
          <a:ln/>
        </p:spPr>
        <p:txBody>
          <a:bodyPr wrap="square" lIns="0" tIns="0" rIns="0" bIns="0" rtlCol="0" anchor="t"/>
          <a:lstStyle/>
          <a:p>
            <a:pPr indent="0" marL="0">
              <a:buNone/>
            </a:pPr>
            <a:r>
              <a:rPr lang="en-US" sz="1300" dirty="0">
                <a:solidFill>
                  <a:schemeClr val="tx2"/>
                </a:solidFill>
              </a:rPr>
              <a:t>lab test on the empty OC-HD 40 panel (Bureau Veritas, 2021)</a:t>
            </a:r>
            <a:endParaRPr lang="en-US" sz="1300" dirty="0"/>
          </a:p>
        </p:txBody>
      </p:sp>
      <p:sp>
        <p:nvSpPr>
          <p:cNvPr id="12" name="hex-FaChartLine"/>
          <p:cNvSpPr/>
          <p:nvPr/>
        </p:nvSpPr>
        <p:spPr>
          <a:xfrm>
            <a:off x="8046720" y="1783080"/>
            <a:ext cx="566928" cy="498897"/>
          </a:xfrm>
          <a:prstGeom prst="hexagon">
            <a:avLst/>
          </a:prstGeom>
          <a:solidFill>
            <a:schemeClr val="accent1"/>
          </a:solidFill>
          <a:ln w="12700">
            <a:solidFill>
              <a:schemeClr val="accent1"/>
            </a:solidFill>
            <a:prstDash val="solid"/>
          </a:ln>
        </p:spPr>
      </p:sp>
      <p:pic>
        <p:nvPicPr>
          <p:cNvPr id="13" name="Image 2" descr="ChartLine">    </p:cNvPr>
          <p:cNvPicPr>
            <a:picLocks noChangeAspect="1"/>
          </p:cNvPicPr>
          <p:nvPr/>
        </p:nvPicPr>
        <p:blipFill>
          <a:blip r:embed="rId3"/>
          <a:stretch>
            <a:fillRect/>
          </a:stretch>
        </p:blipFill>
        <p:spPr>
          <a:xfrm>
            <a:off x="8199791" y="1902135"/>
            <a:ext cx="260787" cy="260787"/>
          </a:xfrm>
          <a:prstGeom prst="rect">
            <a:avLst/>
          </a:prstGeom>
        </p:spPr>
      </p:pic>
      <p:sp>
        <p:nvSpPr>
          <p:cNvPr id="14" name="Text 9"/>
          <p:cNvSpPr txBox="1"/>
          <p:nvPr/>
        </p:nvSpPr>
        <p:spPr>
          <a:xfrm>
            <a:off x="8778240" y="1764792"/>
            <a:ext cx="2880360" cy="347472"/>
          </a:xfrm>
          <a:prstGeom prst="rect">
            <a:avLst/>
          </a:prstGeom>
          <a:noFill/>
          <a:ln/>
        </p:spPr>
        <p:txBody>
          <a:bodyPr wrap="square" lIns="0" tIns="0" rIns="0" bIns="0" rtlCol="0" anchor="t"/>
          <a:lstStyle/>
          <a:p>
            <a:pPr indent="0" marL="0">
              <a:buNone/>
            </a:pPr>
            <a:r>
              <a:rPr lang="en-US" sz="1600" b="1" dirty="0">
                <a:solidFill>
                  <a:schemeClr val="tx1"/>
                </a:solidFill>
              </a:rPr>
              <a:t>2.0× base modulus</a:t>
            </a:r>
            <a:endParaRPr lang="en-US" sz="1600" dirty="0"/>
          </a:p>
        </p:txBody>
      </p:sp>
      <p:sp>
        <p:nvSpPr>
          <p:cNvPr id="15" name="Text 10"/>
          <p:cNvSpPr txBox="1"/>
          <p:nvPr/>
        </p:nvSpPr>
        <p:spPr>
          <a:xfrm>
            <a:off x="8778240" y="2130552"/>
            <a:ext cx="2880360" cy="914400"/>
          </a:xfrm>
          <a:prstGeom prst="rect">
            <a:avLst/>
          </a:prstGeom>
          <a:noFill/>
          <a:ln/>
        </p:spPr>
        <p:txBody>
          <a:bodyPr wrap="square" lIns="0" tIns="0" rIns="0" bIns="0" rtlCol="0" anchor="t"/>
          <a:lstStyle/>
          <a:p>
            <a:pPr indent="0" marL="0">
              <a:buNone/>
            </a:pPr>
            <a:r>
              <a:rPr lang="en-US" sz="1300" dirty="0">
                <a:solidFill>
                  <a:schemeClr val="tx2"/>
                </a:solidFill>
              </a:rPr>
              <a:t>at CBR 5% with the grid at the GSB/WMM interface (IIT Hyderabad, interim report)</a:t>
            </a:r>
            <a:endParaRPr lang="en-US" sz="1300" dirty="0"/>
          </a:p>
        </p:txBody>
      </p:sp>
      <p:sp>
        <p:nvSpPr>
          <p:cNvPr id="16" name="hex-FaAward"/>
          <p:cNvSpPr/>
          <p:nvPr/>
        </p:nvSpPr>
        <p:spPr>
          <a:xfrm>
            <a:off x="548640" y="3246120"/>
            <a:ext cx="566928" cy="498897"/>
          </a:xfrm>
          <a:prstGeom prst="hexagon">
            <a:avLst/>
          </a:prstGeom>
          <a:solidFill>
            <a:schemeClr val="accent1"/>
          </a:solidFill>
          <a:ln w="12700">
            <a:solidFill>
              <a:schemeClr val="accent1"/>
            </a:solidFill>
            <a:prstDash val="solid"/>
          </a:ln>
        </p:spPr>
      </p:sp>
      <p:pic>
        <p:nvPicPr>
          <p:cNvPr id="17" name="Image 3" descr="Award">    </p:cNvPr>
          <p:cNvPicPr>
            <a:picLocks noChangeAspect="1"/>
          </p:cNvPicPr>
          <p:nvPr/>
        </p:nvPicPr>
        <p:blipFill>
          <a:blip r:embed="rId4"/>
          <a:stretch>
            <a:fillRect/>
          </a:stretch>
        </p:blipFill>
        <p:spPr>
          <a:xfrm>
            <a:off x="701711" y="3365175"/>
            <a:ext cx="260787" cy="260787"/>
          </a:xfrm>
          <a:prstGeom prst="rect">
            <a:avLst/>
          </a:prstGeom>
        </p:spPr>
      </p:pic>
      <p:sp>
        <p:nvSpPr>
          <p:cNvPr id="18" name="Text 12"/>
          <p:cNvSpPr txBox="1"/>
          <p:nvPr/>
        </p:nvSpPr>
        <p:spPr>
          <a:xfrm>
            <a:off x="1280160" y="3227832"/>
            <a:ext cx="2880360" cy="347472"/>
          </a:xfrm>
          <a:prstGeom prst="rect">
            <a:avLst/>
          </a:prstGeom>
          <a:noFill/>
          <a:ln/>
        </p:spPr>
        <p:txBody>
          <a:bodyPr wrap="square" lIns="0" tIns="0" rIns="0" bIns="0" rtlCol="0" anchor="t"/>
          <a:lstStyle/>
          <a:p>
            <a:pPr indent="0" marL="0">
              <a:buNone/>
            </a:pPr>
            <a:r>
              <a:rPr lang="en-US" sz="1600" b="1" dirty="0">
                <a:solidFill>
                  <a:schemeClr val="tx1"/>
                </a:solidFill>
              </a:rPr>
              <a:t>Patent and GreenPro</a:t>
            </a:r>
            <a:endParaRPr lang="en-US" sz="1600" dirty="0"/>
          </a:p>
        </p:txBody>
      </p:sp>
      <p:sp>
        <p:nvSpPr>
          <p:cNvPr id="19" name="Text 13"/>
          <p:cNvSpPr txBox="1"/>
          <p:nvPr/>
        </p:nvSpPr>
        <p:spPr>
          <a:xfrm>
            <a:off x="1280160" y="3593592"/>
            <a:ext cx="2880360" cy="914400"/>
          </a:xfrm>
          <a:prstGeom prst="rect">
            <a:avLst/>
          </a:prstGeom>
          <a:noFill/>
          <a:ln/>
        </p:spPr>
        <p:txBody>
          <a:bodyPr wrap="square" lIns="0" tIns="0" rIns="0" bIns="0" rtlCol="0" anchor="t"/>
          <a:lstStyle/>
          <a:p>
            <a:pPr indent="0" marL="0">
              <a:buNone/>
            </a:pPr>
            <a:r>
              <a:rPr lang="en-US" sz="1300" dirty="0">
                <a:solidFill>
                  <a:schemeClr val="tx2"/>
                </a:solidFill>
              </a:rPr>
              <a:t>Indian Patent 398992; CII GreenPro certified</a:t>
            </a:r>
            <a:endParaRPr lang="en-US" sz="1300" dirty="0"/>
          </a:p>
        </p:txBody>
      </p:sp>
      <p:sp>
        <p:nvSpPr>
          <p:cNvPr id="20" name="hex-FaMapMarkerAlt"/>
          <p:cNvSpPr/>
          <p:nvPr/>
        </p:nvSpPr>
        <p:spPr>
          <a:xfrm>
            <a:off x="4297680" y="3246120"/>
            <a:ext cx="566928" cy="498897"/>
          </a:xfrm>
          <a:prstGeom prst="hexagon">
            <a:avLst/>
          </a:prstGeom>
          <a:solidFill>
            <a:schemeClr val="accent1"/>
          </a:solidFill>
          <a:ln w="12700">
            <a:solidFill>
              <a:schemeClr val="accent1"/>
            </a:solidFill>
            <a:prstDash val="solid"/>
          </a:ln>
        </p:spPr>
      </p:sp>
      <p:pic>
        <p:nvPicPr>
          <p:cNvPr id="21" name="Image 4" descr="MapMarkerAlt">    </p:cNvPr>
          <p:cNvPicPr>
            <a:picLocks noChangeAspect="1"/>
          </p:cNvPicPr>
          <p:nvPr/>
        </p:nvPicPr>
        <p:blipFill>
          <a:blip r:embed="rId5"/>
          <a:stretch>
            <a:fillRect/>
          </a:stretch>
        </p:blipFill>
        <p:spPr>
          <a:xfrm>
            <a:off x="4450751" y="3365175"/>
            <a:ext cx="260787" cy="260787"/>
          </a:xfrm>
          <a:prstGeom prst="rect">
            <a:avLst/>
          </a:prstGeom>
        </p:spPr>
      </p:pic>
      <p:sp>
        <p:nvSpPr>
          <p:cNvPr id="22" name="Text 15"/>
          <p:cNvSpPr txBox="1"/>
          <p:nvPr/>
        </p:nvSpPr>
        <p:spPr>
          <a:xfrm>
            <a:off x="5029200" y="3227832"/>
            <a:ext cx="2880360" cy="347472"/>
          </a:xfrm>
          <a:prstGeom prst="rect">
            <a:avLst/>
          </a:prstGeom>
          <a:noFill/>
          <a:ln/>
        </p:spPr>
        <p:txBody>
          <a:bodyPr wrap="square" lIns="0" tIns="0" rIns="0" bIns="0" rtlCol="0" anchor="t"/>
          <a:lstStyle/>
          <a:p>
            <a:pPr indent="0" marL="0">
              <a:buNone/>
            </a:pPr>
            <a:r>
              <a:rPr lang="en-US" sz="1600" b="1" dirty="0">
                <a:solidFill>
                  <a:schemeClr val="tx1"/>
                </a:solidFill>
              </a:rPr>
              <a:t>32 sites, 65,081 m²</a:t>
            </a:r>
            <a:endParaRPr lang="en-US" sz="1600" dirty="0"/>
          </a:p>
        </p:txBody>
      </p:sp>
      <p:sp>
        <p:nvSpPr>
          <p:cNvPr id="23" name="Text 16"/>
          <p:cNvSpPr txBox="1"/>
          <p:nvPr/>
        </p:nvSpPr>
        <p:spPr>
          <a:xfrm>
            <a:off x="5029200" y="3593592"/>
            <a:ext cx="2880360" cy="914400"/>
          </a:xfrm>
          <a:prstGeom prst="rect">
            <a:avLst/>
          </a:prstGeom>
          <a:noFill/>
          <a:ln/>
        </p:spPr>
        <p:txBody>
          <a:bodyPr wrap="square" lIns="0" tIns="0" rIns="0" bIns="0" rtlCol="0" anchor="t"/>
          <a:lstStyle/>
          <a:p>
            <a:pPr indent="0" marL="0">
              <a:buNone/>
            </a:pPr>
            <a:r>
              <a:rPr lang="en-US" sz="1300" dirty="0">
                <a:solidFill>
                  <a:schemeClr val="tx2"/>
                </a:solidFill>
              </a:rPr>
              <a:t>built across 12 states; over a million sq ft supplied</a:t>
            </a:r>
            <a:endParaRPr lang="en-US" sz="1300" dirty="0"/>
          </a:p>
        </p:txBody>
      </p:sp>
      <p:sp>
        <p:nvSpPr>
          <p:cNvPr id="24" name="hex-FaIndustry"/>
          <p:cNvSpPr/>
          <p:nvPr/>
        </p:nvSpPr>
        <p:spPr>
          <a:xfrm>
            <a:off x="8046720" y="3246120"/>
            <a:ext cx="566928" cy="498897"/>
          </a:xfrm>
          <a:prstGeom prst="hexagon">
            <a:avLst/>
          </a:prstGeom>
          <a:solidFill>
            <a:schemeClr val="accent1"/>
          </a:solidFill>
          <a:ln w="12700">
            <a:solidFill>
              <a:schemeClr val="accent1"/>
            </a:solidFill>
            <a:prstDash val="solid"/>
          </a:ln>
        </p:spPr>
      </p:sp>
      <p:pic>
        <p:nvPicPr>
          <p:cNvPr id="25" name="Image 5" descr="Industry">    </p:cNvPr>
          <p:cNvPicPr>
            <a:picLocks noChangeAspect="1"/>
          </p:cNvPicPr>
          <p:nvPr/>
        </p:nvPicPr>
        <p:blipFill>
          <a:blip r:embed="rId6"/>
          <a:stretch>
            <a:fillRect/>
          </a:stretch>
        </p:blipFill>
        <p:spPr>
          <a:xfrm>
            <a:off x="8199791" y="3365175"/>
            <a:ext cx="260787" cy="260787"/>
          </a:xfrm>
          <a:prstGeom prst="rect">
            <a:avLst/>
          </a:prstGeom>
        </p:spPr>
      </p:pic>
      <p:sp>
        <p:nvSpPr>
          <p:cNvPr id="26" name="Text 18"/>
          <p:cNvSpPr txBox="1"/>
          <p:nvPr/>
        </p:nvSpPr>
        <p:spPr>
          <a:xfrm>
            <a:off x="8778240" y="3227832"/>
            <a:ext cx="2880360" cy="347472"/>
          </a:xfrm>
          <a:prstGeom prst="rect">
            <a:avLst/>
          </a:prstGeom>
          <a:noFill/>
          <a:ln/>
        </p:spPr>
        <p:txBody>
          <a:bodyPr wrap="square" lIns="0" tIns="0" rIns="0" bIns="0" rtlCol="0" anchor="t"/>
          <a:lstStyle/>
          <a:p>
            <a:pPr indent="0" marL="0">
              <a:buNone/>
            </a:pPr>
            <a:r>
              <a:rPr lang="en-US" sz="1600" b="1" dirty="0">
                <a:solidFill>
                  <a:schemeClr val="tx1"/>
                </a:solidFill>
              </a:rPr>
              <a:t>Trusted by industry</a:t>
            </a:r>
            <a:endParaRPr lang="en-US" sz="1600" dirty="0"/>
          </a:p>
        </p:txBody>
      </p:sp>
      <p:sp>
        <p:nvSpPr>
          <p:cNvPr id="27" name="Text 19"/>
          <p:cNvSpPr txBox="1"/>
          <p:nvPr/>
        </p:nvSpPr>
        <p:spPr>
          <a:xfrm>
            <a:off x="8778240" y="3593592"/>
            <a:ext cx="2880360" cy="914400"/>
          </a:xfrm>
          <a:prstGeom prst="rect">
            <a:avLst/>
          </a:prstGeom>
          <a:noFill/>
          <a:ln/>
        </p:spPr>
        <p:txBody>
          <a:bodyPr wrap="square" lIns="0" tIns="0" rIns="0" bIns="0" rtlCol="0" anchor="t"/>
          <a:lstStyle/>
          <a:p>
            <a:pPr indent="0" marL="0">
              <a:buNone/>
            </a:pPr>
            <a:r>
              <a:rPr lang="en-US" sz="1300" dirty="0">
                <a:solidFill>
                  <a:schemeClr val="tx2"/>
                </a:solidFill>
              </a:rPr>
              <a:t>Reliance, Toyo Engineering, Tata Advanced Systems, GMR Hyderabad Airport, Godrej, Aditya Birla</a:t>
            </a:r>
            <a:endParaRPr lang="en-US" sz="1300" dirty="0"/>
          </a:p>
        </p:txBody>
      </p:sp>
      <p:sp>
        <p:nvSpPr>
          <p:cNvPr id="28" name="godrej-card"/>
          <p:cNvSpPr/>
          <p:nvPr/>
        </p:nvSpPr>
        <p:spPr>
          <a:xfrm>
            <a:off x="548640" y="4800600"/>
            <a:ext cx="11094415" cy="1097280"/>
          </a:xfrm>
          <a:prstGeom prst="roundRect">
            <a:avLst>
              <a:gd name="adj" fmla="val 6667"/>
            </a:avLst>
          </a:prstGeom>
          <a:solidFill>
            <a:schemeClr val="accent5"/>
          </a:solidFill>
          <a:ln w="12700">
            <a:solidFill>
              <a:schemeClr val="accent5"/>
            </a:solidFill>
            <a:prstDash val="solid"/>
          </a:ln>
        </p:spPr>
      </p:sp>
      <p:sp>
        <p:nvSpPr>
          <p:cNvPr id="29" name="Text 21"/>
          <p:cNvSpPr txBox="1"/>
          <p:nvPr/>
        </p:nvSpPr>
        <p:spPr>
          <a:xfrm>
            <a:off x="822960" y="4956048"/>
            <a:ext cx="10545775" cy="822960"/>
          </a:xfrm>
          <a:prstGeom prst="rect">
            <a:avLst/>
          </a:prstGeom>
          <a:noFill/>
          <a:ln/>
        </p:spPr>
        <p:txBody>
          <a:bodyPr wrap="square" lIns="0" tIns="0" rIns="0" bIns="0" rtlCol="0" anchor="ctr"/>
          <a:lstStyle/>
          <a:p>
            <a:pPr indent="0" marL="0">
              <a:buNone/>
            </a:pPr>
            <a:r>
              <a:rPr lang="en-US" sz="1400" b="1" dirty="0">
                <a:solidFill>
                  <a:schemeClr val="accent1"/>
                </a:solidFill>
              </a:rPr>
              <a:t>Recent heavy-duty result: </a:t>
            </a:r>
            <a:pPr indent="0" marL="0">
              <a:buNone/>
            </a:pPr>
            <a:r>
              <a:rPr lang="en-US" sz="1400" dirty="0">
                <a:solidFill>
                  <a:schemeClr val="tx1"/>
                </a:solidFill>
              </a:rPr>
              <a:t>Godrej, Vikhroli (May 2026). 400 m² of OC-HD 40 built in 3 days, carrying about 50-80 trucks a day with no cracks since June, at 21% less than a conventional concrete road.</a:t>
            </a:r>
            <a:endParaRPr lang="en-US" sz="1400" dirty="0"/>
          </a:p>
        </p:txBody>
      </p:sp>
      <p:sp>
        <p:nvSpPr>
          <p:cNvPr id="30" name="source"/>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GridMats master data Rev 1.3; Bureau Veritas BVIPL:SPL:BL/2545/7/2021/A; IIT Hyderabad interim report (Oct 2025); Godrej site observation (approximate truck count).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GridMats Solar: four tools for Reliance</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Each part of a solar park gets the surface it needs; all of them share one grid, one method statement and one supplier.</a:t>
            </a:r>
            <a:endParaRPr lang="en-US" sz="1600" dirty="0"/>
          </a:p>
        </p:txBody>
      </p:sp>
      <p:sp>
        <p:nvSpPr>
          <p:cNvPr id="4" name="tool-card"/>
          <p:cNvSpPr/>
          <p:nvPr/>
        </p:nvSpPr>
        <p:spPr>
          <a:xfrm>
            <a:off x="548640" y="1783080"/>
            <a:ext cx="2615184" cy="4114800"/>
          </a:xfrm>
          <a:prstGeom prst="roundRect">
            <a:avLst>
              <a:gd name="adj" fmla="val 2797"/>
            </a:avLst>
          </a:prstGeom>
          <a:solidFill>
            <a:schemeClr val="bg2"/>
          </a:solidFill>
          <a:ln w="12700">
            <a:solidFill>
              <a:schemeClr val="bg2"/>
            </a:solidFill>
            <a:prstDash val="solid"/>
          </a:ln>
        </p:spPr>
      </p:sp>
      <p:sp>
        <p:nvSpPr>
          <p:cNvPr id="5" name="hex-FaTruck"/>
          <p:cNvSpPr/>
          <p:nvPr/>
        </p:nvSpPr>
        <p:spPr>
          <a:xfrm>
            <a:off x="777240" y="1965960"/>
            <a:ext cx="603504" cy="531084"/>
          </a:xfrm>
          <a:prstGeom prst="hexagon">
            <a:avLst/>
          </a:prstGeom>
          <a:solidFill>
            <a:schemeClr val="accent1"/>
          </a:solidFill>
          <a:ln w="12700">
            <a:solidFill>
              <a:schemeClr val="accent1"/>
            </a:solidFill>
            <a:prstDash val="solid"/>
          </a:ln>
        </p:spPr>
      </p:sp>
      <p:pic>
        <p:nvPicPr>
          <p:cNvPr id="6" name="Image 0" descr="Truck">    </p:cNvPr>
          <p:cNvPicPr>
            <a:picLocks noChangeAspect="1"/>
          </p:cNvPicPr>
          <p:nvPr/>
        </p:nvPicPr>
        <p:blipFill>
          <a:blip r:embed="rId1"/>
          <a:stretch>
            <a:fillRect/>
          </a:stretch>
        </p:blipFill>
        <p:spPr>
          <a:xfrm>
            <a:off x="940186" y="2092696"/>
            <a:ext cx="277612" cy="277612"/>
          </a:xfrm>
          <a:prstGeom prst="rect">
            <a:avLst/>
          </a:prstGeom>
        </p:spPr>
      </p:pic>
      <p:sp>
        <p:nvSpPr>
          <p:cNvPr id="7" name="Text 4"/>
          <p:cNvSpPr txBox="1"/>
          <p:nvPr/>
        </p:nvSpPr>
        <p:spPr>
          <a:xfrm>
            <a:off x="777240" y="2697480"/>
            <a:ext cx="2157984" cy="640080"/>
          </a:xfrm>
          <a:prstGeom prst="rect">
            <a:avLst/>
          </a:prstGeom>
          <a:noFill/>
          <a:ln/>
        </p:spPr>
        <p:txBody>
          <a:bodyPr wrap="square" lIns="0" tIns="0" rIns="0" bIns="0" rtlCol="0" anchor="t"/>
          <a:lstStyle/>
          <a:p>
            <a:pPr indent="0" marL="0">
              <a:buNone/>
            </a:pPr>
            <a:r>
              <a:rPr lang="en-US" sz="1600" b="1" dirty="0">
                <a:solidFill>
                  <a:schemeClr val="tx1"/>
                </a:solidFill>
              </a:rPr>
              <a:t>S1  Cement-treated gravel</a:t>
            </a:r>
            <a:endParaRPr lang="en-US" sz="1600" dirty="0"/>
          </a:p>
        </p:txBody>
      </p:sp>
      <p:sp>
        <p:nvSpPr>
          <p:cNvPr id="8" name="Text 5"/>
          <p:cNvSpPr txBox="1"/>
          <p:nvPr/>
        </p:nvSpPr>
        <p:spPr>
          <a:xfrm>
            <a:off x="777240" y="3337560"/>
            <a:ext cx="2157984" cy="640080"/>
          </a:xfrm>
          <a:prstGeom prst="rect">
            <a:avLst/>
          </a:prstGeom>
          <a:noFill/>
          <a:ln/>
        </p:spPr>
        <p:txBody>
          <a:bodyPr wrap="square" lIns="0" tIns="0" rIns="0" bIns="0" rtlCol="0" anchor="t"/>
          <a:lstStyle/>
          <a:p>
            <a:pPr indent="0" marL="0">
              <a:buNone/>
            </a:pPr>
            <a:r>
              <a:rPr lang="en-US" sz="1300" b="1" dirty="0">
                <a:solidFill>
                  <a:schemeClr val="accent1"/>
                </a:solidFill>
              </a:rPr>
              <a:t>Main roads, inverter and transformer yards</a:t>
            </a:r>
            <a:endParaRPr lang="en-US" sz="1300" dirty="0"/>
          </a:p>
        </p:txBody>
      </p:sp>
      <p:sp>
        <p:nvSpPr>
          <p:cNvPr id="9" name="Text 6"/>
          <p:cNvSpPr txBox="1"/>
          <p:nvPr/>
        </p:nvSpPr>
        <p:spPr>
          <a:xfrm>
            <a:off x="777240" y="4023360"/>
            <a:ext cx="2249424"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Vehicles up to 49 t gross (GVW)</a:t>
            </a:r>
            <a:endParaRPr lang="en-US" sz="1300" dirty="0"/>
          </a:p>
          <a:p>
            <a:pPr marL="342900" indent="-342900">
              <a:spcAft>
                <a:spcPts val="600"/>
              </a:spcAft>
              <a:buSzPct val="100000"/>
              <a:buChar char="•"/>
            </a:pPr>
            <a:r>
              <a:rPr lang="en-US" sz="1300" dirty="0">
                <a:solidFill>
                  <a:schemeClr val="tx2"/>
                </a:solidFill>
              </a:rPr>
              <a:t>Light traffic at 3 days, trucks at 7</a:t>
            </a:r>
            <a:endParaRPr lang="en-US" sz="1300" dirty="0"/>
          </a:p>
          <a:p>
            <a:pPr marL="342900" indent="-342900">
              <a:spcAft>
                <a:spcPts val="600"/>
              </a:spcAft>
              <a:buSzPct val="100000"/>
              <a:buChar char="•"/>
            </a:pPr>
            <a:r>
              <a:rPr lang="en-US" sz="1300" dirty="0">
                <a:solidFill>
                  <a:schemeClr val="tx2"/>
                </a:solidFill>
              </a:rPr>
              <a:t>No saw-cut joints, no hot mix</a:t>
            </a:r>
            <a:endParaRPr lang="en-US" sz="1300" dirty="0"/>
          </a:p>
        </p:txBody>
      </p:sp>
      <p:sp>
        <p:nvSpPr>
          <p:cNvPr id="10" name="tool-card"/>
          <p:cNvSpPr/>
          <p:nvPr/>
        </p:nvSpPr>
        <p:spPr>
          <a:xfrm>
            <a:off x="3364992" y="1783080"/>
            <a:ext cx="2615184" cy="4114800"/>
          </a:xfrm>
          <a:prstGeom prst="roundRect">
            <a:avLst>
              <a:gd name="adj" fmla="val 2797"/>
            </a:avLst>
          </a:prstGeom>
          <a:solidFill>
            <a:schemeClr val="bg2"/>
          </a:solidFill>
          <a:ln w="12700">
            <a:solidFill>
              <a:schemeClr val="bg2"/>
            </a:solidFill>
            <a:prstDash val="solid"/>
          </a:ln>
        </p:spPr>
      </p:sp>
      <p:sp>
        <p:nvSpPr>
          <p:cNvPr id="11" name="hex-FaRoad"/>
          <p:cNvSpPr/>
          <p:nvPr/>
        </p:nvSpPr>
        <p:spPr>
          <a:xfrm>
            <a:off x="3593592" y="1965960"/>
            <a:ext cx="603504" cy="531084"/>
          </a:xfrm>
          <a:prstGeom prst="hexagon">
            <a:avLst/>
          </a:prstGeom>
          <a:solidFill>
            <a:schemeClr val="accent1"/>
          </a:solidFill>
          <a:ln w="12700">
            <a:solidFill>
              <a:schemeClr val="accent1"/>
            </a:solidFill>
            <a:prstDash val="solid"/>
          </a:ln>
        </p:spPr>
      </p:sp>
      <p:pic>
        <p:nvPicPr>
          <p:cNvPr id="12" name="Image 1" descr="Road">    </p:cNvPr>
          <p:cNvPicPr>
            <a:picLocks noChangeAspect="1"/>
          </p:cNvPicPr>
          <p:nvPr/>
        </p:nvPicPr>
        <p:blipFill>
          <a:blip r:embed="rId2"/>
          <a:stretch>
            <a:fillRect/>
          </a:stretch>
        </p:blipFill>
        <p:spPr>
          <a:xfrm>
            <a:off x="3756538" y="2092696"/>
            <a:ext cx="277612" cy="277612"/>
          </a:xfrm>
          <a:prstGeom prst="rect">
            <a:avLst/>
          </a:prstGeom>
        </p:spPr>
      </p:pic>
      <p:sp>
        <p:nvSpPr>
          <p:cNvPr id="13" name="Text 9"/>
          <p:cNvSpPr txBox="1"/>
          <p:nvPr/>
        </p:nvSpPr>
        <p:spPr>
          <a:xfrm>
            <a:off x="3593592" y="2697480"/>
            <a:ext cx="2157984" cy="640080"/>
          </a:xfrm>
          <a:prstGeom prst="rect">
            <a:avLst/>
          </a:prstGeom>
          <a:noFill/>
          <a:ln/>
        </p:spPr>
        <p:txBody>
          <a:bodyPr wrap="square" lIns="0" tIns="0" rIns="0" bIns="0" rtlCol="0" anchor="t"/>
          <a:lstStyle/>
          <a:p>
            <a:pPr indent="0" marL="0">
              <a:buNone/>
            </a:pPr>
            <a:r>
              <a:rPr lang="en-US" sz="1600" b="1" dirty="0">
                <a:solidFill>
                  <a:schemeClr val="tx1"/>
                </a:solidFill>
              </a:rPr>
              <a:t>S2  Permeable stone chip</a:t>
            </a:r>
            <a:endParaRPr lang="en-US" sz="1600" dirty="0"/>
          </a:p>
        </p:txBody>
      </p:sp>
      <p:sp>
        <p:nvSpPr>
          <p:cNvPr id="14" name="Text 10"/>
          <p:cNvSpPr txBox="1"/>
          <p:nvPr/>
        </p:nvSpPr>
        <p:spPr>
          <a:xfrm>
            <a:off x="3593592" y="3337560"/>
            <a:ext cx="2157984" cy="640080"/>
          </a:xfrm>
          <a:prstGeom prst="rect">
            <a:avLst/>
          </a:prstGeom>
          <a:noFill/>
          <a:ln/>
        </p:spPr>
        <p:txBody>
          <a:bodyPr wrap="square" lIns="0" tIns="0" rIns="0" bIns="0" rtlCol="0" anchor="t"/>
          <a:lstStyle/>
          <a:p>
            <a:pPr indent="0" marL="0">
              <a:buNone/>
            </a:pPr>
            <a:r>
              <a:rPr lang="en-US" sz="1300" b="1" dirty="0">
                <a:solidFill>
                  <a:schemeClr val="accent1"/>
                </a:solidFill>
              </a:rPr>
              <a:t>O&amp;M tracks, laydown and substation yards</a:t>
            </a:r>
            <a:endParaRPr lang="en-US" sz="1300" dirty="0"/>
          </a:p>
        </p:txBody>
      </p:sp>
      <p:sp>
        <p:nvSpPr>
          <p:cNvPr id="15" name="Text 11"/>
          <p:cNvSpPr txBox="1"/>
          <p:nvPr/>
        </p:nvSpPr>
        <p:spPr>
          <a:xfrm>
            <a:off x="3593592" y="4023360"/>
            <a:ext cx="2249424"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Opens the same day it is filled</a:t>
            </a:r>
            <a:endParaRPr lang="en-US" sz="1300" dirty="0"/>
          </a:p>
          <a:p>
            <a:pPr marL="342900" indent="-342900">
              <a:spcAft>
                <a:spcPts val="600"/>
              </a:spcAft>
              <a:buSzPct val="100000"/>
              <a:buChar char="•"/>
            </a:pPr>
            <a:r>
              <a:rPr lang="en-US" sz="1300" dirty="0">
                <a:solidFill>
                  <a:schemeClr val="tx2"/>
                </a:solidFill>
              </a:rPr>
              <a:t>Rain goes through; no surface drains</a:t>
            </a:r>
            <a:endParaRPr lang="en-US" sz="1300" dirty="0"/>
          </a:p>
          <a:p>
            <a:pPr marL="342900" indent="-342900">
              <a:spcAft>
                <a:spcPts val="600"/>
              </a:spcAft>
              <a:buSzPct val="100000"/>
              <a:buChar char="•"/>
            </a:pPr>
            <a:r>
              <a:rPr lang="en-US" sz="1300" dirty="0">
                <a:solidFill>
                  <a:schemeClr val="tx2"/>
                </a:solidFill>
              </a:rPr>
              <a:t>Chips held in cells, so less dust</a:t>
            </a:r>
            <a:endParaRPr lang="en-US" sz="1300" dirty="0"/>
          </a:p>
        </p:txBody>
      </p:sp>
      <p:sp>
        <p:nvSpPr>
          <p:cNvPr id="16" name="tool-card"/>
          <p:cNvSpPr/>
          <p:nvPr/>
        </p:nvSpPr>
        <p:spPr>
          <a:xfrm>
            <a:off x="6181344" y="1783080"/>
            <a:ext cx="2615184" cy="4114800"/>
          </a:xfrm>
          <a:prstGeom prst="roundRect">
            <a:avLst>
              <a:gd name="adj" fmla="val 2797"/>
            </a:avLst>
          </a:prstGeom>
          <a:solidFill>
            <a:schemeClr val="bg2"/>
          </a:solidFill>
          <a:ln w="12700">
            <a:solidFill>
              <a:schemeClr val="bg2"/>
            </a:solidFill>
            <a:prstDash val="solid"/>
          </a:ln>
        </p:spPr>
      </p:sp>
      <p:sp>
        <p:nvSpPr>
          <p:cNvPr id="17" name="hex-FaLayerGroup"/>
          <p:cNvSpPr/>
          <p:nvPr/>
        </p:nvSpPr>
        <p:spPr>
          <a:xfrm>
            <a:off x="6409944" y="1965960"/>
            <a:ext cx="603504" cy="531084"/>
          </a:xfrm>
          <a:prstGeom prst="hexagon">
            <a:avLst/>
          </a:prstGeom>
          <a:solidFill>
            <a:schemeClr val="accent1"/>
          </a:solidFill>
          <a:ln w="12700">
            <a:solidFill>
              <a:schemeClr val="accent1"/>
            </a:solidFill>
            <a:prstDash val="solid"/>
          </a:ln>
        </p:spPr>
      </p:sp>
      <p:pic>
        <p:nvPicPr>
          <p:cNvPr id="18" name="Image 2" descr="LayerGroup">    </p:cNvPr>
          <p:cNvPicPr>
            <a:picLocks noChangeAspect="1"/>
          </p:cNvPicPr>
          <p:nvPr/>
        </p:nvPicPr>
        <p:blipFill>
          <a:blip r:embed="rId3"/>
          <a:stretch>
            <a:fillRect/>
          </a:stretch>
        </p:blipFill>
        <p:spPr>
          <a:xfrm>
            <a:off x="6572890" y="2092696"/>
            <a:ext cx="277612" cy="277612"/>
          </a:xfrm>
          <a:prstGeom prst="rect">
            <a:avLst/>
          </a:prstGeom>
        </p:spPr>
      </p:pic>
      <p:sp>
        <p:nvSpPr>
          <p:cNvPr id="19" name="Text 14"/>
          <p:cNvSpPr txBox="1"/>
          <p:nvPr/>
        </p:nvSpPr>
        <p:spPr>
          <a:xfrm>
            <a:off x="6409944" y="2697480"/>
            <a:ext cx="2157984" cy="640080"/>
          </a:xfrm>
          <a:prstGeom prst="rect">
            <a:avLst/>
          </a:prstGeom>
          <a:noFill/>
          <a:ln/>
        </p:spPr>
        <p:txBody>
          <a:bodyPr wrap="square" lIns="0" tIns="0" rIns="0" bIns="0" rtlCol="0" anchor="t"/>
          <a:lstStyle/>
          <a:p>
            <a:pPr indent="0" marL="0">
              <a:buNone/>
            </a:pPr>
            <a:r>
              <a:rPr lang="en-US" sz="1600" b="1" dirty="0">
                <a:solidFill>
                  <a:schemeClr val="tx1"/>
                </a:solidFill>
              </a:rPr>
              <a:t>S6  Top-covered mats</a:t>
            </a:r>
            <a:endParaRPr lang="en-US" sz="1600" dirty="0"/>
          </a:p>
        </p:txBody>
      </p:sp>
      <p:sp>
        <p:nvSpPr>
          <p:cNvPr id="20" name="Text 15"/>
          <p:cNvSpPr txBox="1"/>
          <p:nvPr/>
        </p:nvSpPr>
        <p:spPr>
          <a:xfrm>
            <a:off x="6409944" y="3337560"/>
            <a:ext cx="2157984" cy="640080"/>
          </a:xfrm>
          <a:prstGeom prst="rect">
            <a:avLst/>
          </a:prstGeom>
          <a:noFill/>
          <a:ln/>
        </p:spPr>
        <p:txBody>
          <a:bodyPr wrap="square" lIns="0" tIns="0" rIns="0" bIns="0" rtlCol="0" anchor="t"/>
          <a:lstStyle/>
          <a:p>
            <a:pPr indent="0" marL="0">
              <a:buNone/>
            </a:pPr>
            <a:r>
              <a:rPr lang="en-US" sz="1300" b="1" dirty="0">
                <a:solidFill>
                  <a:schemeClr val="accent1"/>
                </a:solidFill>
              </a:rPr>
              <a:t>Crane pads and temporary access</a:t>
            </a:r>
            <a:endParaRPr lang="en-US" sz="1300" dirty="0"/>
          </a:p>
        </p:txBody>
      </p:sp>
      <p:sp>
        <p:nvSpPr>
          <p:cNvPr id="21" name="Text 16"/>
          <p:cNvSpPr txBox="1"/>
          <p:nvPr/>
        </p:nvSpPr>
        <p:spPr>
          <a:xfrm>
            <a:off x="6409944" y="4023360"/>
            <a:ext cx="2249424"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Laid or lifted in a day</a:t>
            </a:r>
            <a:endParaRPr lang="en-US" sz="1300" dirty="0"/>
          </a:p>
          <a:p>
            <a:pPr marL="342900" indent="-342900">
              <a:spcAft>
                <a:spcPts val="600"/>
              </a:spcAft>
              <a:buSzPct val="100000"/>
              <a:buChar char="•"/>
            </a:pPr>
            <a:r>
              <a:rPr lang="en-US" sz="1300" dirty="0">
                <a:solidFill>
                  <a:schemeClr val="tx2"/>
                </a:solidFill>
              </a:rPr>
              <a:t>Moves with the installation crew</a:t>
            </a:r>
            <a:endParaRPr lang="en-US" sz="1300" dirty="0"/>
          </a:p>
          <a:p>
            <a:pPr marL="342900" indent="-342900">
              <a:spcAft>
                <a:spcPts val="600"/>
              </a:spcAft>
              <a:buSzPct val="100000"/>
              <a:buChar char="•"/>
            </a:pPr>
            <a:r>
              <a:rPr lang="en-US" sz="1300" dirty="0">
                <a:solidFill>
                  <a:schemeClr val="tx2"/>
                </a:solidFill>
              </a:rPr>
              <a:t>Reused block after block</a:t>
            </a:r>
            <a:endParaRPr lang="en-US" sz="1300" dirty="0"/>
          </a:p>
        </p:txBody>
      </p:sp>
      <p:sp>
        <p:nvSpPr>
          <p:cNvPr id="22" name="tool-card"/>
          <p:cNvSpPr/>
          <p:nvPr/>
        </p:nvSpPr>
        <p:spPr>
          <a:xfrm>
            <a:off x="8997696" y="1783080"/>
            <a:ext cx="2615184" cy="4114800"/>
          </a:xfrm>
          <a:prstGeom prst="roundRect">
            <a:avLst>
              <a:gd name="adj" fmla="val 2797"/>
            </a:avLst>
          </a:prstGeom>
          <a:solidFill>
            <a:schemeClr val="accent5"/>
          </a:solidFill>
          <a:ln w="12700">
            <a:solidFill>
              <a:schemeClr val="accent5"/>
            </a:solidFill>
            <a:prstDash val="solid"/>
          </a:ln>
        </p:spPr>
      </p:sp>
      <p:sp>
        <p:nvSpPr>
          <p:cNvPr id="23" name="hex-FaSolarPanel"/>
          <p:cNvSpPr/>
          <p:nvPr/>
        </p:nvSpPr>
        <p:spPr>
          <a:xfrm>
            <a:off x="9226296" y="1965960"/>
            <a:ext cx="603504" cy="531084"/>
          </a:xfrm>
          <a:prstGeom prst="hexagon">
            <a:avLst/>
          </a:prstGeom>
          <a:solidFill>
            <a:schemeClr val="accent3"/>
          </a:solidFill>
          <a:ln w="12700">
            <a:solidFill>
              <a:schemeClr val="accent3"/>
            </a:solidFill>
            <a:prstDash val="solid"/>
          </a:ln>
        </p:spPr>
      </p:sp>
      <p:pic>
        <p:nvPicPr>
          <p:cNvPr id="24" name="Image 3" descr="SolarPanel">    </p:cNvPr>
          <p:cNvPicPr>
            <a:picLocks noChangeAspect="1"/>
          </p:cNvPicPr>
          <p:nvPr/>
        </p:nvPicPr>
        <p:blipFill>
          <a:blip r:embed="rId4"/>
          <a:stretch>
            <a:fillRect/>
          </a:stretch>
        </p:blipFill>
        <p:spPr>
          <a:xfrm>
            <a:off x="9389242" y="2092696"/>
            <a:ext cx="277612" cy="277612"/>
          </a:xfrm>
          <a:prstGeom prst="rect">
            <a:avLst/>
          </a:prstGeom>
        </p:spPr>
      </p:pic>
      <p:sp>
        <p:nvSpPr>
          <p:cNvPr id="25" name="Text 19"/>
          <p:cNvSpPr txBox="1"/>
          <p:nvPr/>
        </p:nvSpPr>
        <p:spPr>
          <a:xfrm>
            <a:off x="9226296" y="2697480"/>
            <a:ext cx="2157984" cy="640080"/>
          </a:xfrm>
          <a:prstGeom prst="rect">
            <a:avLst/>
          </a:prstGeom>
          <a:noFill/>
          <a:ln/>
        </p:spPr>
        <p:txBody>
          <a:bodyPr wrap="square" lIns="0" tIns="0" rIns="0" bIns="0" rtlCol="0" anchor="t"/>
          <a:lstStyle/>
          <a:p>
            <a:pPr indent="0" marL="0">
              <a:buNone/>
            </a:pPr>
            <a:r>
              <a:rPr lang="en-US" sz="1600" b="1" dirty="0">
                <a:solidFill>
                  <a:schemeClr val="tx1"/>
                </a:solidFill>
              </a:rPr>
              <a:t>Solar Walkway + IoT</a:t>
            </a:r>
            <a:endParaRPr lang="en-US" sz="1600" dirty="0"/>
          </a:p>
        </p:txBody>
      </p:sp>
      <p:sp>
        <p:nvSpPr>
          <p:cNvPr id="26" name="Text 20"/>
          <p:cNvSpPr txBox="1"/>
          <p:nvPr/>
        </p:nvSpPr>
        <p:spPr>
          <a:xfrm>
            <a:off x="9226296" y="3337560"/>
            <a:ext cx="2157984" cy="640080"/>
          </a:xfrm>
          <a:prstGeom prst="rect">
            <a:avLst/>
          </a:prstGeom>
          <a:noFill/>
          <a:ln/>
        </p:spPr>
        <p:txBody>
          <a:bodyPr wrap="square" lIns="0" tIns="0" rIns="0" bIns="0" rtlCol="0" anchor="t"/>
          <a:lstStyle/>
          <a:p>
            <a:pPr indent="0" marL="0">
              <a:buNone/>
            </a:pPr>
            <a:r>
              <a:rPr lang="en-US" sz="1300" b="1" dirty="0">
                <a:solidFill>
                  <a:schemeClr val="accent1"/>
                </a:solidFill>
              </a:rPr>
              <a:t>Walkways, EV hubs, campus paths (pilot stage)</a:t>
            </a:r>
            <a:endParaRPr lang="en-US" sz="1300" dirty="0"/>
          </a:p>
        </p:txBody>
      </p:sp>
      <p:sp>
        <p:nvSpPr>
          <p:cNvPr id="27" name="Text 21"/>
          <p:cNvSpPr txBox="1"/>
          <p:nvPr/>
        </p:nvSpPr>
        <p:spPr>
          <a:xfrm>
            <a:off x="9226296" y="4023360"/>
            <a:ext cx="2249424"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About 160 W of PV per m²</a:t>
            </a:r>
            <a:endParaRPr lang="en-US" sz="1300" dirty="0"/>
          </a:p>
          <a:p>
            <a:pPr marL="342900" indent="-342900">
              <a:spcAft>
                <a:spcPts val="600"/>
              </a:spcAft>
              <a:buSzPct val="100000"/>
              <a:buChar char="•"/>
            </a:pPr>
            <a:r>
              <a:rPr lang="en-US" sz="1300" dirty="0">
                <a:solidFill>
                  <a:schemeClr val="tx2"/>
                </a:solidFill>
              </a:rPr>
              <a:t>No extra land, roof or mounting</a:t>
            </a:r>
            <a:endParaRPr lang="en-US" sz="1300" dirty="0"/>
          </a:p>
          <a:p>
            <a:pPr marL="342900" indent="-342900">
              <a:spcAft>
                <a:spcPts val="600"/>
              </a:spcAft>
              <a:buSzPct val="100000"/>
              <a:buChar char="•"/>
            </a:pPr>
            <a:r>
              <a:rPr lang="en-US" sz="1300" dirty="0">
                <a:solidFill>
                  <a:schemeClr val="tx2"/>
                </a:solidFill>
              </a:rPr>
              <a:t>Sensors report load, moisture, heat</a:t>
            </a:r>
            <a:endParaRPr lang="en-US" sz="1300" dirty="0"/>
          </a:p>
        </p:txBody>
      </p:sp>
      <p:sp>
        <p:nvSpPr>
          <p:cNvPr id="28" name="source"/>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GridMats solar and wind parks flier (Oct 2026); GridMats Solar Walkway flier (6 Oct 2026). Solar Walkway and IoT are at pilot stage.</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Pavement design for Kutch's saline ground</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GridMats base tables for CBR 2-5%; final thickness from IITPAVE on the pilot block's measured CBR.</a:t>
            </a:r>
            <a:endParaRPr lang="en-US" sz="1600" dirty="0"/>
          </a:p>
        </p:txBody>
      </p:sp>
      <p:sp>
        <p:nvSpPr>
          <p:cNvPr id="4" name="Text 2"/>
          <p:cNvSpPr txBox="1"/>
          <p:nvPr/>
        </p:nvSpPr>
        <p:spPr>
          <a:xfrm>
            <a:off x="548640" y="1691640"/>
            <a:ext cx="5120640" cy="347472"/>
          </a:xfrm>
          <a:prstGeom prst="rect">
            <a:avLst/>
          </a:prstGeom>
          <a:noFill/>
          <a:ln/>
        </p:spPr>
        <p:txBody>
          <a:bodyPr wrap="square" lIns="0" tIns="0" rIns="0" bIns="0" rtlCol="0" anchor="t"/>
          <a:lstStyle/>
          <a:p>
            <a:pPr indent="0" marL="0">
              <a:buNone/>
            </a:pPr>
            <a:r>
              <a:rPr lang="en-US" sz="1800" b="1" dirty="0">
                <a:solidFill>
                  <a:schemeClr val="tx1"/>
                </a:solidFill>
              </a:rPr>
              <a:t>S1 main road and yards</a:t>
            </a:r>
            <a:endParaRPr lang="en-US" sz="1800" dirty="0"/>
          </a:p>
        </p:txBody>
      </p:sp>
      <p:sp>
        <p:nvSpPr>
          <p:cNvPr id="5" name="Text 3"/>
          <p:cNvSpPr txBox="1"/>
          <p:nvPr/>
        </p:nvSpPr>
        <p:spPr>
          <a:xfrm>
            <a:off x="548640" y="2039112"/>
            <a:ext cx="5120640" cy="292608"/>
          </a:xfrm>
          <a:prstGeom prst="rect">
            <a:avLst/>
          </a:prstGeom>
          <a:noFill/>
          <a:ln/>
        </p:spPr>
        <p:txBody>
          <a:bodyPr wrap="square" lIns="0" tIns="0" rIns="0" bIns="0" rtlCol="0" anchor="t"/>
          <a:lstStyle/>
          <a:p>
            <a:pPr indent="0" marL="0">
              <a:buNone/>
            </a:pPr>
            <a:r>
              <a:rPr lang="en-US" sz="1300" b="1" dirty="0">
                <a:solidFill>
                  <a:schemeClr val="accent1"/>
                </a:solidFill>
              </a:rPr>
              <a:t>Load class D: vehicles up to 49 t GVW</a:t>
            </a:r>
            <a:endParaRPr lang="en-US" sz="1300" dirty="0"/>
          </a:p>
        </p:txBody>
      </p:sp>
      <p:sp>
        <p:nvSpPr>
          <p:cNvPr id="6" name="layer"/>
          <p:cNvSpPr/>
          <p:nvPr/>
        </p:nvSpPr>
        <p:spPr>
          <a:xfrm>
            <a:off x="548640" y="2468880"/>
            <a:ext cx="3017520" cy="347472"/>
          </a:xfrm>
          <a:prstGeom prst="rect">
            <a:avLst/>
          </a:prstGeom>
          <a:solidFill>
            <a:srgbClr val="C22935"/>
          </a:solidFill>
          <a:ln w="9525">
            <a:solidFill>
              <a:srgbClr val="FFFFFF"/>
            </a:solidFill>
            <a:prstDash val="solid"/>
          </a:ln>
        </p:spPr>
      </p:sp>
      <p:sp>
        <p:nvSpPr>
          <p:cNvPr id="7" name="Text 5"/>
          <p:cNvSpPr txBox="1"/>
          <p:nvPr/>
        </p:nvSpPr>
        <p:spPr>
          <a:xfrm>
            <a:off x="640080" y="2468880"/>
            <a:ext cx="2834640" cy="347472"/>
          </a:xfrm>
          <a:prstGeom prst="rect">
            <a:avLst/>
          </a:prstGeom>
          <a:noFill/>
          <a:ln/>
        </p:spPr>
        <p:txBody>
          <a:bodyPr wrap="square" lIns="0" tIns="0" rIns="0" bIns="0" rtlCol="0" anchor="ctr"/>
          <a:lstStyle/>
          <a:p>
            <a:pPr indent="0" marL="0">
              <a:buNone/>
            </a:pPr>
            <a:r>
              <a:rPr lang="en-US" sz="1100" dirty="0">
                <a:solidFill>
                  <a:srgbClr val="FFFFFF"/>
                </a:solidFill>
              </a:rPr>
              <a:t>OC-HD 40 + cement-treated gravel</a:t>
            </a:r>
            <a:endParaRPr lang="en-US" sz="1100" dirty="0"/>
          </a:p>
        </p:txBody>
      </p:sp>
      <p:sp>
        <p:nvSpPr>
          <p:cNvPr id="8" name="Text 6"/>
          <p:cNvSpPr txBox="1"/>
          <p:nvPr/>
        </p:nvSpPr>
        <p:spPr>
          <a:xfrm>
            <a:off x="3703320" y="2496312"/>
            <a:ext cx="1920240" cy="292608"/>
          </a:xfrm>
          <a:prstGeom prst="rect">
            <a:avLst/>
          </a:prstGeom>
          <a:noFill/>
          <a:ln/>
        </p:spPr>
        <p:txBody>
          <a:bodyPr wrap="square" lIns="0" tIns="0" rIns="0" bIns="0" rtlCol="0" anchor="ctr"/>
          <a:lstStyle/>
          <a:p>
            <a:pPr indent="0" marL="0">
              <a:buNone/>
            </a:pPr>
            <a:r>
              <a:rPr lang="en-US" sz="1200" dirty="0">
                <a:solidFill>
                  <a:schemeClr val="tx2"/>
                </a:solidFill>
              </a:rPr>
              <a:t>40 mm</a:t>
            </a:r>
            <a:endParaRPr lang="en-US" sz="1200" dirty="0"/>
          </a:p>
        </p:txBody>
      </p:sp>
      <p:sp>
        <p:nvSpPr>
          <p:cNvPr id="9" name="layer"/>
          <p:cNvSpPr/>
          <p:nvPr/>
        </p:nvSpPr>
        <p:spPr>
          <a:xfrm>
            <a:off x="548640" y="2816352"/>
            <a:ext cx="3017520" cy="219456"/>
          </a:xfrm>
          <a:prstGeom prst="rect">
            <a:avLst/>
          </a:prstGeom>
          <a:solidFill>
            <a:srgbClr val="E6E1D6"/>
          </a:solidFill>
          <a:ln w="9525">
            <a:solidFill>
              <a:srgbClr val="FFFFFF"/>
            </a:solidFill>
            <a:prstDash val="solid"/>
          </a:ln>
        </p:spPr>
      </p:sp>
      <p:sp>
        <p:nvSpPr>
          <p:cNvPr id="10" name="Text 8"/>
          <p:cNvSpPr txBox="1"/>
          <p:nvPr/>
        </p:nvSpPr>
        <p:spPr>
          <a:xfrm>
            <a:off x="640080" y="2816352"/>
            <a:ext cx="2834640" cy="219456"/>
          </a:xfrm>
          <a:prstGeom prst="rect">
            <a:avLst/>
          </a:prstGeom>
          <a:noFill/>
          <a:ln/>
        </p:spPr>
        <p:txBody>
          <a:bodyPr wrap="square" lIns="0" tIns="0" rIns="0" bIns="0" rtlCol="0" anchor="ctr"/>
          <a:lstStyle/>
          <a:p>
            <a:pPr indent="0" marL="0">
              <a:buNone/>
            </a:pPr>
            <a:r>
              <a:rPr lang="en-US" sz="1100" dirty="0">
                <a:solidFill>
                  <a:srgbClr val="1A1A1A"/>
                </a:solidFill>
              </a:rPr>
              <a:t>M-sand bedding</a:t>
            </a:r>
            <a:endParaRPr lang="en-US" sz="1100" dirty="0"/>
          </a:p>
        </p:txBody>
      </p:sp>
      <p:sp>
        <p:nvSpPr>
          <p:cNvPr id="11" name="Text 9"/>
          <p:cNvSpPr txBox="1"/>
          <p:nvPr/>
        </p:nvSpPr>
        <p:spPr>
          <a:xfrm>
            <a:off x="3703320" y="2779776"/>
            <a:ext cx="1920240" cy="292608"/>
          </a:xfrm>
          <a:prstGeom prst="rect">
            <a:avLst/>
          </a:prstGeom>
          <a:noFill/>
          <a:ln/>
        </p:spPr>
        <p:txBody>
          <a:bodyPr wrap="square" lIns="0" tIns="0" rIns="0" bIns="0" rtlCol="0" anchor="ctr"/>
          <a:lstStyle/>
          <a:p>
            <a:pPr indent="0" marL="0">
              <a:buNone/>
            </a:pPr>
            <a:r>
              <a:rPr lang="en-US" sz="1200" dirty="0">
                <a:solidFill>
                  <a:schemeClr val="tx2"/>
                </a:solidFill>
              </a:rPr>
              <a:t>25 mm</a:t>
            </a:r>
            <a:endParaRPr lang="en-US" sz="1200" dirty="0"/>
          </a:p>
        </p:txBody>
      </p:sp>
      <p:sp>
        <p:nvSpPr>
          <p:cNvPr id="12" name="layer"/>
          <p:cNvSpPr/>
          <p:nvPr/>
        </p:nvSpPr>
        <p:spPr>
          <a:xfrm>
            <a:off x="548640" y="3035808"/>
            <a:ext cx="3017520" cy="822960"/>
          </a:xfrm>
          <a:prstGeom prst="rect">
            <a:avLst/>
          </a:prstGeom>
          <a:solidFill>
            <a:srgbClr val="B8B1A3"/>
          </a:solidFill>
          <a:ln w="9525">
            <a:solidFill>
              <a:srgbClr val="FFFFFF"/>
            </a:solidFill>
            <a:prstDash val="solid"/>
          </a:ln>
        </p:spPr>
      </p:sp>
      <p:sp>
        <p:nvSpPr>
          <p:cNvPr id="13" name="Text 11"/>
          <p:cNvSpPr txBox="1"/>
          <p:nvPr/>
        </p:nvSpPr>
        <p:spPr>
          <a:xfrm>
            <a:off x="640080" y="3035808"/>
            <a:ext cx="2834640" cy="822960"/>
          </a:xfrm>
          <a:prstGeom prst="rect">
            <a:avLst/>
          </a:prstGeom>
          <a:noFill/>
          <a:ln/>
        </p:spPr>
        <p:txBody>
          <a:bodyPr wrap="square" lIns="0" tIns="0" rIns="0" bIns="0" rtlCol="0" anchor="ctr"/>
          <a:lstStyle/>
          <a:p>
            <a:pPr indent="0" marL="0">
              <a:buNone/>
            </a:pPr>
            <a:r>
              <a:rPr lang="en-US" sz="1100" dirty="0">
                <a:solidFill>
                  <a:srgbClr val="1A1A1A"/>
                </a:solidFill>
              </a:rPr>
              <a:t>WMM</a:t>
            </a:r>
            <a:endParaRPr lang="en-US" sz="1100" dirty="0"/>
          </a:p>
        </p:txBody>
      </p:sp>
      <p:sp>
        <p:nvSpPr>
          <p:cNvPr id="14" name="Text 12"/>
          <p:cNvSpPr txBox="1"/>
          <p:nvPr/>
        </p:nvSpPr>
        <p:spPr>
          <a:xfrm>
            <a:off x="3703320" y="3300984"/>
            <a:ext cx="1920240" cy="292608"/>
          </a:xfrm>
          <a:prstGeom prst="rect">
            <a:avLst/>
          </a:prstGeom>
          <a:noFill/>
          <a:ln/>
        </p:spPr>
        <p:txBody>
          <a:bodyPr wrap="square" lIns="0" tIns="0" rIns="0" bIns="0" rtlCol="0" anchor="ctr"/>
          <a:lstStyle/>
          <a:p>
            <a:pPr indent="0" marL="0">
              <a:buNone/>
            </a:pPr>
            <a:r>
              <a:rPr lang="en-US" sz="1200" dirty="0">
                <a:solidFill>
                  <a:schemeClr val="tx2"/>
                </a:solidFill>
              </a:rPr>
              <a:t>150 mm</a:t>
            </a:r>
            <a:endParaRPr lang="en-US" sz="1200" dirty="0"/>
          </a:p>
        </p:txBody>
      </p:sp>
      <p:sp>
        <p:nvSpPr>
          <p:cNvPr id="15" name="layer"/>
          <p:cNvSpPr/>
          <p:nvPr/>
        </p:nvSpPr>
        <p:spPr>
          <a:xfrm>
            <a:off x="548640" y="3858768"/>
            <a:ext cx="3017520" cy="1005840"/>
          </a:xfrm>
          <a:prstGeom prst="rect">
            <a:avLst/>
          </a:prstGeom>
          <a:solidFill>
            <a:srgbClr val="CFC8B8"/>
          </a:solidFill>
          <a:ln w="9525">
            <a:solidFill>
              <a:srgbClr val="FFFFFF"/>
            </a:solidFill>
            <a:prstDash val="solid"/>
          </a:ln>
        </p:spPr>
      </p:sp>
      <p:sp>
        <p:nvSpPr>
          <p:cNvPr id="16" name="Text 14"/>
          <p:cNvSpPr txBox="1"/>
          <p:nvPr/>
        </p:nvSpPr>
        <p:spPr>
          <a:xfrm>
            <a:off x="640080" y="3858768"/>
            <a:ext cx="2834640" cy="1005840"/>
          </a:xfrm>
          <a:prstGeom prst="rect">
            <a:avLst/>
          </a:prstGeom>
          <a:noFill/>
          <a:ln/>
        </p:spPr>
        <p:txBody>
          <a:bodyPr wrap="square" lIns="0" tIns="0" rIns="0" bIns="0" rtlCol="0" anchor="ctr"/>
          <a:lstStyle/>
          <a:p>
            <a:pPr indent="0" marL="0">
              <a:buNone/>
            </a:pPr>
            <a:r>
              <a:rPr lang="en-US" sz="1100" dirty="0">
                <a:solidFill>
                  <a:srgbClr val="1A1A1A"/>
                </a:solidFill>
              </a:rPr>
              <a:t>GSB</a:t>
            </a:r>
            <a:endParaRPr lang="en-US" sz="1100" dirty="0"/>
          </a:p>
        </p:txBody>
      </p:sp>
      <p:sp>
        <p:nvSpPr>
          <p:cNvPr id="17" name="Text 15"/>
          <p:cNvSpPr txBox="1"/>
          <p:nvPr/>
        </p:nvSpPr>
        <p:spPr>
          <a:xfrm>
            <a:off x="3703320" y="4215384"/>
            <a:ext cx="1920240" cy="292608"/>
          </a:xfrm>
          <a:prstGeom prst="rect">
            <a:avLst/>
          </a:prstGeom>
          <a:noFill/>
          <a:ln/>
        </p:spPr>
        <p:txBody>
          <a:bodyPr wrap="square" lIns="0" tIns="0" rIns="0" bIns="0" rtlCol="0" anchor="ctr"/>
          <a:lstStyle/>
          <a:p>
            <a:pPr indent="0" marL="0">
              <a:buNone/>
            </a:pPr>
            <a:r>
              <a:rPr lang="en-US" sz="1200" dirty="0">
                <a:solidFill>
                  <a:schemeClr val="tx2"/>
                </a:solidFill>
              </a:rPr>
              <a:t>200 mm</a:t>
            </a:r>
            <a:endParaRPr lang="en-US" sz="1200" dirty="0"/>
          </a:p>
        </p:txBody>
      </p:sp>
      <p:sp>
        <p:nvSpPr>
          <p:cNvPr id="18" name="layer"/>
          <p:cNvSpPr/>
          <p:nvPr/>
        </p:nvSpPr>
        <p:spPr>
          <a:xfrm>
            <a:off x="548640" y="4864608"/>
            <a:ext cx="3017520" cy="91440"/>
          </a:xfrm>
          <a:prstGeom prst="rect">
            <a:avLst/>
          </a:prstGeom>
          <a:solidFill>
            <a:srgbClr val="1A1A1A"/>
          </a:solidFill>
          <a:ln w="9525">
            <a:solidFill>
              <a:srgbClr val="FFFFFF"/>
            </a:solidFill>
            <a:prstDash val="solid"/>
          </a:ln>
        </p:spPr>
      </p:sp>
      <p:sp>
        <p:nvSpPr>
          <p:cNvPr id="19" name="Text 17"/>
          <p:cNvSpPr txBox="1"/>
          <p:nvPr/>
        </p:nvSpPr>
        <p:spPr>
          <a:xfrm>
            <a:off x="3703320" y="4764024"/>
            <a:ext cx="1920240" cy="292608"/>
          </a:xfrm>
          <a:prstGeom prst="rect">
            <a:avLst/>
          </a:prstGeom>
          <a:noFill/>
          <a:ln/>
        </p:spPr>
        <p:txBody>
          <a:bodyPr wrap="square" lIns="0" tIns="0" rIns="0" bIns="0" rtlCol="0" anchor="ctr"/>
          <a:lstStyle/>
          <a:p>
            <a:pPr indent="0" marL="0">
              <a:buNone/>
            </a:pPr>
            <a:r>
              <a:rPr lang="en-US" sz="1200" dirty="0">
                <a:solidFill>
                  <a:schemeClr val="tx2"/>
                </a:solidFill>
              </a:rPr>
              <a:t>Geotextile 200 gsm</a:t>
            </a:r>
            <a:endParaRPr lang="en-US" sz="1200" dirty="0"/>
          </a:p>
        </p:txBody>
      </p:sp>
      <p:sp>
        <p:nvSpPr>
          <p:cNvPr id="20" name="layer"/>
          <p:cNvSpPr/>
          <p:nvPr/>
        </p:nvSpPr>
        <p:spPr>
          <a:xfrm>
            <a:off x="548640" y="4956048"/>
            <a:ext cx="3017520" cy="457200"/>
          </a:xfrm>
          <a:prstGeom prst="rect">
            <a:avLst/>
          </a:prstGeom>
          <a:solidFill>
            <a:srgbClr val="8C7B6B"/>
          </a:solidFill>
          <a:ln w="9525">
            <a:solidFill>
              <a:srgbClr val="FFFFFF"/>
            </a:solidFill>
            <a:prstDash val="solid"/>
          </a:ln>
        </p:spPr>
      </p:sp>
      <p:sp>
        <p:nvSpPr>
          <p:cNvPr id="21" name="Text 19"/>
          <p:cNvSpPr txBox="1"/>
          <p:nvPr/>
        </p:nvSpPr>
        <p:spPr>
          <a:xfrm>
            <a:off x="640080" y="4956048"/>
            <a:ext cx="2834640" cy="457200"/>
          </a:xfrm>
          <a:prstGeom prst="rect">
            <a:avLst/>
          </a:prstGeom>
          <a:noFill/>
          <a:ln/>
        </p:spPr>
        <p:txBody>
          <a:bodyPr wrap="square" lIns="0" tIns="0" rIns="0" bIns="0" rtlCol="0" anchor="ctr"/>
          <a:lstStyle/>
          <a:p>
            <a:pPr indent="0" marL="0">
              <a:buNone/>
            </a:pPr>
            <a:r>
              <a:rPr lang="en-US" sz="1100" dirty="0">
                <a:solidFill>
                  <a:srgbClr val="FFFFFF"/>
                </a:solidFill>
              </a:rPr>
              <a:t>Subgrade, CBR 2-5%, 98% MDD</a:t>
            </a:r>
            <a:endParaRPr lang="en-US" sz="1100" dirty="0"/>
          </a:p>
        </p:txBody>
      </p:sp>
      <p:sp>
        <p:nvSpPr>
          <p:cNvPr id="22" name="Text 20"/>
          <p:cNvSpPr txBox="1"/>
          <p:nvPr/>
        </p:nvSpPr>
        <p:spPr>
          <a:xfrm>
            <a:off x="3703320" y="5038344"/>
            <a:ext cx="1920240" cy="292608"/>
          </a:xfrm>
          <a:prstGeom prst="rect">
            <a:avLst/>
          </a:prstGeom>
          <a:noFill/>
          <a:ln/>
        </p:spPr>
        <p:txBody>
          <a:bodyPr wrap="square" lIns="0" tIns="0" rIns="0" bIns="0" rtlCol="0" anchor="ctr"/>
          <a:lstStyle/>
          <a:p>
            <a:pPr indent="0" marL="0">
              <a:buNone/>
            </a:pPr>
            <a:endParaRPr lang="en-US" sz="1200" dirty="0"/>
          </a:p>
        </p:txBody>
      </p:sp>
      <p:sp>
        <p:nvSpPr>
          <p:cNvPr id="23" name="Text 21"/>
          <p:cNvSpPr txBox="1"/>
          <p:nvPr/>
        </p:nvSpPr>
        <p:spPr>
          <a:xfrm>
            <a:off x="548640" y="5550408"/>
            <a:ext cx="5120640" cy="320040"/>
          </a:xfrm>
          <a:prstGeom prst="rect">
            <a:avLst/>
          </a:prstGeom>
          <a:noFill/>
          <a:ln/>
        </p:spPr>
        <p:txBody>
          <a:bodyPr wrap="square" lIns="0" tIns="0" rIns="0" bIns="0" rtlCol="0" anchor="t"/>
          <a:lstStyle/>
          <a:p>
            <a:pPr indent="0" marL="0">
              <a:buNone/>
            </a:pPr>
            <a:r>
              <a:rPr lang="en-US" sz="1300" b="1" dirty="0">
                <a:solidFill>
                  <a:schemeClr val="tx1"/>
                </a:solidFill>
              </a:rPr>
              <a:t>Installed about ₹2,029/m²  ·  bitumen ₹2,000  ·  concrete ₹3,200</a:t>
            </a:r>
            <a:endParaRPr lang="en-US" sz="1300" dirty="0"/>
          </a:p>
        </p:txBody>
      </p:sp>
      <p:sp>
        <p:nvSpPr>
          <p:cNvPr id="24" name="Text 22"/>
          <p:cNvSpPr txBox="1"/>
          <p:nvPr/>
        </p:nvSpPr>
        <p:spPr>
          <a:xfrm>
            <a:off x="6172200" y="1691640"/>
            <a:ext cx="5120640" cy="347472"/>
          </a:xfrm>
          <a:prstGeom prst="rect">
            <a:avLst/>
          </a:prstGeom>
          <a:noFill/>
          <a:ln/>
        </p:spPr>
        <p:txBody>
          <a:bodyPr wrap="square" lIns="0" tIns="0" rIns="0" bIns="0" rtlCol="0" anchor="t"/>
          <a:lstStyle/>
          <a:p>
            <a:pPr indent="0" marL="0">
              <a:buNone/>
            </a:pPr>
            <a:r>
              <a:rPr lang="en-US" sz="1800" b="1" dirty="0">
                <a:solidFill>
                  <a:schemeClr val="tx1"/>
                </a:solidFill>
              </a:rPr>
              <a:t>S2 O&amp;M track</a:t>
            </a:r>
            <a:endParaRPr lang="en-US" sz="1800" dirty="0"/>
          </a:p>
        </p:txBody>
      </p:sp>
      <p:sp>
        <p:nvSpPr>
          <p:cNvPr id="25" name="Text 23"/>
          <p:cNvSpPr txBox="1"/>
          <p:nvPr/>
        </p:nvSpPr>
        <p:spPr>
          <a:xfrm>
            <a:off x="6172200" y="2039112"/>
            <a:ext cx="5120640" cy="292608"/>
          </a:xfrm>
          <a:prstGeom prst="rect">
            <a:avLst/>
          </a:prstGeom>
          <a:noFill/>
          <a:ln/>
        </p:spPr>
        <p:txBody>
          <a:bodyPr wrap="square" lIns="0" tIns="0" rIns="0" bIns="0" rtlCol="0" anchor="t"/>
          <a:lstStyle/>
          <a:p>
            <a:pPr indent="0" marL="0">
              <a:buNone/>
            </a:pPr>
            <a:r>
              <a:rPr lang="en-US" sz="1300" b="1" dirty="0">
                <a:solidFill>
                  <a:schemeClr val="accent1"/>
                </a:solidFill>
              </a:rPr>
              <a:t>Load class C: trucks and water tankers</a:t>
            </a:r>
            <a:endParaRPr lang="en-US" sz="1300" dirty="0"/>
          </a:p>
        </p:txBody>
      </p:sp>
      <p:sp>
        <p:nvSpPr>
          <p:cNvPr id="26" name="layer"/>
          <p:cNvSpPr/>
          <p:nvPr/>
        </p:nvSpPr>
        <p:spPr>
          <a:xfrm>
            <a:off x="6172200" y="2468880"/>
            <a:ext cx="3017520" cy="347472"/>
          </a:xfrm>
          <a:prstGeom prst="rect">
            <a:avLst/>
          </a:prstGeom>
          <a:solidFill>
            <a:srgbClr val="C22935"/>
          </a:solidFill>
          <a:ln w="9525">
            <a:solidFill>
              <a:srgbClr val="FFFFFF"/>
            </a:solidFill>
            <a:prstDash val="solid"/>
          </a:ln>
        </p:spPr>
      </p:sp>
      <p:sp>
        <p:nvSpPr>
          <p:cNvPr id="27" name="Text 25"/>
          <p:cNvSpPr txBox="1"/>
          <p:nvPr/>
        </p:nvSpPr>
        <p:spPr>
          <a:xfrm>
            <a:off x="6263640" y="2468880"/>
            <a:ext cx="2834640" cy="347472"/>
          </a:xfrm>
          <a:prstGeom prst="rect">
            <a:avLst/>
          </a:prstGeom>
          <a:noFill/>
          <a:ln/>
        </p:spPr>
        <p:txBody>
          <a:bodyPr wrap="square" lIns="0" tIns="0" rIns="0" bIns="0" rtlCol="0" anchor="ctr"/>
          <a:lstStyle/>
          <a:p>
            <a:pPr indent="0" marL="0">
              <a:buNone/>
            </a:pPr>
            <a:r>
              <a:rPr lang="en-US" sz="1100" dirty="0">
                <a:solidFill>
                  <a:srgbClr val="FFFFFF"/>
                </a:solidFill>
              </a:rPr>
              <a:t>OC-HD 40 + 8-12 mm stone chips</a:t>
            </a:r>
            <a:endParaRPr lang="en-US" sz="1100" dirty="0"/>
          </a:p>
        </p:txBody>
      </p:sp>
      <p:sp>
        <p:nvSpPr>
          <p:cNvPr id="28" name="Text 26"/>
          <p:cNvSpPr txBox="1"/>
          <p:nvPr/>
        </p:nvSpPr>
        <p:spPr>
          <a:xfrm>
            <a:off x="9326880" y="2496312"/>
            <a:ext cx="1920240" cy="292608"/>
          </a:xfrm>
          <a:prstGeom prst="rect">
            <a:avLst/>
          </a:prstGeom>
          <a:noFill/>
          <a:ln/>
        </p:spPr>
        <p:txBody>
          <a:bodyPr wrap="square" lIns="0" tIns="0" rIns="0" bIns="0" rtlCol="0" anchor="ctr"/>
          <a:lstStyle/>
          <a:p>
            <a:pPr indent="0" marL="0">
              <a:buNone/>
            </a:pPr>
            <a:r>
              <a:rPr lang="en-US" sz="1200" dirty="0">
                <a:solidFill>
                  <a:schemeClr val="tx2"/>
                </a:solidFill>
              </a:rPr>
              <a:t>40 mm</a:t>
            </a:r>
            <a:endParaRPr lang="en-US" sz="1200" dirty="0"/>
          </a:p>
        </p:txBody>
      </p:sp>
      <p:sp>
        <p:nvSpPr>
          <p:cNvPr id="29" name="layer"/>
          <p:cNvSpPr/>
          <p:nvPr/>
        </p:nvSpPr>
        <p:spPr>
          <a:xfrm>
            <a:off x="6172200" y="2816352"/>
            <a:ext cx="3017520" cy="201168"/>
          </a:xfrm>
          <a:prstGeom prst="rect">
            <a:avLst/>
          </a:prstGeom>
          <a:solidFill>
            <a:srgbClr val="E6E1D6"/>
          </a:solidFill>
          <a:ln w="9525">
            <a:solidFill>
              <a:srgbClr val="FFFFFF"/>
            </a:solidFill>
            <a:prstDash val="solid"/>
          </a:ln>
        </p:spPr>
      </p:sp>
      <p:sp>
        <p:nvSpPr>
          <p:cNvPr id="30" name="Text 28"/>
          <p:cNvSpPr txBox="1"/>
          <p:nvPr/>
        </p:nvSpPr>
        <p:spPr>
          <a:xfrm>
            <a:off x="6263640" y="2816352"/>
            <a:ext cx="2834640" cy="201168"/>
          </a:xfrm>
          <a:prstGeom prst="rect">
            <a:avLst/>
          </a:prstGeom>
          <a:noFill/>
          <a:ln/>
        </p:spPr>
        <p:txBody>
          <a:bodyPr wrap="square" lIns="0" tIns="0" rIns="0" bIns="0" rtlCol="0" anchor="ctr"/>
          <a:lstStyle/>
          <a:p>
            <a:pPr indent="0" marL="0">
              <a:buNone/>
            </a:pPr>
            <a:r>
              <a:rPr lang="en-US" sz="1100" dirty="0">
                <a:solidFill>
                  <a:srgbClr val="1A1A1A"/>
                </a:solidFill>
              </a:rPr>
              <a:t>Bedding</a:t>
            </a:r>
            <a:endParaRPr lang="en-US" sz="1100" dirty="0"/>
          </a:p>
        </p:txBody>
      </p:sp>
      <p:sp>
        <p:nvSpPr>
          <p:cNvPr id="31" name="Text 29"/>
          <p:cNvSpPr txBox="1"/>
          <p:nvPr/>
        </p:nvSpPr>
        <p:spPr>
          <a:xfrm>
            <a:off x="9326880" y="2770632"/>
            <a:ext cx="1920240" cy="292608"/>
          </a:xfrm>
          <a:prstGeom prst="rect">
            <a:avLst/>
          </a:prstGeom>
          <a:noFill/>
          <a:ln/>
        </p:spPr>
        <p:txBody>
          <a:bodyPr wrap="square" lIns="0" tIns="0" rIns="0" bIns="0" rtlCol="0" anchor="ctr"/>
          <a:lstStyle/>
          <a:p>
            <a:pPr indent="0" marL="0">
              <a:buNone/>
            </a:pPr>
            <a:r>
              <a:rPr lang="en-US" sz="1200" dirty="0">
                <a:solidFill>
                  <a:schemeClr val="tx2"/>
                </a:solidFill>
              </a:rPr>
              <a:t>20 mm</a:t>
            </a:r>
            <a:endParaRPr lang="en-US" sz="1200" dirty="0"/>
          </a:p>
        </p:txBody>
      </p:sp>
      <p:sp>
        <p:nvSpPr>
          <p:cNvPr id="32" name="layer"/>
          <p:cNvSpPr/>
          <p:nvPr/>
        </p:nvSpPr>
        <p:spPr>
          <a:xfrm>
            <a:off x="6172200" y="3017520"/>
            <a:ext cx="3017520" cy="822960"/>
          </a:xfrm>
          <a:prstGeom prst="rect">
            <a:avLst/>
          </a:prstGeom>
          <a:solidFill>
            <a:srgbClr val="B8B1A3"/>
          </a:solidFill>
          <a:ln w="9525">
            <a:solidFill>
              <a:srgbClr val="FFFFFF"/>
            </a:solidFill>
            <a:prstDash val="solid"/>
          </a:ln>
        </p:spPr>
      </p:sp>
      <p:sp>
        <p:nvSpPr>
          <p:cNvPr id="33" name="Text 31"/>
          <p:cNvSpPr txBox="1"/>
          <p:nvPr/>
        </p:nvSpPr>
        <p:spPr>
          <a:xfrm>
            <a:off x="6263640" y="3017520"/>
            <a:ext cx="2834640" cy="822960"/>
          </a:xfrm>
          <a:prstGeom prst="rect">
            <a:avLst/>
          </a:prstGeom>
          <a:noFill/>
          <a:ln/>
        </p:spPr>
        <p:txBody>
          <a:bodyPr wrap="square" lIns="0" tIns="0" rIns="0" bIns="0" rtlCol="0" anchor="ctr"/>
          <a:lstStyle/>
          <a:p>
            <a:pPr indent="0" marL="0">
              <a:buNone/>
            </a:pPr>
            <a:r>
              <a:rPr lang="en-US" sz="1100" dirty="0">
                <a:solidFill>
                  <a:srgbClr val="1A1A1A"/>
                </a:solidFill>
              </a:rPr>
              <a:t>WMM</a:t>
            </a:r>
            <a:endParaRPr lang="en-US" sz="1100" dirty="0"/>
          </a:p>
        </p:txBody>
      </p:sp>
      <p:sp>
        <p:nvSpPr>
          <p:cNvPr id="34" name="Text 32"/>
          <p:cNvSpPr txBox="1"/>
          <p:nvPr/>
        </p:nvSpPr>
        <p:spPr>
          <a:xfrm>
            <a:off x="9326880" y="3282696"/>
            <a:ext cx="1920240" cy="292608"/>
          </a:xfrm>
          <a:prstGeom prst="rect">
            <a:avLst/>
          </a:prstGeom>
          <a:noFill/>
          <a:ln/>
        </p:spPr>
        <p:txBody>
          <a:bodyPr wrap="square" lIns="0" tIns="0" rIns="0" bIns="0" rtlCol="0" anchor="ctr"/>
          <a:lstStyle/>
          <a:p>
            <a:pPr indent="0" marL="0">
              <a:buNone/>
            </a:pPr>
            <a:r>
              <a:rPr lang="en-US" sz="1200" dirty="0">
                <a:solidFill>
                  <a:schemeClr val="tx2"/>
                </a:solidFill>
              </a:rPr>
              <a:t>150 mm</a:t>
            </a:r>
            <a:endParaRPr lang="en-US" sz="1200" dirty="0"/>
          </a:p>
        </p:txBody>
      </p:sp>
      <p:sp>
        <p:nvSpPr>
          <p:cNvPr id="35" name="layer"/>
          <p:cNvSpPr/>
          <p:nvPr/>
        </p:nvSpPr>
        <p:spPr>
          <a:xfrm>
            <a:off x="6172200" y="3840480"/>
            <a:ext cx="3017520" cy="548640"/>
          </a:xfrm>
          <a:prstGeom prst="rect">
            <a:avLst/>
          </a:prstGeom>
          <a:solidFill>
            <a:srgbClr val="CFC8B8"/>
          </a:solidFill>
          <a:ln w="9525">
            <a:solidFill>
              <a:srgbClr val="FFFFFF"/>
            </a:solidFill>
            <a:prstDash val="solid"/>
          </a:ln>
        </p:spPr>
      </p:sp>
      <p:sp>
        <p:nvSpPr>
          <p:cNvPr id="36" name="Text 34"/>
          <p:cNvSpPr txBox="1"/>
          <p:nvPr/>
        </p:nvSpPr>
        <p:spPr>
          <a:xfrm>
            <a:off x="6263640" y="3840480"/>
            <a:ext cx="2834640" cy="548640"/>
          </a:xfrm>
          <a:prstGeom prst="rect">
            <a:avLst/>
          </a:prstGeom>
          <a:noFill/>
          <a:ln/>
        </p:spPr>
        <p:txBody>
          <a:bodyPr wrap="square" lIns="0" tIns="0" rIns="0" bIns="0" rtlCol="0" anchor="ctr"/>
          <a:lstStyle/>
          <a:p>
            <a:pPr indent="0" marL="0">
              <a:buNone/>
            </a:pPr>
            <a:r>
              <a:rPr lang="en-US" sz="1100" dirty="0">
                <a:solidFill>
                  <a:srgbClr val="1A1A1A"/>
                </a:solidFill>
              </a:rPr>
              <a:t>GSB</a:t>
            </a:r>
            <a:endParaRPr lang="en-US" sz="1100" dirty="0"/>
          </a:p>
        </p:txBody>
      </p:sp>
      <p:sp>
        <p:nvSpPr>
          <p:cNvPr id="37" name="Text 35"/>
          <p:cNvSpPr txBox="1"/>
          <p:nvPr/>
        </p:nvSpPr>
        <p:spPr>
          <a:xfrm>
            <a:off x="9326880" y="3968496"/>
            <a:ext cx="1920240" cy="292608"/>
          </a:xfrm>
          <a:prstGeom prst="rect">
            <a:avLst/>
          </a:prstGeom>
          <a:noFill/>
          <a:ln/>
        </p:spPr>
        <p:txBody>
          <a:bodyPr wrap="square" lIns="0" tIns="0" rIns="0" bIns="0" rtlCol="0" anchor="ctr"/>
          <a:lstStyle/>
          <a:p>
            <a:pPr indent="0" marL="0">
              <a:buNone/>
            </a:pPr>
            <a:r>
              <a:rPr lang="en-US" sz="1200" dirty="0">
                <a:solidFill>
                  <a:schemeClr val="tx2"/>
                </a:solidFill>
              </a:rPr>
              <a:t>100 mm</a:t>
            </a:r>
            <a:endParaRPr lang="en-US" sz="1200" dirty="0"/>
          </a:p>
        </p:txBody>
      </p:sp>
      <p:sp>
        <p:nvSpPr>
          <p:cNvPr id="38" name="layer"/>
          <p:cNvSpPr/>
          <p:nvPr/>
        </p:nvSpPr>
        <p:spPr>
          <a:xfrm>
            <a:off x="6172200" y="4389120"/>
            <a:ext cx="3017520" cy="91440"/>
          </a:xfrm>
          <a:prstGeom prst="rect">
            <a:avLst/>
          </a:prstGeom>
          <a:solidFill>
            <a:srgbClr val="1A1A1A"/>
          </a:solidFill>
          <a:ln w="9525">
            <a:solidFill>
              <a:srgbClr val="FFFFFF"/>
            </a:solidFill>
            <a:prstDash val="solid"/>
          </a:ln>
        </p:spPr>
      </p:sp>
      <p:sp>
        <p:nvSpPr>
          <p:cNvPr id="39" name="Text 37"/>
          <p:cNvSpPr txBox="1"/>
          <p:nvPr/>
        </p:nvSpPr>
        <p:spPr>
          <a:xfrm>
            <a:off x="9326880" y="4288536"/>
            <a:ext cx="1920240" cy="292608"/>
          </a:xfrm>
          <a:prstGeom prst="rect">
            <a:avLst/>
          </a:prstGeom>
          <a:noFill/>
          <a:ln/>
        </p:spPr>
        <p:txBody>
          <a:bodyPr wrap="square" lIns="0" tIns="0" rIns="0" bIns="0" rtlCol="0" anchor="ctr"/>
          <a:lstStyle/>
          <a:p>
            <a:pPr indent="0" marL="0">
              <a:buNone/>
            </a:pPr>
            <a:r>
              <a:rPr lang="en-US" sz="1200" dirty="0">
                <a:solidFill>
                  <a:schemeClr val="tx2"/>
                </a:solidFill>
              </a:rPr>
              <a:t>Geotextile 200 gsm</a:t>
            </a:r>
            <a:endParaRPr lang="en-US" sz="1200" dirty="0"/>
          </a:p>
        </p:txBody>
      </p:sp>
      <p:sp>
        <p:nvSpPr>
          <p:cNvPr id="40" name="layer"/>
          <p:cNvSpPr/>
          <p:nvPr/>
        </p:nvSpPr>
        <p:spPr>
          <a:xfrm>
            <a:off x="6172200" y="4480560"/>
            <a:ext cx="3017520" cy="457200"/>
          </a:xfrm>
          <a:prstGeom prst="rect">
            <a:avLst/>
          </a:prstGeom>
          <a:solidFill>
            <a:srgbClr val="8C7B6B"/>
          </a:solidFill>
          <a:ln w="9525">
            <a:solidFill>
              <a:srgbClr val="FFFFFF"/>
            </a:solidFill>
            <a:prstDash val="solid"/>
          </a:ln>
        </p:spPr>
      </p:sp>
      <p:sp>
        <p:nvSpPr>
          <p:cNvPr id="41" name="Text 39"/>
          <p:cNvSpPr txBox="1"/>
          <p:nvPr/>
        </p:nvSpPr>
        <p:spPr>
          <a:xfrm>
            <a:off x="6263640" y="4480560"/>
            <a:ext cx="2834640" cy="457200"/>
          </a:xfrm>
          <a:prstGeom prst="rect">
            <a:avLst/>
          </a:prstGeom>
          <a:noFill/>
          <a:ln/>
        </p:spPr>
        <p:txBody>
          <a:bodyPr wrap="square" lIns="0" tIns="0" rIns="0" bIns="0" rtlCol="0" anchor="ctr"/>
          <a:lstStyle/>
          <a:p>
            <a:pPr indent="0" marL="0">
              <a:buNone/>
            </a:pPr>
            <a:r>
              <a:rPr lang="en-US" sz="1100" dirty="0">
                <a:solidFill>
                  <a:srgbClr val="FFFFFF"/>
                </a:solidFill>
              </a:rPr>
              <a:t>Subgrade, CBR 2-5%, 98% MDD</a:t>
            </a:r>
            <a:endParaRPr lang="en-US" sz="1100" dirty="0"/>
          </a:p>
        </p:txBody>
      </p:sp>
      <p:sp>
        <p:nvSpPr>
          <p:cNvPr id="42" name="Text 40"/>
          <p:cNvSpPr txBox="1"/>
          <p:nvPr/>
        </p:nvSpPr>
        <p:spPr>
          <a:xfrm>
            <a:off x="9326880" y="4562856"/>
            <a:ext cx="1920240" cy="292608"/>
          </a:xfrm>
          <a:prstGeom prst="rect">
            <a:avLst/>
          </a:prstGeom>
          <a:noFill/>
          <a:ln/>
        </p:spPr>
        <p:txBody>
          <a:bodyPr wrap="square" lIns="0" tIns="0" rIns="0" bIns="0" rtlCol="0" anchor="ctr"/>
          <a:lstStyle/>
          <a:p>
            <a:pPr indent="0" marL="0">
              <a:buNone/>
            </a:pPr>
            <a:endParaRPr lang="en-US" sz="1200" dirty="0"/>
          </a:p>
        </p:txBody>
      </p:sp>
      <p:sp>
        <p:nvSpPr>
          <p:cNvPr id="43" name="Text 41"/>
          <p:cNvSpPr txBox="1"/>
          <p:nvPr/>
        </p:nvSpPr>
        <p:spPr>
          <a:xfrm>
            <a:off x="6172200" y="5074920"/>
            <a:ext cx="5120640" cy="320040"/>
          </a:xfrm>
          <a:prstGeom prst="rect">
            <a:avLst/>
          </a:prstGeom>
          <a:noFill/>
          <a:ln/>
        </p:spPr>
        <p:txBody>
          <a:bodyPr wrap="square" lIns="0" tIns="0" rIns="0" bIns="0" rtlCol="0" anchor="t"/>
          <a:lstStyle/>
          <a:p>
            <a:pPr indent="0" marL="0">
              <a:buNone/>
            </a:pPr>
            <a:r>
              <a:rPr lang="en-US" sz="1300" b="1" dirty="0">
                <a:solidFill>
                  <a:schemeClr val="tx1"/>
                </a:solidFill>
              </a:rPr>
              <a:t>Installed about ₹1,682/m²  ·  WBM ₹600</a:t>
            </a:r>
            <a:endParaRPr lang="en-US" sz="1300" dirty="0"/>
          </a:p>
        </p:txBody>
      </p:sp>
      <p:sp>
        <p:nvSpPr>
          <p:cNvPr id="44" name="source"/>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GridMats Systems Manual Rev 1.3 base tables; unit rates from Design Engine 73 BoQ with grid at ₹900/m². U-nails 1 per 2-3 m², edge restraint throughout. Not to scale.</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Solar Walkway: paving that also powers</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Walkable PV on wiring lumber over the GridMats base. Pilot stage: the pilot measures yield, heat and grip.</a:t>
            </a:r>
            <a:endParaRPr lang="en-US" sz="1600" dirty="0"/>
          </a:p>
        </p:txBody>
      </p:sp>
      <p:sp>
        <p:nvSpPr>
          <p:cNvPr id="4" name="walk-layer"/>
          <p:cNvSpPr/>
          <p:nvPr/>
        </p:nvSpPr>
        <p:spPr>
          <a:xfrm>
            <a:off x="731520" y="1874520"/>
            <a:ext cx="4754880" cy="685800"/>
          </a:xfrm>
          <a:prstGeom prst="parallelogram">
            <a:avLst/>
          </a:prstGeom>
          <a:solidFill>
            <a:srgbClr val="2B3A55"/>
          </a:solidFill>
          <a:ln w="12700">
            <a:solidFill>
              <a:srgbClr val="FFFFFF"/>
            </a:solidFill>
            <a:prstDash val="solid"/>
          </a:ln>
        </p:spPr>
      </p:sp>
      <p:sp>
        <p:nvSpPr>
          <p:cNvPr id="5" name="walk-layer"/>
          <p:cNvSpPr/>
          <p:nvPr/>
        </p:nvSpPr>
        <p:spPr>
          <a:xfrm>
            <a:off x="731520" y="2971800"/>
            <a:ext cx="4754880" cy="685800"/>
          </a:xfrm>
          <a:prstGeom prst="parallelogram">
            <a:avLst/>
          </a:prstGeom>
          <a:solidFill>
            <a:srgbClr val="8C8C8C"/>
          </a:solidFill>
          <a:ln w="12700">
            <a:solidFill>
              <a:srgbClr val="FFFFFF"/>
            </a:solidFill>
            <a:prstDash val="solid"/>
          </a:ln>
        </p:spPr>
      </p:sp>
      <p:sp>
        <p:nvSpPr>
          <p:cNvPr id="6" name="walk-layer"/>
          <p:cNvSpPr/>
          <p:nvPr/>
        </p:nvSpPr>
        <p:spPr>
          <a:xfrm>
            <a:off x="731520" y="4069080"/>
            <a:ext cx="4754880" cy="685800"/>
          </a:xfrm>
          <a:prstGeom prst="parallelogram">
            <a:avLst/>
          </a:prstGeom>
          <a:solidFill>
            <a:srgbClr val="C22935"/>
          </a:solidFill>
          <a:ln w="12700">
            <a:solidFill>
              <a:srgbClr val="FFFFFF"/>
            </a:solidFill>
            <a:prstDash val="solid"/>
          </a:ln>
        </p:spPr>
      </p:sp>
      <p:sp>
        <p:nvSpPr>
          <p:cNvPr id="7" name="cell-line"/>
          <p:cNvSpPr/>
          <p:nvPr/>
        </p:nvSpPr>
        <p:spPr>
          <a:xfrm>
            <a:off x="1783080" y="1901952"/>
            <a:ext cx="0" cy="630936"/>
          </a:xfrm>
          <a:prstGeom prst="line">
            <a:avLst/>
          </a:prstGeom>
          <a:noFill/>
          <a:ln w="12700">
            <a:solidFill>
              <a:srgbClr val="6E7FA0"/>
            </a:solidFill>
            <a:prstDash val="solid"/>
          </a:ln>
        </p:spPr>
      </p:sp>
      <p:sp>
        <p:nvSpPr>
          <p:cNvPr id="8" name="cell-line"/>
          <p:cNvSpPr/>
          <p:nvPr/>
        </p:nvSpPr>
        <p:spPr>
          <a:xfrm>
            <a:off x="2514600" y="1901952"/>
            <a:ext cx="0" cy="630936"/>
          </a:xfrm>
          <a:prstGeom prst="line">
            <a:avLst/>
          </a:prstGeom>
          <a:noFill/>
          <a:ln w="12700">
            <a:solidFill>
              <a:srgbClr val="6E7FA0"/>
            </a:solidFill>
            <a:prstDash val="solid"/>
          </a:ln>
        </p:spPr>
      </p:sp>
      <p:sp>
        <p:nvSpPr>
          <p:cNvPr id="9" name="cell-line"/>
          <p:cNvSpPr/>
          <p:nvPr/>
        </p:nvSpPr>
        <p:spPr>
          <a:xfrm>
            <a:off x="3246120" y="1901952"/>
            <a:ext cx="0" cy="630936"/>
          </a:xfrm>
          <a:prstGeom prst="line">
            <a:avLst/>
          </a:prstGeom>
          <a:noFill/>
          <a:ln w="12700">
            <a:solidFill>
              <a:srgbClr val="6E7FA0"/>
            </a:solidFill>
            <a:prstDash val="solid"/>
          </a:ln>
        </p:spPr>
      </p:sp>
      <p:sp>
        <p:nvSpPr>
          <p:cNvPr id="10" name="cell-line"/>
          <p:cNvSpPr/>
          <p:nvPr/>
        </p:nvSpPr>
        <p:spPr>
          <a:xfrm>
            <a:off x="3977640" y="1901952"/>
            <a:ext cx="0" cy="630936"/>
          </a:xfrm>
          <a:prstGeom prst="line">
            <a:avLst/>
          </a:prstGeom>
          <a:noFill/>
          <a:ln w="12700">
            <a:solidFill>
              <a:srgbClr val="6E7FA0"/>
            </a:solidFill>
            <a:prstDash val="solid"/>
          </a:ln>
        </p:spPr>
      </p:sp>
      <p:sp>
        <p:nvSpPr>
          <p:cNvPr id="11" name="cell-line"/>
          <p:cNvSpPr/>
          <p:nvPr/>
        </p:nvSpPr>
        <p:spPr>
          <a:xfrm>
            <a:off x="4709160" y="1901952"/>
            <a:ext cx="0" cy="630936"/>
          </a:xfrm>
          <a:prstGeom prst="line">
            <a:avLst/>
          </a:prstGeom>
          <a:noFill/>
          <a:ln w="12700">
            <a:solidFill>
              <a:srgbClr val="6E7FA0"/>
            </a:solidFill>
            <a:prstDash val="solid"/>
          </a:ln>
        </p:spPr>
      </p:sp>
      <p:sp>
        <p:nvSpPr>
          <p:cNvPr id="12" name="lumber"/>
          <p:cNvSpPr/>
          <p:nvPr/>
        </p:nvSpPr>
        <p:spPr>
          <a:xfrm>
            <a:off x="1143000" y="3127248"/>
            <a:ext cx="329184" cy="384048"/>
          </a:xfrm>
          <a:prstGeom prst="rect">
            <a:avLst/>
          </a:prstGeom>
          <a:solidFill>
            <a:srgbClr val="6F6F6F"/>
          </a:solidFill>
          <a:ln w="12700">
            <a:solidFill>
              <a:srgbClr val="6F6F6F"/>
            </a:solidFill>
            <a:prstDash val="solid"/>
          </a:ln>
        </p:spPr>
      </p:sp>
      <p:sp>
        <p:nvSpPr>
          <p:cNvPr id="13" name="lumber"/>
          <p:cNvSpPr/>
          <p:nvPr/>
        </p:nvSpPr>
        <p:spPr>
          <a:xfrm>
            <a:off x="1764792" y="3127248"/>
            <a:ext cx="329184" cy="384048"/>
          </a:xfrm>
          <a:prstGeom prst="rect">
            <a:avLst/>
          </a:prstGeom>
          <a:solidFill>
            <a:srgbClr val="6F6F6F"/>
          </a:solidFill>
          <a:ln w="12700">
            <a:solidFill>
              <a:srgbClr val="6F6F6F"/>
            </a:solidFill>
            <a:prstDash val="solid"/>
          </a:ln>
        </p:spPr>
      </p:sp>
      <p:sp>
        <p:nvSpPr>
          <p:cNvPr id="14" name="lumber"/>
          <p:cNvSpPr/>
          <p:nvPr/>
        </p:nvSpPr>
        <p:spPr>
          <a:xfrm>
            <a:off x="2386584" y="3127248"/>
            <a:ext cx="329184" cy="384048"/>
          </a:xfrm>
          <a:prstGeom prst="rect">
            <a:avLst/>
          </a:prstGeom>
          <a:solidFill>
            <a:srgbClr val="6F6F6F"/>
          </a:solidFill>
          <a:ln w="12700">
            <a:solidFill>
              <a:srgbClr val="6F6F6F"/>
            </a:solidFill>
            <a:prstDash val="solid"/>
          </a:ln>
        </p:spPr>
      </p:sp>
      <p:sp>
        <p:nvSpPr>
          <p:cNvPr id="15" name="lumber"/>
          <p:cNvSpPr/>
          <p:nvPr/>
        </p:nvSpPr>
        <p:spPr>
          <a:xfrm>
            <a:off x="3008376" y="3127248"/>
            <a:ext cx="329184" cy="384048"/>
          </a:xfrm>
          <a:prstGeom prst="rect">
            <a:avLst/>
          </a:prstGeom>
          <a:solidFill>
            <a:srgbClr val="6F6F6F"/>
          </a:solidFill>
          <a:ln w="12700">
            <a:solidFill>
              <a:srgbClr val="6F6F6F"/>
            </a:solidFill>
            <a:prstDash val="solid"/>
          </a:ln>
        </p:spPr>
      </p:sp>
      <p:sp>
        <p:nvSpPr>
          <p:cNvPr id="16" name="lumber"/>
          <p:cNvSpPr/>
          <p:nvPr/>
        </p:nvSpPr>
        <p:spPr>
          <a:xfrm>
            <a:off x="3630168" y="3127248"/>
            <a:ext cx="329184" cy="384048"/>
          </a:xfrm>
          <a:prstGeom prst="rect">
            <a:avLst/>
          </a:prstGeom>
          <a:solidFill>
            <a:srgbClr val="6F6F6F"/>
          </a:solidFill>
          <a:ln w="12700">
            <a:solidFill>
              <a:srgbClr val="6F6F6F"/>
            </a:solidFill>
            <a:prstDash val="solid"/>
          </a:ln>
        </p:spPr>
      </p:sp>
      <p:sp>
        <p:nvSpPr>
          <p:cNvPr id="17" name="lumber"/>
          <p:cNvSpPr/>
          <p:nvPr/>
        </p:nvSpPr>
        <p:spPr>
          <a:xfrm>
            <a:off x="4251960" y="3127248"/>
            <a:ext cx="329184" cy="384048"/>
          </a:xfrm>
          <a:prstGeom prst="rect">
            <a:avLst/>
          </a:prstGeom>
          <a:solidFill>
            <a:srgbClr val="6F6F6F"/>
          </a:solidFill>
          <a:ln w="12700">
            <a:solidFill>
              <a:srgbClr val="6F6F6F"/>
            </a:solidFill>
            <a:prstDash val="solid"/>
          </a:ln>
        </p:spPr>
      </p:sp>
      <p:sp>
        <p:nvSpPr>
          <p:cNvPr id="18" name="lumber"/>
          <p:cNvSpPr/>
          <p:nvPr/>
        </p:nvSpPr>
        <p:spPr>
          <a:xfrm>
            <a:off x="4873752" y="3127248"/>
            <a:ext cx="329184" cy="384048"/>
          </a:xfrm>
          <a:prstGeom prst="rect">
            <a:avLst/>
          </a:prstGeom>
          <a:solidFill>
            <a:srgbClr val="6F6F6F"/>
          </a:solidFill>
          <a:ln w="12700">
            <a:solidFill>
              <a:srgbClr val="6F6F6F"/>
            </a:solidFill>
            <a:prstDash val="solid"/>
          </a:ln>
        </p:spPr>
      </p:sp>
      <p:sp>
        <p:nvSpPr>
          <p:cNvPr id="19" name="base-hex"/>
          <p:cNvSpPr/>
          <p:nvPr/>
        </p:nvSpPr>
        <p:spPr>
          <a:xfrm>
            <a:off x="1115568" y="4206240"/>
            <a:ext cx="438912" cy="384048"/>
          </a:xfrm>
          <a:prstGeom prst="hexagon">
            <a:avLst/>
          </a:prstGeom>
          <a:solidFill>
            <a:srgbClr val="A11F2A"/>
          </a:solidFill>
          <a:ln w="12700">
            <a:solidFill>
              <a:srgbClr val="FFFFFF"/>
            </a:solidFill>
            <a:prstDash val="solid"/>
          </a:ln>
        </p:spPr>
      </p:sp>
      <p:sp>
        <p:nvSpPr>
          <p:cNvPr id="20" name="base-hex"/>
          <p:cNvSpPr/>
          <p:nvPr/>
        </p:nvSpPr>
        <p:spPr>
          <a:xfrm>
            <a:off x="1645920" y="4206240"/>
            <a:ext cx="438912" cy="384048"/>
          </a:xfrm>
          <a:prstGeom prst="hexagon">
            <a:avLst/>
          </a:prstGeom>
          <a:solidFill>
            <a:srgbClr val="A11F2A"/>
          </a:solidFill>
          <a:ln w="12700">
            <a:solidFill>
              <a:srgbClr val="FFFFFF"/>
            </a:solidFill>
            <a:prstDash val="solid"/>
          </a:ln>
        </p:spPr>
      </p:sp>
      <p:sp>
        <p:nvSpPr>
          <p:cNvPr id="21" name="base-hex"/>
          <p:cNvSpPr/>
          <p:nvPr/>
        </p:nvSpPr>
        <p:spPr>
          <a:xfrm>
            <a:off x="2176272" y="4206240"/>
            <a:ext cx="438912" cy="384048"/>
          </a:xfrm>
          <a:prstGeom prst="hexagon">
            <a:avLst/>
          </a:prstGeom>
          <a:solidFill>
            <a:srgbClr val="A11F2A"/>
          </a:solidFill>
          <a:ln w="12700">
            <a:solidFill>
              <a:srgbClr val="FFFFFF"/>
            </a:solidFill>
            <a:prstDash val="solid"/>
          </a:ln>
        </p:spPr>
      </p:sp>
      <p:sp>
        <p:nvSpPr>
          <p:cNvPr id="22" name="base-hex"/>
          <p:cNvSpPr/>
          <p:nvPr/>
        </p:nvSpPr>
        <p:spPr>
          <a:xfrm>
            <a:off x="2706624" y="4206240"/>
            <a:ext cx="438912" cy="384048"/>
          </a:xfrm>
          <a:prstGeom prst="hexagon">
            <a:avLst/>
          </a:prstGeom>
          <a:solidFill>
            <a:srgbClr val="A11F2A"/>
          </a:solidFill>
          <a:ln w="12700">
            <a:solidFill>
              <a:srgbClr val="FFFFFF"/>
            </a:solidFill>
            <a:prstDash val="solid"/>
          </a:ln>
        </p:spPr>
      </p:sp>
      <p:sp>
        <p:nvSpPr>
          <p:cNvPr id="23" name="base-hex"/>
          <p:cNvSpPr/>
          <p:nvPr/>
        </p:nvSpPr>
        <p:spPr>
          <a:xfrm>
            <a:off x="3236976" y="4206240"/>
            <a:ext cx="438912" cy="384048"/>
          </a:xfrm>
          <a:prstGeom prst="hexagon">
            <a:avLst/>
          </a:prstGeom>
          <a:solidFill>
            <a:srgbClr val="A11F2A"/>
          </a:solidFill>
          <a:ln w="12700">
            <a:solidFill>
              <a:srgbClr val="FFFFFF"/>
            </a:solidFill>
            <a:prstDash val="solid"/>
          </a:ln>
        </p:spPr>
      </p:sp>
      <p:sp>
        <p:nvSpPr>
          <p:cNvPr id="24" name="base-hex"/>
          <p:cNvSpPr/>
          <p:nvPr/>
        </p:nvSpPr>
        <p:spPr>
          <a:xfrm>
            <a:off x="3767328" y="4206240"/>
            <a:ext cx="438912" cy="384048"/>
          </a:xfrm>
          <a:prstGeom prst="hexagon">
            <a:avLst/>
          </a:prstGeom>
          <a:solidFill>
            <a:srgbClr val="A11F2A"/>
          </a:solidFill>
          <a:ln w="12700">
            <a:solidFill>
              <a:srgbClr val="FFFFFF"/>
            </a:solidFill>
            <a:prstDash val="solid"/>
          </a:ln>
        </p:spPr>
      </p:sp>
      <p:sp>
        <p:nvSpPr>
          <p:cNvPr id="25" name="base-hex"/>
          <p:cNvSpPr/>
          <p:nvPr/>
        </p:nvSpPr>
        <p:spPr>
          <a:xfrm>
            <a:off x="4297680" y="4206240"/>
            <a:ext cx="438912" cy="384048"/>
          </a:xfrm>
          <a:prstGeom prst="hexagon">
            <a:avLst/>
          </a:prstGeom>
          <a:solidFill>
            <a:srgbClr val="A11F2A"/>
          </a:solidFill>
          <a:ln w="12700">
            <a:solidFill>
              <a:srgbClr val="FFFFFF"/>
            </a:solidFill>
            <a:prstDash val="solid"/>
          </a:ln>
        </p:spPr>
      </p:sp>
      <p:sp>
        <p:nvSpPr>
          <p:cNvPr id="26" name="base-hex"/>
          <p:cNvSpPr/>
          <p:nvPr/>
        </p:nvSpPr>
        <p:spPr>
          <a:xfrm>
            <a:off x="4828032" y="4206240"/>
            <a:ext cx="438912" cy="384048"/>
          </a:xfrm>
          <a:prstGeom prst="hexagon">
            <a:avLst/>
          </a:prstGeom>
          <a:solidFill>
            <a:srgbClr val="A11F2A"/>
          </a:solidFill>
          <a:ln w="12700">
            <a:solidFill>
              <a:srgbClr val="FFFFFF"/>
            </a:solidFill>
            <a:prstDash val="solid"/>
          </a:ln>
        </p:spPr>
      </p:sp>
      <p:sp>
        <p:nvSpPr>
          <p:cNvPr id="27" name="Text 25"/>
          <p:cNvSpPr txBox="1"/>
          <p:nvPr/>
        </p:nvSpPr>
        <p:spPr>
          <a:xfrm>
            <a:off x="731520" y="2587752"/>
            <a:ext cx="4754880" cy="365760"/>
          </a:xfrm>
          <a:prstGeom prst="rect">
            <a:avLst/>
          </a:prstGeom>
          <a:noFill/>
          <a:ln/>
        </p:spPr>
        <p:txBody>
          <a:bodyPr wrap="square" lIns="0" tIns="0" rIns="0" bIns="0" rtlCol="0" anchor="t"/>
          <a:lstStyle/>
          <a:p>
            <a:pPr indent="0" marL="0">
              <a:buNone/>
            </a:pPr>
            <a:r>
              <a:rPr lang="en-US" sz="1200" dirty="0">
                <a:solidFill>
                  <a:schemeClr val="tx2"/>
                </a:solidFill>
              </a:rPr>
              <a:t>Walkable PV layer: 40 W module on each grid</a:t>
            </a:r>
            <a:endParaRPr lang="en-US" sz="1200" dirty="0"/>
          </a:p>
        </p:txBody>
      </p:sp>
      <p:sp>
        <p:nvSpPr>
          <p:cNvPr id="28" name="Text 26"/>
          <p:cNvSpPr txBox="1"/>
          <p:nvPr/>
        </p:nvSpPr>
        <p:spPr>
          <a:xfrm>
            <a:off x="731520" y="3685032"/>
            <a:ext cx="4754880" cy="365760"/>
          </a:xfrm>
          <a:prstGeom prst="rect">
            <a:avLst/>
          </a:prstGeom>
          <a:noFill/>
          <a:ln/>
        </p:spPr>
        <p:txBody>
          <a:bodyPr wrap="square" lIns="0" tIns="0" rIns="0" bIns="0" rtlCol="0" anchor="t"/>
          <a:lstStyle/>
          <a:p>
            <a:pPr indent="0" marL="0">
              <a:buNone/>
            </a:pPr>
            <a:r>
              <a:rPr lang="en-US" sz="1200" dirty="0">
                <a:solidFill>
                  <a:schemeClr val="tx2"/>
                </a:solidFill>
              </a:rPr>
              <a:t>MLP lumber, 40 × 40 mm, carries the wiring; 50 mm gaps drain</a:t>
            </a:r>
            <a:endParaRPr lang="en-US" sz="1200" dirty="0"/>
          </a:p>
        </p:txBody>
      </p:sp>
      <p:sp>
        <p:nvSpPr>
          <p:cNvPr id="29" name="Text 27"/>
          <p:cNvSpPr txBox="1"/>
          <p:nvPr/>
        </p:nvSpPr>
        <p:spPr>
          <a:xfrm>
            <a:off x="731520" y="4782312"/>
            <a:ext cx="4754880" cy="365760"/>
          </a:xfrm>
          <a:prstGeom prst="rect">
            <a:avLst/>
          </a:prstGeom>
          <a:noFill/>
          <a:ln/>
        </p:spPr>
        <p:txBody>
          <a:bodyPr wrap="square" lIns="0" tIns="0" rIns="0" bIns="0" rtlCol="0" anchor="t"/>
          <a:lstStyle/>
          <a:p>
            <a:pPr indent="0" marL="0">
              <a:buNone/>
            </a:pPr>
            <a:r>
              <a:rPr lang="en-US" sz="1200" dirty="0">
                <a:solidFill>
                  <a:schemeClr val="tx2"/>
                </a:solidFill>
              </a:rPr>
              <a:t>GridMats structural base, 100% recycled PP, on open-graded GSB</a:t>
            </a:r>
            <a:endParaRPr lang="en-US" sz="1200" dirty="0"/>
          </a:p>
        </p:txBody>
      </p:sp>
      <p:sp>
        <p:nvSpPr>
          <p:cNvPr id="30" name="stat-value"/>
          <p:cNvSpPr txBox="1"/>
          <p:nvPr/>
        </p:nvSpPr>
        <p:spPr>
          <a:xfrm>
            <a:off x="6400800" y="1783080"/>
            <a:ext cx="2377440" cy="457200"/>
          </a:xfrm>
          <a:prstGeom prst="rect">
            <a:avLst/>
          </a:prstGeom>
          <a:noFill/>
          <a:ln/>
        </p:spPr>
        <p:txBody>
          <a:bodyPr wrap="square" lIns="0" tIns="0" rIns="0" bIns="0" rtlCol="0" anchor="b"/>
          <a:lstStyle/>
          <a:p>
            <a:pPr indent="0" marL="0">
              <a:buNone/>
            </a:pPr>
            <a:r>
              <a:rPr lang="en-US" sz="3000" b="1" dirty="0">
                <a:solidFill>
                  <a:schemeClr val="accent3"/>
                </a:solidFill>
              </a:rPr>
              <a:t>~160 W/m²</a:t>
            </a:r>
            <a:endParaRPr lang="en-US" sz="3000" dirty="0"/>
          </a:p>
        </p:txBody>
      </p:sp>
      <p:sp>
        <p:nvSpPr>
          <p:cNvPr id="31" name="stat-label"/>
          <p:cNvSpPr txBox="1"/>
          <p:nvPr/>
        </p:nvSpPr>
        <p:spPr>
          <a:xfrm>
            <a:off x="6400800" y="2286000"/>
            <a:ext cx="2377440" cy="566928"/>
          </a:xfrm>
          <a:prstGeom prst="rect">
            <a:avLst/>
          </a:prstGeom>
          <a:noFill/>
          <a:ln/>
        </p:spPr>
        <p:txBody>
          <a:bodyPr wrap="square" lIns="0" tIns="0" rIns="0" bIns="0" rtlCol="0" anchor="t"/>
          <a:lstStyle/>
          <a:p>
            <a:pPr indent="0" marL="0">
              <a:buNone/>
            </a:pPr>
            <a:r>
              <a:rPr lang="en-US" sz="1300" dirty="0">
                <a:solidFill>
                  <a:schemeClr val="tx2"/>
                </a:solidFill>
              </a:rPr>
              <a:t>rated power (4 grids × 40 W per m²)</a:t>
            </a:r>
            <a:endParaRPr lang="en-US" sz="1300" dirty="0"/>
          </a:p>
        </p:txBody>
      </p:sp>
      <p:sp>
        <p:nvSpPr>
          <p:cNvPr id="32" name="stat-value"/>
          <p:cNvSpPr txBox="1"/>
          <p:nvPr/>
        </p:nvSpPr>
        <p:spPr>
          <a:xfrm>
            <a:off x="6400800" y="2807208"/>
            <a:ext cx="2377440" cy="457200"/>
          </a:xfrm>
          <a:prstGeom prst="rect">
            <a:avLst/>
          </a:prstGeom>
          <a:noFill/>
          <a:ln/>
        </p:spPr>
        <p:txBody>
          <a:bodyPr wrap="square" lIns="0" tIns="0" rIns="0" bIns="0" rtlCol="0" anchor="b"/>
          <a:lstStyle/>
          <a:p>
            <a:pPr indent="0" marL="0">
              <a:buNone/>
            </a:pPr>
            <a:r>
              <a:rPr lang="en-US" sz="3000" b="1" dirty="0">
                <a:solidFill>
                  <a:schemeClr val="accent1"/>
                </a:solidFill>
              </a:rPr>
              <a:t>0</a:t>
            </a:r>
            <a:endParaRPr lang="en-US" sz="3000" dirty="0"/>
          </a:p>
        </p:txBody>
      </p:sp>
      <p:sp>
        <p:nvSpPr>
          <p:cNvPr id="33" name="stat-label"/>
          <p:cNvSpPr txBox="1"/>
          <p:nvPr/>
        </p:nvSpPr>
        <p:spPr>
          <a:xfrm>
            <a:off x="6400800" y="3310128"/>
            <a:ext cx="2377440" cy="566928"/>
          </a:xfrm>
          <a:prstGeom prst="rect">
            <a:avLst/>
          </a:prstGeom>
          <a:noFill/>
          <a:ln/>
        </p:spPr>
        <p:txBody>
          <a:bodyPr wrap="square" lIns="0" tIns="0" rIns="0" bIns="0" rtlCol="0" anchor="t"/>
          <a:lstStyle/>
          <a:p>
            <a:pPr indent="0" marL="0">
              <a:buNone/>
            </a:pPr>
            <a:r>
              <a:rPr lang="en-US" sz="1300" dirty="0">
                <a:solidFill>
                  <a:schemeClr val="tx2"/>
                </a:solidFill>
              </a:rPr>
              <a:t>extra land, roof or mounting</a:t>
            </a:r>
            <a:endParaRPr lang="en-US" sz="1300" dirty="0"/>
          </a:p>
        </p:txBody>
      </p:sp>
      <p:sp>
        <p:nvSpPr>
          <p:cNvPr id="34" name="stat-value"/>
          <p:cNvSpPr txBox="1"/>
          <p:nvPr/>
        </p:nvSpPr>
        <p:spPr>
          <a:xfrm>
            <a:off x="6400800" y="3831336"/>
            <a:ext cx="2377440" cy="457200"/>
          </a:xfrm>
          <a:prstGeom prst="rect">
            <a:avLst/>
          </a:prstGeom>
          <a:noFill/>
          <a:ln/>
        </p:spPr>
        <p:txBody>
          <a:bodyPr wrap="square" lIns="0" tIns="0" rIns="0" bIns="0" rtlCol="0" anchor="b"/>
          <a:lstStyle/>
          <a:p>
            <a:pPr indent="0" marL="0">
              <a:buNone/>
            </a:pPr>
            <a:r>
              <a:rPr lang="en-US" sz="3000" b="1" dirty="0">
                <a:solidFill>
                  <a:schemeClr val="accent1"/>
                </a:solidFill>
              </a:rPr>
              <a:t>15-16%</a:t>
            </a:r>
            <a:endParaRPr lang="en-US" sz="3000" dirty="0"/>
          </a:p>
        </p:txBody>
      </p:sp>
      <p:sp>
        <p:nvSpPr>
          <p:cNvPr id="35" name="stat-label"/>
          <p:cNvSpPr txBox="1"/>
          <p:nvPr/>
        </p:nvSpPr>
        <p:spPr>
          <a:xfrm>
            <a:off x="6400800" y="4334256"/>
            <a:ext cx="2377440" cy="566928"/>
          </a:xfrm>
          <a:prstGeom prst="rect">
            <a:avLst/>
          </a:prstGeom>
          <a:noFill/>
          <a:ln/>
        </p:spPr>
        <p:txBody>
          <a:bodyPr wrap="square" lIns="0" tIns="0" rIns="0" bIns="0" rtlCol="0" anchor="t"/>
          <a:lstStyle/>
          <a:p>
            <a:pPr indent="0" marL="0">
              <a:buNone/>
            </a:pPr>
            <a:r>
              <a:rPr lang="en-US" sz="1300" dirty="0">
                <a:solidFill>
                  <a:schemeClr val="tx2"/>
                </a:solidFill>
              </a:rPr>
              <a:t>surface efficiency</a:t>
            </a:r>
            <a:endParaRPr lang="en-US" sz="1300" dirty="0"/>
          </a:p>
        </p:txBody>
      </p:sp>
      <p:sp>
        <p:nvSpPr>
          <p:cNvPr id="36" name="Text 34"/>
          <p:cNvSpPr txBox="1"/>
          <p:nvPr/>
        </p:nvSpPr>
        <p:spPr>
          <a:xfrm>
            <a:off x="9006840" y="1783080"/>
            <a:ext cx="2651760" cy="347472"/>
          </a:xfrm>
          <a:prstGeom prst="rect">
            <a:avLst/>
          </a:prstGeom>
          <a:noFill/>
          <a:ln/>
        </p:spPr>
        <p:txBody>
          <a:bodyPr wrap="square" lIns="0" tIns="0" rIns="0" bIns="0" rtlCol="0" anchor="t"/>
          <a:lstStyle/>
          <a:p>
            <a:pPr indent="0" marL="0">
              <a:buNone/>
            </a:pPr>
            <a:r>
              <a:rPr lang="en-US" sz="1600" b="1" dirty="0">
                <a:solidFill>
                  <a:schemeClr val="tx1"/>
                </a:solidFill>
              </a:rPr>
              <a:t>Pilot method</a:t>
            </a:r>
            <a:endParaRPr lang="en-US" sz="1600" dirty="0"/>
          </a:p>
        </p:txBody>
      </p:sp>
      <p:sp>
        <p:nvSpPr>
          <p:cNvPr id="37" name="Text 35"/>
          <p:cNvSpPr txBox="1"/>
          <p:nvPr/>
        </p:nvSpPr>
        <p:spPr>
          <a:xfrm>
            <a:off x="9006840" y="2194560"/>
            <a:ext cx="2651760" cy="31089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chemeClr val="tx2"/>
                </a:solidFill>
              </a:rPr>
              <a:t>Site check: shade, footfall, drainage, grid connection</a:t>
            </a:r>
            <a:endParaRPr lang="en-US" sz="1300" dirty="0"/>
          </a:p>
          <a:p>
            <a:pPr marL="342900" indent="-342900">
              <a:spcAft>
                <a:spcPts val="600"/>
              </a:spcAft>
              <a:buSzPct val="100000"/>
              <a:buFont typeface="+mj-lt"/>
              <a:buAutoNum type="arabicPeriod" startAt="1"/>
            </a:pPr>
            <a:r>
              <a:rPr lang="en-US" sz="1300" dirty="0">
                <a:solidFill>
                  <a:schemeClr val="tx2"/>
                </a:solidFill>
              </a:rPr>
              <a:t>Engineering: module and lumber layout, cabling, inverter, safety</a:t>
            </a:r>
            <a:endParaRPr lang="en-US" sz="1300" dirty="0"/>
          </a:p>
          <a:p>
            <a:pPr marL="342900" indent="-342900">
              <a:spcAft>
                <a:spcPts val="600"/>
              </a:spcAft>
              <a:buSzPct val="100000"/>
              <a:buFont typeface="+mj-lt"/>
              <a:buAutoNum type="arabicPeriod" startAt="1"/>
            </a:pPr>
            <a:r>
              <a:rPr lang="en-US" sz="1300" dirty="0">
                <a:solidFill>
                  <a:schemeClr val="tx2"/>
                </a:solidFill>
              </a:rPr>
              <a:t>Field pilot: measured W/m², kWh a day, module heat, grip, uptime</a:t>
            </a:r>
            <a:endParaRPr lang="en-US" sz="1300" dirty="0"/>
          </a:p>
          <a:p>
            <a:pPr marL="342900" indent="-342900">
              <a:spcAft>
                <a:spcPts val="600"/>
              </a:spcAft>
              <a:buSzPct val="100000"/>
              <a:buFont typeface="+mj-lt"/>
              <a:buAutoNum type="arabicPeriod" startAt="1"/>
            </a:pPr>
            <a:r>
              <a:rPr lang="en-US" sz="1300" dirty="0">
                <a:solidFill>
                  <a:schemeClr val="tx2"/>
                </a:solidFill>
              </a:rPr>
              <a:t>Scale-up with lighting, sensors and batteries</a:t>
            </a:r>
            <a:endParaRPr lang="en-US" sz="1300" dirty="0"/>
          </a:p>
        </p:txBody>
      </p:sp>
      <p:sp>
        <p:nvSpPr>
          <p:cNvPr id="38" name="hjt-card"/>
          <p:cNvSpPr/>
          <p:nvPr/>
        </p:nvSpPr>
        <p:spPr>
          <a:xfrm>
            <a:off x="6400800" y="4983480"/>
            <a:ext cx="5239512" cy="868680"/>
          </a:xfrm>
          <a:prstGeom prst="roundRect">
            <a:avLst>
              <a:gd name="adj" fmla="val 8421"/>
            </a:avLst>
          </a:prstGeom>
          <a:solidFill>
            <a:schemeClr val="accent5"/>
          </a:solidFill>
          <a:ln w="12700">
            <a:solidFill>
              <a:schemeClr val="accent5"/>
            </a:solidFill>
            <a:prstDash val="solid"/>
          </a:ln>
        </p:spPr>
      </p:sp>
      <p:sp>
        <p:nvSpPr>
          <p:cNvPr id="39" name="Text 37"/>
          <p:cNvSpPr txBox="1"/>
          <p:nvPr/>
        </p:nvSpPr>
        <p:spPr>
          <a:xfrm>
            <a:off x="6583680" y="5074920"/>
            <a:ext cx="4892040" cy="685800"/>
          </a:xfrm>
          <a:prstGeom prst="rect">
            <a:avLst/>
          </a:prstGeom>
          <a:noFill/>
          <a:ln/>
        </p:spPr>
        <p:txBody>
          <a:bodyPr wrap="square" lIns="0" tIns="0" rIns="0" bIns="0" rtlCol="0" anchor="ctr"/>
          <a:lstStyle/>
          <a:p>
            <a:pPr indent="0" marL="0">
              <a:buNone/>
            </a:pPr>
            <a:r>
              <a:rPr lang="en-US" sz="1400" b="1" dirty="0">
                <a:solidFill>
                  <a:schemeClr val="accent1"/>
                </a:solidFill>
              </a:rPr>
              <a:t>Co-development option: </a:t>
            </a:r>
            <a:pPr indent="0" marL="0">
              <a:buNone/>
            </a:pPr>
            <a:r>
              <a:rPr lang="en-US" sz="1400" dirty="0">
                <a:solidFill>
                  <a:schemeClr val="tx1"/>
                </a:solidFill>
              </a:rPr>
              <a:t>build the walkable module around Reliance's own Jamnagar HJT cells.</a:t>
            </a:r>
            <a:endParaRPr lang="en-US" sz="1400" dirty="0"/>
          </a:p>
        </p:txBody>
      </p:sp>
      <p:sp>
        <p:nvSpPr>
          <p:cNvPr id="40" name="source"/>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GridMats Solar Walkway flier (6 Oct 2026). Status: pre-commercial; pilot validation under way; no commercial deployment claimed. Concept diagram, not to scale.</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Day one vs 25 years</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GridMats costs more than gravel to build and about the same as bitumen, and less than both once upkeep is counted.</a:t>
            </a:r>
            <a:endParaRPr lang="en-US" sz="1600" dirty="0"/>
          </a:p>
        </p:txBody>
      </p:sp>
      <p:graphicFrame>
        <p:nvGraphicFramePr>
          <p:cNvPr id="4" name="Chart 0" descr=""/>
          <p:cNvGraphicFramePr/>
          <p:nvPr/>
        </p:nvGraphicFramePr>
        <p:xfrm>
          <a:off x="548640" y="1691640"/>
          <a:ext cx="420624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937760" y="1691640"/>
          <a:ext cx="4206240" cy="3657600"/>
        </p:xfrm>
        <a:graphic xmlns:a="http://schemas.openxmlformats.org/drawingml/2006/main">
          <a:graphicData uri="http://schemas.openxmlformats.org/drawingml/2006/chart">
            <c:chart xmlns:c="http://schemas.openxmlformats.org/drawingml/2006/chart" r:id="rId2"/>
          </a:graphicData>
        </a:graphic>
      </p:graphicFrame>
      <p:sp>
        <p:nvSpPr>
          <p:cNvPr id="6" name="stat-value"/>
          <p:cNvSpPr txBox="1"/>
          <p:nvPr/>
        </p:nvSpPr>
        <p:spPr>
          <a:xfrm>
            <a:off x="9509760" y="1828800"/>
            <a:ext cx="2194560" cy="518160"/>
          </a:xfrm>
          <a:prstGeom prst="rect">
            <a:avLst/>
          </a:prstGeom>
          <a:noFill/>
          <a:ln/>
        </p:spPr>
        <p:txBody>
          <a:bodyPr wrap="square" lIns="0" tIns="0" rIns="0" bIns="0" rtlCol="0" anchor="b"/>
          <a:lstStyle/>
          <a:p>
            <a:pPr indent="0" marL="0">
              <a:buNone/>
            </a:pPr>
            <a:r>
              <a:rPr lang="en-US" sz="3400" b="1" dirty="0">
                <a:solidFill>
                  <a:schemeClr val="accent2"/>
                </a:solidFill>
              </a:rPr>
              <a:t>6%</a:t>
            </a:r>
            <a:endParaRPr lang="en-US" sz="3400" dirty="0"/>
          </a:p>
        </p:txBody>
      </p:sp>
      <p:sp>
        <p:nvSpPr>
          <p:cNvPr id="7" name="stat-label"/>
          <p:cNvSpPr txBox="1"/>
          <p:nvPr/>
        </p:nvSpPr>
        <p:spPr>
          <a:xfrm>
            <a:off x="9509760" y="2392680"/>
            <a:ext cx="2194560" cy="566928"/>
          </a:xfrm>
          <a:prstGeom prst="rect">
            <a:avLst/>
          </a:prstGeom>
          <a:noFill/>
          <a:ln/>
        </p:spPr>
        <p:txBody>
          <a:bodyPr wrap="square" lIns="0" tIns="0" rIns="0" bIns="0" rtlCol="0" anchor="t"/>
          <a:lstStyle/>
          <a:p>
            <a:pPr indent="0" marL="0">
              <a:buNone/>
            </a:pPr>
            <a:r>
              <a:rPr lang="en-US" sz="1300" dirty="0">
                <a:solidFill>
                  <a:schemeClr val="tx2"/>
                </a:solidFill>
              </a:rPr>
              <a:t>lower 25-year cost than WBM on O&amp;M tracks</a:t>
            </a:r>
            <a:endParaRPr lang="en-US" sz="1300" dirty="0"/>
          </a:p>
        </p:txBody>
      </p:sp>
      <p:sp>
        <p:nvSpPr>
          <p:cNvPr id="8" name="stat-value"/>
          <p:cNvSpPr txBox="1"/>
          <p:nvPr/>
        </p:nvSpPr>
        <p:spPr>
          <a:xfrm>
            <a:off x="9509760" y="3154680"/>
            <a:ext cx="2194560" cy="518160"/>
          </a:xfrm>
          <a:prstGeom prst="rect">
            <a:avLst/>
          </a:prstGeom>
          <a:noFill/>
          <a:ln/>
        </p:spPr>
        <p:txBody>
          <a:bodyPr wrap="square" lIns="0" tIns="0" rIns="0" bIns="0" rtlCol="0" anchor="b"/>
          <a:lstStyle/>
          <a:p>
            <a:pPr indent="0" marL="0">
              <a:buNone/>
            </a:pPr>
            <a:r>
              <a:rPr lang="en-US" sz="3400" b="1" dirty="0">
                <a:solidFill>
                  <a:schemeClr val="accent2"/>
                </a:solidFill>
              </a:rPr>
              <a:t>30%</a:t>
            </a:r>
            <a:endParaRPr lang="en-US" sz="3400" dirty="0"/>
          </a:p>
        </p:txBody>
      </p:sp>
      <p:sp>
        <p:nvSpPr>
          <p:cNvPr id="9" name="stat-label"/>
          <p:cNvSpPr txBox="1"/>
          <p:nvPr/>
        </p:nvSpPr>
        <p:spPr>
          <a:xfrm>
            <a:off x="9509760" y="3718560"/>
            <a:ext cx="2194560" cy="566928"/>
          </a:xfrm>
          <a:prstGeom prst="rect">
            <a:avLst/>
          </a:prstGeom>
          <a:noFill/>
          <a:ln/>
        </p:spPr>
        <p:txBody>
          <a:bodyPr wrap="square" lIns="0" tIns="0" rIns="0" bIns="0" rtlCol="0" anchor="t"/>
          <a:lstStyle/>
          <a:p>
            <a:pPr indent="0" marL="0">
              <a:buNone/>
            </a:pPr>
            <a:r>
              <a:rPr lang="en-US" sz="1300" dirty="0">
                <a:solidFill>
                  <a:schemeClr val="tx2"/>
                </a:solidFill>
              </a:rPr>
              <a:t>lower 25-year cost than bitumen on main roads</a:t>
            </a:r>
            <a:endParaRPr lang="en-US" sz="1300" dirty="0"/>
          </a:p>
        </p:txBody>
      </p:sp>
      <p:sp>
        <p:nvSpPr>
          <p:cNvPr id="10" name="stat-value"/>
          <p:cNvSpPr txBox="1"/>
          <p:nvPr/>
        </p:nvSpPr>
        <p:spPr>
          <a:xfrm>
            <a:off x="9509760" y="4480560"/>
            <a:ext cx="2194560" cy="518160"/>
          </a:xfrm>
          <a:prstGeom prst="rect">
            <a:avLst/>
          </a:prstGeom>
          <a:noFill/>
          <a:ln/>
        </p:spPr>
        <p:txBody>
          <a:bodyPr wrap="square" lIns="0" tIns="0" rIns="0" bIns="0" rtlCol="0" anchor="b"/>
          <a:lstStyle/>
          <a:p>
            <a:pPr indent="0" marL="0">
              <a:buNone/>
            </a:pPr>
            <a:r>
              <a:rPr lang="en-US" sz="3400" b="1" dirty="0">
                <a:solidFill>
                  <a:schemeClr val="accent2"/>
                </a:solidFill>
              </a:rPr>
              <a:t>33%</a:t>
            </a:r>
            <a:endParaRPr lang="en-US" sz="3400" dirty="0"/>
          </a:p>
        </p:txBody>
      </p:sp>
      <p:sp>
        <p:nvSpPr>
          <p:cNvPr id="11" name="stat-label"/>
          <p:cNvSpPr txBox="1"/>
          <p:nvPr/>
        </p:nvSpPr>
        <p:spPr>
          <a:xfrm>
            <a:off x="9509760" y="5044440"/>
            <a:ext cx="2194560" cy="566928"/>
          </a:xfrm>
          <a:prstGeom prst="rect">
            <a:avLst/>
          </a:prstGeom>
          <a:noFill/>
          <a:ln/>
        </p:spPr>
        <p:txBody>
          <a:bodyPr wrap="square" lIns="0" tIns="0" rIns="0" bIns="0" rtlCol="0" anchor="t"/>
          <a:lstStyle/>
          <a:p>
            <a:pPr indent="0" marL="0">
              <a:buNone/>
            </a:pPr>
            <a:r>
              <a:rPr lang="en-US" sz="1300" dirty="0">
                <a:solidFill>
                  <a:schemeClr val="tx2"/>
                </a:solidFill>
              </a:rPr>
              <a:t>lower 25-year cost than concrete</a:t>
            </a:r>
            <a:endParaRPr lang="en-US" sz="1300" dirty="0"/>
          </a:p>
        </p:txBody>
      </p:sp>
      <p:sp>
        <p:nvSpPr>
          <p:cNvPr id="12" name="source"/>
          <p:cNvSpPr txBox="1"/>
          <p:nvPr/>
        </p:nvSpPr>
        <p:spPr>
          <a:xfrm>
            <a:off x="548640" y="580644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Model sheet 'Road LCC'. Upkeep: WBM regrading ₹40/m²/yr and regravelling every 4 yrs; bitumen BC renewal every 5 yrs; GridMats 0.5%/yr plus top-ups. 10% discount rate, 5% cost escalation.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₹4.1 Cr NPV for every 100 MW block</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One block: 10 km of internal road, 30% main roads (S1 instead of bitumen) and 70% O&amp;M tracks (S2 instead of WBM).</a:t>
            </a:r>
            <a:endParaRPr lang="en-US" sz="1600" dirty="0"/>
          </a:p>
        </p:txBody>
      </p:sp>
      <p:graphicFrame>
        <p:nvGraphicFramePr>
          <p:cNvPr id="4" name="Chart 0" descr=""/>
          <p:cNvGraphicFramePr/>
          <p:nvPr/>
        </p:nvGraphicFramePr>
        <p:xfrm>
          <a:off x="548640" y="1691640"/>
          <a:ext cx="6400800" cy="4114800"/>
        </p:xfrm>
        <a:graphic xmlns:a="http://schemas.openxmlformats.org/drawingml/2006/main">
          <a:graphicData uri="http://schemas.openxmlformats.org/drawingml/2006/chart">
            <c:chart xmlns:c="http://schemas.openxmlformats.org/drawingml/2006/chart" r:id="rId1"/>
          </a:graphicData>
        </a:graphic>
      </p:graphicFrame>
      <p:sp>
        <p:nvSpPr>
          <p:cNvPr id="5" name="kpi-card"/>
          <p:cNvSpPr/>
          <p:nvPr/>
        </p:nvSpPr>
        <p:spPr>
          <a:xfrm>
            <a:off x="7315200" y="1783080"/>
            <a:ext cx="2057400" cy="1508760"/>
          </a:xfrm>
          <a:prstGeom prst="roundRect">
            <a:avLst>
              <a:gd name="adj" fmla="val 4848"/>
            </a:avLst>
          </a:prstGeom>
          <a:solidFill>
            <a:schemeClr val="bg2"/>
          </a:solidFill>
          <a:ln w="12700">
            <a:solidFill>
              <a:schemeClr val="bg2"/>
            </a:solidFill>
            <a:prstDash val="solid"/>
          </a:ln>
        </p:spPr>
      </p:sp>
      <p:sp>
        <p:nvSpPr>
          <p:cNvPr id="6" name="stat-value"/>
          <p:cNvSpPr txBox="1"/>
          <p:nvPr/>
        </p:nvSpPr>
        <p:spPr>
          <a:xfrm>
            <a:off x="7498080" y="1947672"/>
            <a:ext cx="1737360" cy="426720"/>
          </a:xfrm>
          <a:prstGeom prst="rect">
            <a:avLst/>
          </a:prstGeom>
          <a:noFill/>
          <a:ln/>
        </p:spPr>
        <p:txBody>
          <a:bodyPr wrap="square" lIns="0" tIns="0" rIns="0" bIns="0" rtlCol="0" anchor="b"/>
          <a:lstStyle/>
          <a:p>
            <a:pPr indent="0" marL="0">
              <a:buNone/>
            </a:pPr>
            <a:r>
              <a:rPr lang="en-US" sz="2800" b="1" dirty="0">
                <a:solidFill>
                  <a:schemeClr val="accent2"/>
                </a:solidFill>
              </a:rPr>
              <a:t>₹4.1 Cr</a:t>
            </a:r>
            <a:endParaRPr lang="en-US" sz="2800" dirty="0"/>
          </a:p>
        </p:txBody>
      </p:sp>
      <p:sp>
        <p:nvSpPr>
          <p:cNvPr id="7" name="stat-label"/>
          <p:cNvSpPr txBox="1"/>
          <p:nvPr/>
        </p:nvSpPr>
        <p:spPr>
          <a:xfrm>
            <a:off x="7498080" y="2420112"/>
            <a:ext cx="1737360" cy="566928"/>
          </a:xfrm>
          <a:prstGeom prst="rect">
            <a:avLst/>
          </a:prstGeom>
          <a:noFill/>
          <a:ln/>
        </p:spPr>
        <p:txBody>
          <a:bodyPr wrap="square" lIns="0" tIns="0" rIns="0" bIns="0" rtlCol="0" anchor="t"/>
          <a:lstStyle/>
          <a:p>
            <a:pPr indent="0" marL="0">
              <a:buNone/>
            </a:pPr>
            <a:r>
              <a:rPr lang="en-US" sz="1300" dirty="0">
                <a:solidFill>
                  <a:schemeClr val="tx2"/>
                </a:solidFill>
              </a:rPr>
              <a:t>net present value over 25 years</a:t>
            </a:r>
            <a:endParaRPr lang="en-US" sz="1300" dirty="0"/>
          </a:p>
        </p:txBody>
      </p:sp>
      <p:sp>
        <p:nvSpPr>
          <p:cNvPr id="8" name="kpi-card"/>
          <p:cNvSpPr/>
          <p:nvPr/>
        </p:nvSpPr>
        <p:spPr>
          <a:xfrm>
            <a:off x="9509760" y="1783080"/>
            <a:ext cx="2057400" cy="1508760"/>
          </a:xfrm>
          <a:prstGeom prst="roundRect">
            <a:avLst>
              <a:gd name="adj" fmla="val 4848"/>
            </a:avLst>
          </a:prstGeom>
          <a:solidFill>
            <a:schemeClr val="bg2"/>
          </a:solidFill>
          <a:ln w="12700">
            <a:solidFill>
              <a:schemeClr val="bg2"/>
            </a:solidFill>
            <a:prstDash val="solid"/>
          </a:ln>
        </p:spPr>
      </p:sp>
      <p:sp>
        <p:nvSpPr>
          <p:cNvPr id="9" name="stat-value"/>
          <p:cNvSpPr txBox="1"/>
          <p:nvPr/>
        </p:nvSpPr>
        <p:spPr>
          <a:xfrm>
            <a:off x="9692640" y="1947672"/>
            <a:ext cx="1737360" cy="426720"/>
          </a:xfrm>
          <a:prstGeom prst="rect">
            <a:avLst/>
          </a:prstGeom>
          <a:noFill/>
          <a:ln/>
        </p:spPr>
        <p:txBody>
          <a:bodyPr wrap="square" lIns="0" tIns="0" rIns="0" bIns="0" rtlCol="0" anchor="b"/>
          <a:lstStyle/>
          <a:p>
            <a:pPr indent="0" marL="0">
              <a:buNone/>
            </a:pPr>
            <a:r>
              <a:rPr lang="en-US" sz="2800" b="1" dirty="0">
                <a:solidFill>
                  <a:schemeClr val="accent1"/>
                </a:solidFill>
              </a:rPr>
              <a:t>21%</a:t>
            </a:r>
            <a:endParaRPr lang="en-US" sz="2800" dirty="0"/>
          </a:p>
        </p:txBody>
      </p:sp>
      <p:sp>
        <p:nvSpPr>
          <p:cNvPr id="10" name="stat-label"/>
          <p:cNvSpPr txBox="1"/>
          <p:nvPr/>
        </p:nvSpPr>
        <p:spPr>
          <a:xfrm>
            <a:off x="9692640" y="2420112"/>
            <a:ext cx="1737360" cy="566928"/>
          </a:xfrm>
          <a:prstGeom prst="rect">
            <a:avLst/>
          </a:prstGeom>
          <a:noFill/>
          <a:ln/>
        </p:spPr>
        <p:txBody>
          <a:bodyPr wrap="square" lIns="0" tIns="0" rIns="0" bIns="0" rtlCol="0" anchor="t"/>
          <a:lstStyle/>
          <a:p>
            <a:pPr indent="0" marL="0">
              <a:buNone/>
            </a:pPr>
            <a:r>
              <a:rPr lang="en-US" sz="1300" dirty="0">
                <a:solidFill>
                  <a:schemeClr val="tx2"/>
                </a:solidFill>
              </a:rPr>
              <a:t>IRR on the GridMats premium</a:t>
            </a:r>
            <a:endParaRPr lang="en-US" sz="1300" dirty="0"/>
          </a:p>
        </p:txBody>
      </p:sp>
      <p:sp>
        <p:nvSpPr>
          <p:cNvPr id="11" name="kpi-card"/>
          <p:cNvSpPr/>
          <p:nvPr/>
        </p:nvSpPr>
        <p:spPr>
          <a:xfrm>
            <a:off x="7315200" y="3474720"/>
            <a:ext cx="2057400" cy="1508760"/>
          </a:xfrm>
          <a:prstGeom prst="roundRect">
            <a:avLst>
              <a:gd name="adj" fmla="val 4848"/>
            </a:avLst>
          </a:prstGeom>
          <a:solidFill>
            <a:schemeClr val="bg2"/>
          </a:solidFill>
          <a:ln w="12700">
            <a:solidFill>
              <a:schemeClr val="bg2"/>
            </a:solidFill>
            <a:prstDash val="solid"/>
          </a:ln>
        </p:spPr>
      </p:sp>
      <p:sp>
        <p:nvSpPr>
          <p:cNvPr id="12" name="stat-value"/>
          <p:cNvSpPr txBox="1"/>
          <p:nvPr/>
        </p:nvSpPr>
        <p:spPr>
          <a:xfrm>
            <a:off x="7498080" y="3639312"/>
            <a:ext cx="1737360" cy="426720"/>
          </a:xfrm>
          <a:prstGeom prst="rect">
            <a:avLst/>
          </a:prstGeom>
          <a:noFill/>
          <a:ln/>
        </p:spPr>
        <p:txBody>
          <a:bodyPr wrap="square" lIns="0" tIns="0" rIns="0" bIns="0" rtlCol="0" anchor="b"/>
          <a:lstStyle/>
          <a:p>
            <a:pPr indent="0" marL="0">
              <a:buNone/>
            </a:pPr>
            <a:r>
              <a:rPr lang="en-US" sz="2800" b="1" dirty="0">
                <a:solidFill>
                  <a:schemeClr val="accent1"/>
                </a:solidFill>
              </a:rPr>
              <a:t>4.7 yrs</a:t>
            </a:r>
            <a:endParaRPr lang="en-US" sz="2800" dirty="0"/>
          </a:p>
        </p:txBody>
      </p:sp>
      <p:sp>
        <p:nvSpPr>
          <p:cNvPr id="13" name="stat-label"/>
          <p:cNvSpPr txBox="1"/>
          <p:nvPr/>
        </p:nvSpPr>
        <p:spPr>
          <a:xfrm>
            <a:off x="7498080" y="4111752"/>
            <a:ext cx="1737360" cy="566928"/>
          </a:xfrm>
          <a:prstGeom prst="rect">
            <a:avLst/>
          </a:prstGeom>
          <a:noFill/>
          <a:ln/>
        </p:spPr>
        <p:txBody>
          <a:bodyPr wrap="square" lIns="0" tIns="0" rIns="0" bIns="0" rtlCol="0" anchor="t"/>
          <a:lstStyle/>
          <a:p>
            <a:pPr indent="0" marL="0">
              <a:buNone/>
            </a:pPr>
            <a:r>
              <a:rPr lang="en-US" sz="1300" dirty="0">
                <a:solidFill>
                  <a:schemeClr val="tx2"/>
                </a:solidFill>
              </a:rPr>
              <a:t>simple payback</a:t>
            </a:r>
            <a:endParaRPr lang="en-US" sz="1300" dirty="0"/>
          </a:p>
        </p:txBody>
      </p:sp>
      <p:sp>
        <p:nvSpPr>
          <p:cNvPr id="14" name="kpi-card"/>
          <p:cNvSpPr/>
          <p:nvPr/>
        </p:nvSpPr>
        <p:spPr>
          <a:xfrm>
            <a:off x="9509760" y="3474720"/>
            <a:ext cx="2057400" cy="1508760"/>
          </a:xfrm>
          <a:prstGeom prst="roundRect">
            <a:avLst>
              <a:gd name="adj" fmla="val 4848"/>
            </a:avLst>
          </a:prstGeom>
          <a:solidFill>
            <a:schemeClr val="bg2"/>
          </a:solidFill>
          <a:ln w="12700">
            <a:solidFill>
              <a:schemeClr val="bg2"/>
            </a:solidFill>
            <a:prstDash val="solid"/>
          </a:ln>
        </p:spPr>
      </p:sp>
      <p:sp>
        <p:nvSpPr>
          <p:cNvPr id="15" name="stat-value"/>
          <p:cNvSpPr txBox="1"/>
          <p:nvPr/>
        </p:nvSpPr>
        <p:spPr>
          <a:xfrm>
            <a:off x="9692640" y="3639312"/>
            <a:ext cx="1737360" cy="426720"/>
          </a:xfrm>
          <a:prstGeom prst="rect">
            <a:avLst/>
          </a:prstGeom>
          <a:noFill/>
          <a:ln/>
        </p:spPr>
        <p:txBody>
          <a:bodyPr wrap="square" lIns="0" tIns="0" rIns="0" bIns="0" rtlCol="0" anchor="b"/>
          <a:lstStyle/>
          <a:p>
            <a:pPr indent="0" marL="0">
              <a:buNone/>
            </a:pPr>
            <a:r>
              <a:rPr lang="en-US" sz="2800" b="1" dirty="0">
                <a:solidFill>
                  <a:schemeClr val="accent1"/>
                </a:solidFill>
              </a:rPr>
              <a:t>0.9%</a:t>
            </a:r>
            <a:endParaRPr lang="en-US" sz="2800" dirty="0"/>
          </a:p>
        </p:txBody>
      </p:sp>
      <p:sp>
        <p:nvSpPr>
          <p:cNvPr id="16" name="stat-label"/>
          <p:cNvSpPr txBox="1"/>
          <p:nvPr/>
        </p:nvSpPr>
        <p:spPr>
          <a:xfrm>
            <a:off x="9692640" y="4111752"/>
            <a:ext cx="1737360" cy="566928"/>
          </a:xfrm>
          <a:prstGeom prst="rect">
            <a:avLst/>
          </a:prstGeom>
          <a:noFill/>
          <a:ln/>
        </p:spPr>
        <p:txBody>
          <a:bodyPr wrap="square" lIns="0" tIns="0" rIns="0" bIns="0" rtlCol="0" anchor="t"/>
          <a:lstStyle/>
          <a:p>
            <a:pPr indent="0" marL="0">
              <a:buNone/>
            </a:pPr>
            <a:r>
              <a:rPr lang="en-US" sz="1300" dirty="0">
                <a:solidFill>
                  <a:schemeClr val="tx2"/>
                </a:solidFill>
              </a:rPr>
              <a:t>premium as a share of plant capex (₹4 Cr/MW)</a:t>
            </a:r>
            <a:endParaRPr lang="en-US" sz="1300" dirty="0"/>
          </a:p>
        </p:txBody>
      </p:sp>
      <p:sp>
        <p:nvSpPr>
          <p:cNvPr id="17" name="Text 14"/>
          <p:cNvSpPr txBox="1"/>
          <p:nvPr/>
        </p:nvSpPr>
        <p:spPr>
          <a:xfrm>
            <a:off x="7315200" y="5257800"/>
            <a:ext cx="4297680" cy="548640"/>
          </a:xfrm>
          <a:prstGeom prst="rect">
            <a:avLst/>
          </a:prstGeom>
          <a:noFill/>
          <a:ln/>
        </p:spPr>
        <p:txBody>
          <a:bodyPr wrap="square" lIns="0" tIns="0" rIns="0" bIns="0" rtlCol="0" anchor="t"/>
          <a:lstStyle/>
          <a:p>
            <a:pPr indent="0" marL="0">
              <a:buNone/>
            </a:pPr>
            <a:r>
              <a:rPr lang="en-US" sz="1400" b="1" dirty="0">
                <a:solidFill>
                  <a:schemeClr val="tx1"/>
                </a:solidFill>
              </a:rPr>
              <a:t>Benefits are 2.2× the premium. Road upkeep alone covers it.</a:t>
            </a:r>
            <a:endParaRPr lang="en-US" sz="1400" dirty="0"/>
          </a:p>
        </p:txBody>
      </p:sp>
      <p:sp>
        <p:nvSpPr>
          <p:cNvPr id="18" name="source"/>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Model sheet 'Solar Park 100MW', base case. Energy valued at ₹2.70/kWh (solar PPA level); carbon at ₹700/t CO2e.</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Positive NPV in every stress test</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Each bar moves one driver to a pessimistic and an optimistic value; everything else stays at base.</a:t>
            </a:r>
            <a:endParaRPr lang="en-US" sz="1600" dirty="0"/>
          </a:p>
        </p:txBody>
      </p:sp>
      <p:graphicFrame>
        <p:nvGraphicFramePr>
          <p:cNvPr id="4" name="Chart 0" descr=""/>
          <p:cNvGraphicFramePr/>
          <p:nvPr/>
        </p:nvGraphicFramePr>
        <p:xfrm>
          <a:off x="548640" y="169164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scn-card"/>
          <p:cNvSpPr/>
          <p:nvPr/>
        </p:nvSpPr>
        <p:spPr>
          <a:xfrm>
            <a:off x="7863840" y="1783080"/>
            <a:ext cx="3776472" cy="896112"/>
          </a:xfrm>
          <a:prstGeom prst="roundRect">
            <a:avLst>
              <a:gd name="adj" fmla="val 8163"/>
            </a:avLst>
          </a:prstGeom>
          <a:solidFill>
            <a:schemeClr val="bg2"/>
          </a:solidFill>
          <a:ln w="12700">
            <a:solidFill>
              <a:schemeClr val="bg2"/>
            </a:solidFill>
            <a:prstDash val="solid"/>
          </a:ln>
        </p:spPr>
      </p:sp>
      <p:sp>
        <p:nvSpPr>
          <p:cNvPr id="6" name="Text 3"/>
          <p:cNvSpPr txBox="1"/>
          <p:nvPr/>
        </p:nvSpPr>
        <p:spPr>
          <a:xfrm>
            <a:off x="8046720" y="1874520"/>
            <a:ext cx="1645920" cy="713232"/>
          </a:xfrm>
          <a:prstGeom prst="rect">
            <a:avLst/>
          </a:prstGeom>
          <a:noFill/>
          <a:ln/>
        </p:spPr>
        <p:txBody>
          <a:bodyPr wrap="square" lIns="0" tIns="0" rIns="0" bIns="0" rtlCol="0" anchor="ctr"/>
          <a:lstStyle/>
          <a:p>
            <a:pPr indent="0" marL="0">
              <a:buNone/>
            </a:pPr>
            <a:r>
              <a:rPr lang="en-US" sz="2600" b="1" dirty="0">
                <a:solidFill>
                  <a:schemeClr val="tx2"/>
                </a:solidFill>
              </a:rPr>
              <a:t>₹3.3 Cr</a:t>
            </a:r>
            <a:endParaRPr lang="en-US" sz="2600" dirty="0"/>
          </a:p>
        </p:txBody>
      </p:sp>
      <p:sp>
        <p:nvSpPr>
          <p:cNvPr id="7" name="Text 4"/>
          <p:cNvSpPr txBox="1"/>
          <p:nvPr/>
        </p:nvSpPr>
        <p:spPr>
          <a:xfrm>
            <a:off x="9692640" y="1874520"/>
            <a:ext cx="1828800" cy="713232"/>
          </a:xfrm>
          <a:prstGeom prst="rect">
            <a:avLst/>
          </a:prstGeom>
          <a:noFill/>
          <a:ln/>
        </p:spPr>
        <p:txBody>
          <a:bodyPr wrap="square" lIns="0" tIns="0" rIns="0" bIns="0" rtlCol="0" anchor="ctr"/>
          <a:lstStyle/>
          <a:p>
            <a:pPr indent="0" marL="0">
              <a:buNone/>
            </a:pPr>
            <a:r>
              <a:rPr lang="en-US" sz="1300" dirty="0">
                <a:solidFill>
                  <a:schemeClr val="tx1"/>
                </a:solidFill>
              </a:rPr>
              <a:t>Conservative</a:t>
            </a:r>
            <a:endParaRPr lang="en-US" sz="1300" dirty="0"/>
          </a:p>
        </p:txBody>
      </p:sp>
      <p:sp>
        <p:nvSpPr>
          <p:cNvPr id="8" name="scn-card"/>
          <p:cNvSpPr/>
          <p:nvPr/>
        </p:nvSpPr>
        <p:spPr>
          <a:xfrm>
            <a:off x="7863840" y="2807208"/>
            <a:ext cx="3776472" cy="896112"/>
          </a:xfrm>
          <a:prstGeom prst="roundRect">
            <a:avLst>
              <a:gd name="adj" fmla="val 8163"/>
            </a:avLst>
          </a:prstGeom>
          <a:solidFill>
            <a:schemeClr val="bg2"/>
          </a:solidFill>
          <a:ln w="12700">
            <a:solidFill>
              <a:schemeClr val="bg2"/>
            </a:solidFill>
            <a:prstDash val="solid"/>
          </a:ln>
        </p:spPr>
      </p:sp>
      <p:sp>
        <p:nvSpPr>
          <p:cNvPr id="9" name="Text 6"/>
          <p:cNvSpPr txBox="1"/>
          <p:nvPr/>
        </p:nvSpPr>
        <p:spPr>
          <a:xfrm>
            <a:off x="8046720" y="2898648"/>
            <a:ext cx="1645920" cy="713232"/>
          </a:xfrm>
          <a:prstGeom prst="rect">
            <a:avLst/>
          </a:prstGeom>
          <a:noFill/>
          <a:ln/>
        </p:spPr>
        <p:txBody>
          <a:bodyPr wrap="square" lIns="0" tIns="0" rIns="0" bIns="0" rtlCol="0" anchor="ctr"/>
          <a:lstStyle/>
          <a:p>
            <a:pPr indent="0" marL="0">
              <a:buNone/>
            </a:pPr>
            <a:r>
              <a:rPr lang="en-US" sz="2600" b="1" dirty="0">
                <a:solidFill>
                  <a:schemeClr val="accent1"/>
                </a:solidFill>
              </a:rPr>
              <a:t>₹4.1 Cr</a:t>
            </a:r>
            <a:endParaRPr lang="en-US" sz="2600" dirty="0"/>
          </a:p>
        </p:txBody>
      </p:sp>
      <p:sp>
        <p:nvSpPr>
          <p:cNvPr id="10" name="Text 7"/>
          <p:cNvSpPr txBox="1"/>
          <p:nvPr/>
        </p:nvSpPr>
        <p:spPr>
          <a:xfrm>
            <a:off x="9692640" y="2898648"/>
            <a:ext cx="1828800" cy="713232"/>
          </a:xfrm>
          <a:prstGeom prst="rect">
            <a:avLst/>
          </a:prstGeom>
          <a:noFill/>
          <a:ln/>
        </p:spPr>
        <p:txBody>
          <a:bodyPr wrap="square" lIns="0" tIns="0" rIns="0" bIns="0" rtlCol="0" anchor="ctr"/>
          <a:lstStyle/>
          <a:p>
            <a:pPr indent="0" marL="0">
              <a:buNone/>
            </a:pPr>
            <a:r>
              <a:rPr lang="en-US" sz="1300" dirty="0">
                <a:solidFill>
                  <a:schemeClr val="tx1"/>
                </a:solidFill>
              </a:rPr>
              <a:t>Base</a:t>
            </a:r>
            <a:endParaRPr lang="en-US" sz="1300" dirty="0"/>
          </a:p>
        </p:txBody>
      </p:sp>
      <p:sp>
        <p:nvSpPr>
          <p:cNvPr id="11" name="scn-card"/>
          <p:cNvSpPr/>
          <p:nvPr/>
        </p:nvSpPr>
        <p:spPr>
          <a:xfrm>
            <a:off x="7863840" y="3831336"/>
            <a:ext cx="3776472" cy="896112"/>
          </a:xfrm>
          <a:prstGeom prst="roundRect">
            <a:avLst>
              <a:gd name="adj" fmla="val 8163"/>
            </a:avLst>
          </a:prstGeom>
          <a:solidFill>
            <a:schemeClr val="bg2"/>
          </a:solidFill>
          <a:ln w="12700">
            <a:solidFill>
              <a:schemeClr val="bg2"/>
            </a:solidFill>
            <a:prstDash val="solid"/>
          </a:ln>
        </p:spPr>
      </p:sp>
      <p:sp>
        <p:nvSpPr>
          <p:cNvPr id="12" name="Text 9"/>
          <p:cNvSpPr txBox="1"/>
          <p:nvPr/>
        </p:nvSpPr>
        <p:spPr>
          <a:xfrm>
            <a:off x="8046720" y="3922776"/>
            <a:ext cx="1645920" cy="713232"/>
          </a:xfrm>
          <a:prstGeom prst="rect">
            <a:avLst/>
          </a:prstGeom>
          <a:noFill/>
          <a:ln/>
        </p:spPr>
        <p:txBody>
          <a:bodyPr wrap="square" lIns="0" tIns="0" rIns="0" bIns="0" rtlCol="0" anchor="ctr"/>
          <a:lstStyle/>
          <a:p>
            <a:pPr indent="0" marL="0">
              <a:buNone/>
            </a:pPr>
            <a:r>
              <a:rPr lang="en-US" sz="2600" b="1" dirty="0">
                <a:solidFill>
                  <a:schemeClr val="accent2"/>
                </a:solidFill>
              </a:rPr>
              <a:t>₹7.7 Cr</a:t>
            </a:r>
            <a:endParaRPr lang="en-US" sz="2600" dirty="0"/>
          </a:p>
        </p:txBody>
      </p:sp>
      <p:sp>
        <p:nvSpPr>
          <p:cNvPr id="13" name="Text 10"/>
          <p:cNvSpPr txBox="1"/>
          <p:nvPr/>
        </p:nvSpPr>
        <p:spPr>
          <a:xfrm>
            <a:off x="9692640" y="3922776"/>
            <a:ext cx="1828800" cy="713232"/>
          </a:xfrm>
          <a:prstGeom prst="rect">
            <a:avLst/>
          </a:prstGeom>
          <a:noFill/>
          <a:ln/>
        </p:spPr>
        <p:txBody>
          <a:bodyPr wrap="square" lIns="0" tIns="0" rIns="0" bIns="0" rtlCol="0" anchor="ctr"/>
          <a:lstStyle/>
          <a:p>
            <a:pPr indent="0" marL="0">
              <a:buNone/>
            </a:pPr>
            <a:r>
              <a:rPr lang="en-US" sz="1300" dirty="0">
                <a:solidFill>
                  <a:schemeClr val="tx1"/>
                </a:solidFill>
              </a:rPr>
              <a:t>Optimistic</a:t>
            </a:r>
            <a:endParaRPr lang="en-US" sz="1300" dirty="0"/>
          </a:p>
        </p:txBody>
      </p:sp>
      <p:sp>
        <p:nvSpPr>
          <p:cNvPr id="14" name="scn-card"/>
          <p:cNvSpPr/>
          <p:nvPr/>
        </p:nvSpPr>
        <p:spPr>
          <a:xfrm>
            <a:off x="7863840" y="4855464"/>
            <a:ext cx="3776472" cy="896112"/>
          </a:xfrm>
          <a:prstGeom prst="roundRect">
            <a:avLst>
              <a:gd name="adj" fmla="val 8163"/>
            </a:avLst>
          </a:prstGeom>
          <a:solidFill>
            <a:schemeClr val="bg2"/>
          </a:solidFill>
          <a:ln w="12700">
            <a:solidFill>
              <a:schemeClr val="bg2"/>
            </a:solidFill>
            <a:prstDash val="solid"/>
          </a:ln>
        </p:spPr>
      </p:sp>
      <p:sp>
        <p:nvSpPr>
          <p:cNvPr id="15" name="Text 12"/>
          <p:cNvSpPr txBox="1"/>
          <p:nvPr/>
        </p:nvSpPr>
        <p:spPr>
          <a:xfrm>
            <a:off x="8046720" y="4946904"/>
            <a:ext cx="1645920" cy="713232"/>
          </a:xfrm>
          <a:prstGeom prst="rect">
            <a:avLst/>
          </a:prstGeom>
          <a:noFill/>
          <a:ln/>
        </p:spPr>
        <p:txBody>
          <a:bodyPr wrap="square" lIns="0" tIns="0" rIns="0" bIns="0" rtlCol="0" anchor="ctr"/>
          <a:lstStyle/>
          <a:p>
            <a:pPr indent="0" marL="0">
              <a:buNone/>
            </a:pPr>
            <a:r>
              <a:rPr lang="en-US" sz="2600" b="1" dirty="0">
                <a:solidFill>
                  <a:schemeClr val="tx2"/>
                </a:solidFill>
              </a:rPr>
              <a:t>₹2.3 Cr</a:t>
            </a:r>
            <a:endParaRPr lang="en-US" sz="2600" dirty="0"/>
          </a:p>
        </p:txBody>
      </p:sp>
      <p:sp>
        <p:nvSpPr>
          <p:cNvPr id="16" name="Text 13"/>
          <p:cNvSpPr txBox="1"/>
          <p:nvPr/>
        </p:nvSpPr>
        <p:spPr>
          <a:xfrm>
            <a:off x="9692640" y="4946904"/>
            <a:ext cx="1828800" cy="713232"/>
          </a:xfrm>
          <a:prstGeom prst="rect">
            <a:avLst/>
          </a:prstGeom>
          <a:noFill/>
          <a:ln/>
        </p:spPr>
        <p:txBody>
          <a:bodyPr wrap="square" lIns="0" tIns="0" rIns="0" bIns="0" rtlCol="0" anchor="ctr"/>
          <a:lstStyle/>
          <a:p>
            <a:pPr indent="0" marL="0">
              <a:buNone/>
            </a:pPr>
            <a:r>
              <a:rPr lang="en-US" sz="1300" dirty="0">
                <a:solidFill>
                  <a:schemeClr val="tx1"/>
                </a:solidFill>
              </a:rPr>
              <a:t>Roads only, no soiling benefit</a:t>
            </a:r>
            <a:endParaRPr lang="en-US" sz="1300" dirty="0"/>
          </a:p>
        </p:txBody>
      </p:sp>
      <p:sp>
        <p:nvSpPr>
          <p:cNvPr id="17" name="source"/>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Model sheet 'Sensitivity'. The lowest result, ₹1.7 Cr, assumes WBM upkeep at half the base estimate.</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Cleaner tracks, cleaner modules</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Traffic on unpaved tracks throws dust on the nearest rows; chips held in GridMats cells throw far less.</a:t>
            </a:r>
            <a:endParaRPr lang="en-US" sz="1600" dirty="0"/>
          </a:p>
        </p:txBody>
      </p:sp>
      <p:sp>
        <p:nvSpPr>
          <p:cNvPr id="4" name="Text 2"/>
          <p:cNvSpPr txBox="1"/>
          <p:nvPr/>
        </p:nvSpPr>
        <p:spPr>
          <a:xfrm>
            <a:off x="548640" y="1691640"/>
            <a:ext cx="5760720" cy="320040"/>
          </a:xfrm>
          <a:prstGeom prst="rect">
            <a:avLst/>
          </a:prstGeom>
          <a:noFill/>
          <a:ln/>
        </p:spPr>
        <p:txBody>
          <a:bodyPr wrap="square" lIns="0" tIns="0" rIns="0" bIns="0" rtlCol="0" anchor="t"/>
          <a:lstStyle/>
          <a:p>
            <a:pPr indent="0" marL="0">
              <a:buNone/>
            </a:pPr>
            <a:r>
              <a:rPr lang="en-US" sz="1400" b="1" dirty="0">
                <a:solidFill>
                  <a:schemeClr val="tx1"/>
                </a:solidFill>
              </a:rPr>
              <a:t>WBM / gravel track</a:t>
            </a:r>
            <a:endParaRPr lang="en-US" sz="1400" dirty="0"/>
          </a:p>
        </p:txBody>
      </p:sp>
      <p:sp>
        <p:nvSpPr>
          <p:cNvPr id="5" name="track"/>
          <p:cNvSpPr/>
          <p:nvPr/>
        </p:nvSpPr>
        <p:spPr>
          <a:xfrm>
            <a:off x="548640" y="2103120"/>
            <a:ext cx="822960" cy="1417320"/>
          </a:xfrm>
          <a:prstGeom prst="rect">
            <a:avLst/>
          </a:prstGeom>
          <a:solidFill>
            <a:srgbClr val="B8B1A3"/>
          </a:solidFill>
          <a:ln w="12700">
            <a:solidFill>
              <a:srgbClr val="B8B1A3"/>
            </a:solidFill>
            <a:prstDash val="solid"/>
          </a:ln>
        </p:spPr>
      </p:sp>
      <p:sp>
        <p:nvSpPr>
          <p:cNvPr id="6" name="module-row"/>
          <p:cNvSpPr/>
          <p:nvPr/>
        </p:nvSpPr>
        <p:spPr>
          <a:xfrm>
            <a:off x="2194560" y="2377440"/>
            <a:ext cx="1051560" cy="868680"/>
          </a:xfrm>
          <a:prstGeom prst="parallelogram">
            <a:avLst/>
          </a:prstGeom>
          <a:solidFill>
            <a:srgbClr val="2B3A55"/>
          </a:solidFill>
          <a:ln w="12700">
            <a:solidFill>
              <a:srgbClr val="FFFFFF"/>
            </a:solidFill>
            <a:prstDash val="solid"/>
          </a:ln>
        </p:spPr>
      </p:sp>
      <p:sp>
        <p:nvSpPr>
          <p:cNvPr id="7" name="Text 5"/>
          <p:cNvSpPr txBox="1"/>
          <p:nvPr/>
        </p:nvSpPr>
        <p:spPr>
          <a:xfrm>
            <a:off x="2194560" y="3291840"/>
            <a:ext cx="1051560" cy="256032"/>
          </a:xfrm>
          <a:prstGeom prst="rect">
            <a:avLst/>
          </a:prstGeom>
          <a:noFill/>
          <a:ln/>
        </p:spPr>
        <p:txBody>
          <a:bodyPr wrap="square" lIns="0" tIns="0" rIns="0" bIns="0" rtlCol="0" anchor="t"/>
          <a:lstStyle/>
          <a:p>
            <a:pPr algn="ctr" indent="0" marL="0">
              <a:buNone/>
            </a:pPr>
            <a:r>
              <a:rPr lang="en-US" sz="1100" dirty="0">
                <a:solidFill>
                  <a:schemeClr val="accent4"/>
                </a:solidFill>
              </a:rPr>
              <a:t>10 m</a:t>
            </a:r>
            <a:endParaRPr lang="en-US" sz="1100" dirty="0"/>
          </a:p>
        </p:txBody>
      </p:sp>
      <p:sp>
        <p:nvSpPr>
          <p:cNvPr id="8" name="module-row"/>
          <p:cNvSpPr/>
          <p:nvPr/>
        </p:nvSpPr>
        <p:spPr>
          <a:xfrm>
            <a:off x="3566160" y="2377440"/>
            <a:ext cx="1051560" cy="868680"/>
          </a:xfrm>
          <a:prstGeom prst="parallelogram">
            <a:avLst/>
          </a:prstGeom>
          <a:solidFill>
            <a:srgbClr val="2B3A55"/>
          </a:solidFill>
          <a:ln w="12700">
            <a:solidFill>
              <a:srgbClr val="FFFFFF"/>
            </a:solidFill>
            <a:prstDash val="solid"/>
          </a:ln>
        </p:spPr>
      </p:sp>
      <p:sp>
        <p:nvSpPr>
          <p:cNvPr id="9" name="Text 7"/>
          <p:cNvSpPr txBox="1"/>
          <p:nvPr/>
        </p:nvSpPr>
        <p:spPr>
          <a:xfrm>
            <a:off x="3566160" y="3291840"/>
            <a:ext cx="1051560" cy="256032"/>
          </a:xfrm>
          <a:prstGeom prst="rect">
            <a:avLst/>
          </a:prstGeom>
          <a:noFill/>
          <a:ln/>
        </p:spPr>
        <p:txBody>
          <a:bodyPr wrap="square" lIns="0" tIns="0" rIns="0" bIns="0" rtlCol="0" anchor="t"/>
          <a:lstStyle/>
          <a:p>
            <a:pPr algn="ctr" indent="0" marL="0">
              <a:buNone/>
            </a:pPr>
            <a:r>
              <a:rPr lang="en-US" sz="1100" dirty="0">
                <a:solidFill>
                  <a:schemeClr val="accent4"/>
                </a:solidFill>
              </a:rPr>
              <a:t>40 m</a:t>
            </a:r>
            <a:endParaRPr lang="en-US" sz="1100" dirty="0"/>
          </a:p>
        </p:txBody>
      </p:sp>
      <p:sp>
        <p:nvSpPr>
          <p:cNvPr id="10" name="module-row"/>
          <p:cNvSpPr/>
          <p:nvPr/>
        </p:nvSpPr>
        <p:spPr>
          <a:xfrm>
            <a:off x="4937760" y="2377440"/>
            <a:ext cx="1051560" cy="868680"/>
          </a:xfrm>
          <a:prstGeom prst="parallelogram">
            <a:avLst/>
          </a:prstGeom>
          <a:solidFill>
            <a:srgbClr val="2B3A55"/>
          </a:solidFill>
          <a:ln w="12700">
            <a:solidFill>
              <a:srgbClr val="FFFFFF"/>
            </a:solidFill>
            <a:prstDash val="solid"/>
          </a:ln>
        </p:spPr>
      </p:sp>
      <p:sp>
        <p:nvSpPr>
          <p:cNvPr id="11" name="Text 9"/>
          <p:cNvSpPr txBox="1"/>
          <p:nvPr/>
        </p:nvSpPr>
        <p:spPr>
          <a:xfrm>
            <a:off x="4937760" y="3291840"/>
            <a:ext cx="1051560" cy="256032"/>
          </a:xfrm>
          <a:prstGeom prst="rect">
            <a:avLst/>
          </a:prstGeom>
          <a:noFill/>
          <a:ln/>
        </p:spPr>
        <p:txBody>
          <a:bodyPr wrap="square" lIns="0" tIns="0" rIns="0" bIns="0" rtlCol="0" anchor="t"/>
          <a:lstStyle/>
          <a:p>
            <a:pPr algn="ctr" indent="0" marL="0">
              <a:buNone/>
            </a:pPr>
            <a:r>
              <a:rPr lang="en-US" sz="1100" dirty="0">
                <a:solidFill>
                  <a:schemeClr val="accent4"/>
                </a:solidFill>
              </a:rPr>
              <a:t>100 m</a:t>
            </a:r>
            <a:endParaRPr lang="en-US" sz="1100" dirty="0"/>
          </a:p>
        </p:txBody>
      </p:sp>
      <p:sp>
        <p:nvSpPr>
          <p:cNvPr id="12" name="dust"/>
          <p:cNvSpPr/>
          <p:nvPr/>
        </p:nvSpPr>
        <p:spPr>
          <a:xfrm>
            <a:off x="1371600" y="2331720"/>
            <a:ext cx="292608" cy="292608"/>
          </a:xfrm>
          <a:prstGeom prst="ellipse">
            <a:avLst/>
          </a:prstGeom>
          <a:solidFill>
            <a:srgbClr val="B8A68A">
              <a:alpha val="75000"/>
            </a:srgbClr>
          </a:solidFill>
          <a:ln w="12700">
            <a:solidFill>
              <a:srgbClr val="B8A68A"/>
            </a:solidFill>
            <a:prstDash val="solid"/>
          </a:ln>
        </p:spPr>
      </p:sp>
      <p:sp>
        <p:nvSpPr>
          <p:cNvPr id="13" name="dust"/>
          <p:cNvSpPr/>
          <p:nvPr/>
        </p:nvSpPr>
        <p:spPr>
          <a:xfrm>
            <a:off x="1645920" y="2651760"/>
            <a:ext cx="237744" cy="237744"/>
          </a:xfrm>
          <a:prstGeom prst="ellipse">
            <a:avLst/>
          </a:prstGeom>
          <a:solidFill>
            <a:srgbClr val="B8A68A">
              <a:alpha val="75000"/>
            </a:srgbClr>
          </a:solidFill>
          <a:ln w="12700">
            <a:solidFill>
              <a:srgbClr val="B8A68A"/>
            </a:solidFill>
            <a:prstDash val="solid"/>
          </a:ln>
        </p:spPr>
      </p:sp>
      <p:sp>
        <p:nvSpPr>
          <p:cNvPr id="14" name="dust"/>
          <p:cNvSpPr/>
          <p:nvPr/>
        </p:nvSpPr>
        <p:spPr>
          <a:xfrm>
            <a:off x="1920240" y="2240280"/>
            <a:ext cx="201168" cy="201168"/>
          </a:xfrm>
          <a:prstGeom prst="ellipse">
            <a:avLst/>
          </a:prstGeom>
          <a:solidFill>
            <a:srgbClr val="B8A68A">
              <a:alpha val="75000"/>
            </a:srgbClr>
          </a:solidFill>
          <a:ln w="12700">
            <a:solidFill>
              <a:srgbClr val="B8A68A"/>
            </a:solidFill>
            <a:prstDash val="solid"/>
          </a:ln>
        </p:spPr>
      </p:sp>
      <p:sp>
        <p:nvSpPr>
          <p:cNvPr id="15" name="dust"/>
          <p:cNvSpPr/>
          <p:nvPr/>
        </p:nvSpPr>
        <p:spPr>
          <a:xfrm>
            <a:off x="2331720" y="2468880"/>
            <a:ext cx="219456" cy="219456"/>
          </a:xfrm>
          <a:prstGeom prst="ellipse">
            <a:avLst/>
          </a:prstGeom>
          <a:solidFill>
            <a:srgbClr val="B8A68A">
              <a:alpha val="75000"/>
            </a:srgbClr>
          </a:solidFill>
          <a:ln w="12700">
            <a:solidFill>
              <a:srgbClr val="B8A68A"/>
            </a:solidFill>
            <a:prstDash val="solid"/>
          </a:ln>
        </p:spPr>
      </p:sp>
      <p:sp>
        <p:nvSpPr>
          <p:cNvPr id="16" name="dust"/>
          <p:cNvSpPr/>
          <p:nvPr/>
        </p:nvSpPr>
        <p:spPr>
          <a:xfrm>
            <a:off x="2651760" y="2788920"/>
            <a:ext cx="182880" cy="182880"/>
          </a:xfrm>
          <a:prstGeom prst="ellipse">
            <a:avLst/>
          </a:prstGeom>
          <a:solidFill>
            <a:srgbClr val="B8A68A">
              <a:alpha val="75000"/>
            </a:srgbClr>
          </a:solidFill>
          <a:ln w="12700">
            <a:solidFill>
              <a:srgbClr val="B8A68A"/>
            </a:solidFill>
            <a:prstDash val="solid"/>
          </a:ln>
        </p:spPr>
      </p:sp>
      <p:sp>
        <p:nvSpPr>
          <p:cNvPr id="17" name="dust"/>
          <p:cNvSpPr/>
          <p:nvPr/>
        </p:nvSpPr>
        <p:spPr>
          <a:xfrm>
            <a:off x="3017520" y="2331720"/>
            <a:ext cx="164592" cy="164592"/>
          </a:xfrm>
          <a:prstGeom prst="ellipse">
            <a:avLst/>
          </a:prstGeom>
          <a:solidFill>
            <a:srgbClr val="B8A68A">
              <a:alpha val="75000"/>
            </a:srgbClr>
          </a:solidFill>
          <a:ln w="12700">
            <a:solidFill>
              <a:srgbClr val="B8A68A"/>
            </a:solidFill>
            <a:prstDash val="solid"/>
          </a:ln>
        </p:spPr>
      </p:sp>
      <p:sp>
        <p:nvSpPr>
          <p:cNvPr id="18" name="dust"/>
          <p:cNvSpPr/>
          <p:nvPr/>
        </p:nvSpPr>
        <p:spPr>
          <a:xfrm>
            <a:off x="3657600" y="2560320"/>
            <a:ext cx="137160" cy="137160"/>
          </a:xfrm>
          <a:prstGeom prst="ellipse">
            <a:avLst/>
          </a:prstGeom>
          <a:solidFill>
            <a:srgbClr val="B8A68A">
              <a:alpha val="75000"/>
            </a:srgbClr>
          </a:solidFill>
          <a:ln w="12700">
            <a:solidFill>
              <a:srgbClr val="B8A68A"/>
            </a:solidFill>
            <a:prstDash val="solid"/>
          </a:ln>
        </p:spPr>
      </p:sp>
      <p:sp>
        <p:nvSpPr>
          <p:cNvPr id="19" name="dust"/>
          <p:cNvSpPr/>
          <p:nvPr/>
        </p:nvSpPr>
        <p:spPr>
          <a:xfrm>
            <a:off x="4297680" y="2423160"/>
            <a:ext cx="109728" cy="109728"/>
          </a:xfrm>
          <a:prstGeom prst="ellipse">
            <a:avLst/>
          </a:prstGeom>
          <a:solidFill>
            <a:srgbClr val="B8A68A">
              <a:alpha val="75000"/>
            </a:srgbClr>
          </a:solidFill>
          <a:ln w="12700">
            <a:solidFill>
              <a:srgbClr val="B8A68A"/>
            </a:solidFill>
            <a:prstDash val="solid"/>
          </a:ln>
        </p:spPr>
      </p:sp>
      <p:sp>
        <p:nvSpPr>
          <p:cNvPr id="20" name="dust"/>
          <p:cNvSpPr/>
          <p:nvPr/>
        </p:nvSpPr>
        <p:spPr>
          <a:xfrm>
            <a:off x="1508760" y="3063240"/>
            <a:ext cx="201168" cy="201168"/>
          </a:xfrm>
          <a:prstGeom prst="ellipse">
            <a:avLst/>
          </a:prstGeom>
          <a:solidFill>
            <a:srgbClr val="B8A68A">
              <a:alpha val="75000"/>
            </a:srgbClr>
          </a:solidFill>
          <a:ln w="12700">
            <a:solidFill>
              <a:srgbClr val="B8A68A"/>
            </a:solidFill>
            <a:prstDash val="solid"/>
          </a:ln>
        </p:spPr>
      </p:sp>
      <p:sp>
        <p:nvSpPr>
          <p:cNvPr id="21" name="dust"/>
          <p:cNvSpPr/>
          <p:nvPr/>
        </p:nvSpPr>
        <p:spPr>
          <a:xfrm>
            <a:off x="2057400" y="2926080"/>
            <a:ext cx="164592" cy="164592"/>
          </a:xfrm>
          <a:prstGeom prst="ellipse">
            <a:avLst/>
          </a:prstGeom>
          <a:solidFill>
            <a:srgbClr val="B8A68A">
              <a:alpha val="75000"/>
            </a:srgbClr>
          </a:solidFill>
          <a:ln w="12700">
            <a:solidFill>
              <a:srgbClr val="B8A68A"/>
            </a:solidFill>
            <a:prstDash val="solid"/>
          </a:ln>
        </p:spPr>
      </p:sp>
      <p:sp>
        <p:nvSpPr>
          <p:cNvPr id="22" name="Text 20"/>
          <p:cNvSpPr txBox="1"/>
          <p:nvPr/>
        </p:nvSpPr>
        <p:spPr>
          <a:xfrm>
            <a:off x="548640" y="3794760"/>
            <a:ext cx="5760720" cy="320040"/>
          </a:xfrm>
          <a:prstGeom prst="rect">
            <a:avLst/>
          </a:prstGeom>
          <a:noFill/>
          <a:ln/>
        </p:spPr>
        <p:txBody>
          <a:bodyPr wrap="square" lIns="0" tIns="0" rIns="0" bIns="0" rtlCol="0" anchor="t"/>
          <a:lstStyle/>
          <a:p>
            <a:pPr indent="0" marL="0">
              <a:buNone/>
            </a:pPr>
            <a:r>
              <a:rPr lang="en-US" sz="1400" b="1" dirty="0">
                <a:solidFill>
                  <a:schemeClr val="accent1"/>
                </a:solidFill>
              </a:rPr>
              <a:t>GridMats S2 track</a:t>
            </a:r>
            <a:endParaRPr lang="en-US" sz="1400" dirty="0"/>
          </a:p>
        </p:txBody>
      </p:sp>
      <p:sp>
        <p:nvSpPr>
          <p:cNvPr id="23" name="track"/>
          <p:cNvSpPr/>
          <p:nvPr/>
        </p:nvSpPr>
        <p:spPr>
          <a:xfrm>
            <a:off x="548640" y="4206240"/>
            <a:ext cx="822960" cy="1417320"/>
          </a:xfrm>
          <a:prstGeom prst="rect">
            <a:avLst/>
          </a:prstGeom>
          <a:solidFill>
            <a:srgbClr val="C22935"/>
          </a:solidFill>
          <a:ln w="12700">
            <a:solidFill>
              <a:srgbClr val="C22935"/>
            </a:solidFill>
            <a:prstDash val="solid"/>
          </a:ln>
        </p:spPr>
      </p:sp>
      <p:sp>
        <p:nvSpPr>
          <p:cNvPr id="24" name="module-row"/>
          <p:cNvSpPr/>
          <p:nvPr/>
        </p:nvSpPr>
        <p:spPr>
          <a:xfrm>
            <a:off x="2194560" y="4480560"/>
            <a:ext cx="1051560" cy="868680"/>
          </a:xfrm>
          <a:prstGeom prst="parallelogram">
            <a:avLst/>
          </a:prstGeom>
          <a:solidFill>
            <a:srgbClr val="2B3A55"/>
          </a:solidFill>
          <a:ln w="12700">
            <a:solidFill>
              <a:srgbClr val="FFFFFF"/>
            </a:solidFill>
            <a:prstDash val="solid"/>
          </a:ln>
        </p:spPr>
      </p:sp>
      <p:sp>
        <p:nvSpPr>
          <p:cNvPr id="25" name="Text 23"/>
          <p:cNvSpPr txBox="1"/>
          <p:nvPr/>
        </p:nvSpPr>
        <p:spPr>
          <a:xfrm>
            <a:off x="2194560" y="5394960"/>
            <a:ext cx="1051560" cy="256032"/>
          </a:xfrm>
          <a:prstGeom prst="rect">
            <a:avLst/>
          </a:prstGeom>
          <a:noFill/>
          <a:ln/>
        </p:spPr>
        <p:txBody>
          <a:bodyPr wrap="square" lIns="0" tIns="0" rIns="0" bIns="0" rtlCol="0" anchor="t"/>
          <a:lstStyle/>
          <a:p>
            <a:pPr algn="ctr" indent="0" marL="0">
              <a:buNone/>
            </a:pPr>
            <a:r>
              <a:rPr lang="en-US" sz="1100" dirty="0">
                <a:solidFill>
                  <a:schemeClr val="accent4"/>
                </a:solidFill>
              </a:rPr>
              <a:t>10 m</a:t>
            </a:r>
            <a:endParaRPr lang="en-US" sz="1100" dirty="0"/>
          </a:p>
        </p:txBody>
      </p:sp>
      <p:sp>
        <p:nvSpPr>
          <p:cNvPr id="26" name="module-row"/>
          <p:cNvSpPr/>
          <p:nvPr/>
        </p:nvSpPr>
        <p:spPr>
          <a:xfrm>
            <a:off x="3566160" y="4480560"/>
            <a:ext cx="1051560" cy="868680"/>
          </a:xfrm>
          <a:prstGeom prst="parallelogram">
            <a:avLst/>
          </a:prstGeom>
          <a:solidFill>
            <a:srgbClr val="2B3A55"/>
          </a:solidFill>
          <a:ln w="12700">
            <a:solidFill>
              <a:srgbClr val="FFFFFF"/>
            </a:solidFill>
            <a:prstDash val="solid"/>
          </a:ln>
        </p:spPr>
      </p:sp>
      <p:sp>
        <p:nvSpPr>
          <p:cNvPr id="27" name="Text 25"/>
          <p:cNvSpPr txBox="1"/>
          <p:nvPr/>
        </p:nvSpPr>
        <p:spPr>
          <a:xfrm>
            <a:off x="3566160" y="5394960"/>
            <a:ext cx="1051560" cy="256032"/>
          </a:xfrm>
          <a:prstGeom prst="rect">
            <a:avLst/>
          </a:prstGeom>
          <a:noFill/>
          <a:ln/>
        </p:spPr>
        <p:txBody>
          <a:bodyPr wrap="square" lIns="0" tIns="0" rIns="0" bIns="0" rtlCol="0" anchor="t"/>
          <a:lstStyle/>
          <a:p>
            <a:pPr algn="ctr" indent="0" marL="0">
              <a:buNone/>
            </a:pPr>
            <a:r>
              <a:rPr lang="en-US" sz="1100" dirty="0">
                <a:solidFill>
                  <a:schemeClr val="accent4"/>
                </a:solidFill>
              </a:rPr>
              <a:t>40 m</a:t>
            </a:r>
            <a:endParaRPr lang="en-US" sz="1100" dirty="0"/>
          </a:p>
        </p:txBody>
      </p:sp>
      <p:sp>
        <p:nvSpPr>
          <p:cNvPr id="28" name="module-row"/>
          <p:cNvSpPr/>
          <p:nvPr/>
        </p:nvSpPr>
        <p:spPr>
          <a:xfrm>
            <a:off x="4937760" y="4480560"/>
            <a:ext cx="1051560" cy="868680"/>
          </a:xfrm>
          <a:prstGeom prst="parallelogram">
            <a:avLst/>
          </a:prstGeom>
          <a:solidFill>
            <a:srgbClr val="2B3A55"/>
          </a:solidFill>
          <a:ln w="12700">
            <a:solidFill>
              <a:srgbClr val="FFFFFF"/>
            </a:solidFill>
            <a:prstDash val="solid"/>
          </a:ln>
        </p:spPr>
      </p:sp>
      <p:sp>
        <p:nvSpPr>
          <p:cNvPr id="29" name="Text 27"/>
          <p:cNvSpPr txBox="1"/>
          <p:nvPr/>
        </p:nvSpPr>
        <p:spPr>
          <a:xfrm>
            <a:off x="4937760" y="5394960"/>
            <a:ext cx="1051560" cy="256032"/>
          </a:xfrm>
          <a:prstGeom prst="rect">
            <a:avLst/>
          </a:prstGeom>
          <a:noFill/>
          <a:ln/>
        </p:spPr>
        <p:txBody>
          <a:bodyPr wrap="square" lIns="0" tIns="0" rIns="0" bIns="0" rtlCol="0" anchor="t"/>
          <a:lstStyle/>
          <a:p>
            <a:pPr algn="ctr" indent="0" marL="0">
              <a:buNone/>
            </a:pPr>
            <a:r>
              <a:rPr lang="en-US" sz="1100" dirty="0">
                <a:solidFill>
                  <a:schemeClr val="accent4"/>
                </a:solidFill>
              </a:rPr>
              <a:t>100 m</a:t>
            </a:r>
            <a:endParaRPr lang="en-US" sz="1100" dirty="0"/>
          </a:p>
        </p:txBody>
      </p:sp>
      <p:sp>
        <p:nvSpPr>
          <p:cNvPr id="30" name="dust"/>
          <p:cNvSpPr/>
          <p:nvPr/>
        </p:nvSpPr>
        <p:spPr>
          <a:xfrm>
            <a:off x="1417320" y="4572000"/>
            <a:ext cx="146304" cy="146304"/>
          </a:xfrm>
          <a:prstGeom prst="ellipse">
            <a:avLst/>
          </a:prstGeom>
          <a:solidFill>
            <a:srgbClr val="B8A68A">
              <a:alpha val="75000"/>
            </a:srgbClr>
          </a:solidFill>
          <a:ln w="12700">
            <a:solidFill>
              <a:srgbClr val="B8A68A"/>
            </a:solidFill>
            <a:prstDash val="solid"/>
          </a:ln>
        </p:spPr>
      </p:sp>
      <p:sp>
        <p:nvSpPr>
          <p:cNvPr id="31" name="dust"/>
          <p:cNvSpPr/>
          <p:nvPr/>
        </p:nvSpPr>
        <p:spPr>
          <a:xfrm>
            <a:off x="1783080" y="4892040"/>
            <a:ext cx="109728" cy="109728"/>
          </a:xfrm>
          <a:prstGeom prst="ellipse">
            <a:avLst/>
          </a:prstGeom>
          <a:solidFill>
            <a:srgbClr val="B8A68A">
              <a:alpha val="75000"/>
            </a:srgbClr>
          </a:solidFill>
          <a:ln w="12700">
            <a:solidFill>
              <a:srgbClr val="B8A68A"/>
            </a:solidFill>
            <a:prstDash val="solid"/>
          </a:ln>
        </p:spPr>
      </p:sp>
      <p:sp>
        <p:nvSpPr>
          <p:cNvPr id="32" name="dust"/>
          <p:cNvSpPr/>
          <p:nvPr/>
        </p:nvSpPr>
        <p:spPr>
          <a:xfrm>
            <a:off x="2377440" y="4663440"/>
            <a:ext cx="91440" cy="91440"/>
          </a:xfrm>
          <a:prstGeom prst="ellipse">
            <a:avLst/>
          </a:prstGeom>
          <a:solidFill>
            <a:srgbClr val="B8A68A">
              <a:alpha val="75000"/>
            </a:srgbClr>
          </a:solidFill>
          <a:ln w="12700">
            <a:solidFill>
              <a:srgbClr val="B8A68A"/>
            </a:solidFill>
            <a:prstDash val="solid"/>
          </a:ln>
        </p:spPr>
      </p:sp>
      <p:sp>
        <p:nvSpPr>
          <p:cNvPr id="33" name="stat-value"/>
          <p:cNvSpPr txBox="1"/>
          <p:nvPr/>
        </p:nvSpPr>
        <p:spPr>
          <a:xfrm>
            <a:off x="6812280" y="1783080"/>
            <a:ext cx="2377440" cy="396240"/>
          </a:xfrm>
          <a:prstGeom prst="rect">
            <a:avLst/>
          </a:prstGeom>
          <a:noFill/>
          <a:ln/>
        </p:spPr>
        <p:txBody>
          <a:bodyPr wrap="square" lIns="0" tIns="0" rIns="0" bIns="0" rtlCol="0" anchor="b"/>
          <a:lstStyle/>
          <a:p>
            <a:pPr indent="0" marL="0">
              <a:buNone/>
            </a:pPr>
            <a:r>
              <a:rPr lang="en-US" sz="2600" b="1" dirty="0">
                <a:solidFill>
                  <a:schemeClr val="accent3"/>
                </a:solidFill>
              </a:rPr>
              <a:t>589 MWh</a:t>
            </a:r>
            <a:endParaRPr lang="en-US" sz="2600" dirty="0"/>
          </a:p>
        </p:txBody>
      </p:sp>
      <p:sp>
        <p:nvSpPr>
          <p:cNvPr id="34" name="stat-label"/>
          <p:cNvSpPr txBox="1"/>
          <p:nvPr/>
        </p:nvSpPr>
        <p:spPr>
          <a:xfrm>
            <a:off x="6812280" y="2225040"/>
            <a:ext cx="2377440" cy="566928"/>
          </a:xfrm>
          <a:prstGeom prst="rect">
            <a:avLst/>
          </a:prstGeom>
          <a:noFill/>
          <a:ln/>
        </p:spPr>
        <p:txBody>
          <a:bodyPr wrap="square" lIns="0" tIns="0" rIns="0" bIns="0" rtlCol="0" anchor="t"/>
          <a:lstStyle/>
          <a:p>
            <a:pPr indent="0" marL="0">
              <a:buNone/>
            </a:pPr>
            <a:r>
              <a:rPr lang="en-US" sz="1300" dirty="0">
                <a:solidFill>
                  <a:schemeClr val="tx2"/>
                </a:solidFill>
              </a:rPr>
              <a:t>more energy in year 1 per 100 MW (base assumption)</a:t>
            </a:r>
            <a:endParaRPr lang="en-US" sz="1300" dirty="0"/>
          </a:p>
        </p:txBody>
      </p:sp>
      <p:sp>
        <p:nvSpPr>
          <p:cNvPr id="35" name="stat-value"/>
          <p:cNvSpPr txBox="1"/>
          <p:nvPr/>
        </p:nvSpPr>
        <p:spPr>
          <a:xfrm>
            <a:off x="6812280" y="2862072"/>
            <a:ext cx="2377440" cy="396240"/>
          </a:xfrm>
          <a:prstGeom prst="rect">
            <a:avLst/>
          </a:prstGeom>
          <a:noFill/>
          <a:ln/>
        </p:spPr>
        <p:txBody>
          <a:bodyPr wrap="square" lIns="0" tIns="0" rIns="0" bIns="0" rtlCol="0" anchor="b"/>
          <a:lstStyle/>
          <a:p>
            <a:pPr indent="0" marL="0">
              <a:buNone/>
            </a:pPr>
            <a:r>
              <a:rPr lang="en-US" sz="2600" b="1" dirty="0">
                <a:solidFill>
                  <a:schemeClr val="accent2"/>
                </a:solidFill>
              </a:rPr>
              <a:t>₹15.9 L</a:t>
            </a:r>
            <a:endParaRPr lang="en-US" sz="2600" dirty="0"/>
          </a:p>
        </p:txBody>
      </p:sp>
      <p:sp>
        <p:nvSpPr>
          <p:cNvPr id="36" name="stat-label"/>
          <p:cNvSpPr txBox="1"/>
          <p:nvPr/>
        </p:nvSpPr>
        <p:spPr>
          <a:xfrm>
            <a:off x="6812280" y="3304032"/>
            <a:ext cx="2377440" cy="566928"/>
          </a:xfrm>
          <a:prstGeom prst="rect">
            <a:avLst/>
          </a:prstGeom>
          <a:noFill/>
          <a:ln/>
        </p:spPr>
        <p:txBody>
          <a:bodyPr wrap="square" lIns="0" tIns="0" rIns="0" bIns="0" rtlCol="0" anchor="t"/>
          <a:lstStyle/>
          <a:p>
            <a:pPr indent="0" marL="0">
              <a:buNone/>
            </a:pPr>
            <a:r>
              <a:rPr lang="en-US" sz="1300" dirty="0">
                <a:solidFill>
                  <a:schemeClr val="tx2"/>
                </a:solidFill>
              </a:rPr>
              <a:t>a year at ₹2.70/kWh</a:t>
            </a:r>
            <a:endParaRPr lang="en-US" sz="1300" dirty="0"/>
          </a:p>
        </p:txBody>
      </p:sp>
      <p:sp>
        <p:nvSpPr>
          <p:cNvPr id="37" name="stat-value"/>
          <p:cNvSpPr txBox="1"/>
          <p:nvPr/>
        </p:nvSpPr>
        <p:spPr>
          <a:xfrm>
            <a:off x="6812280" y="3941064"/>
            <a:ext cx="2377440" cy="396240"/>
          </a:xfrm>
          <a:prstGeom prst="rect">
            <a:avLst/>
          </a:prstGeom>
          <a:noFill/>
          <a:ln/>
        </p:spPr>
        <p:txBody>
          <a:bodyPr wrap="square" lIns="0" tIns="0" rIns="0" bIns="0" rtlCol="0" anchor="b"/>
          <a:lstStyle/>
          <a:p>
            <a:pPr indent="0" marL="0">
              <a:buNone/>
            </a:pPr>
            <a:r>
              <a:rPr lang="en-US" sz="2600" b="1" dirty="0">
                <a:solidFill>
                  <a:schemeClr val="accent1"/>
                </a:solidFill>
              </a:rPr>
              <a:t>8,820 kL</a:t>
            </a:r>
            <a:endParaRPr lang="en-US" sz="2600" dirty="0"/>
          </a:p>
        </p:txBody>
      </p:sp>
      <p:sp>
        <p:nvSpPr>
          <p:cNvPr id="38" name="stat-label"/>
          <p:cNvSpPr txBox="1"/>
          <p:nvPr/>
        </p:nvSpPr>
        <p:spPr>
          <a:xfrm>
            <a:off x="6812280" y="4383024"/>
            <a:ext cx="2377440" cy="566928"/>
          </a:xfrm>
          <a:prstGeom prst="rect">
            <a:avLst/>
          </a:prstGeom>
          <a:noFill/>
          <a:ln/>
        </p:spPr>
        <p:txBody>
          <a:bodyPr wrap="square" lIns="0" tIns="0" rIns="0" bIns="0" rtlCol="0" anchor="t"/>
          <a:lstStyle/>
          <a:p>
            <a:pPr indent="0" marL="0">
              <a:buNone/>
            </a:pPr>
            <a:r>
              <a:rPr lang="en-US" sz="1300" dirty="0">
                <a:solidFill>
                  <a:schemeClr val="tx2"/>
                </a:solidFill>
              </a:rPr>
              <a:t>of dust-suppression water avoided per 100 MW</a:t>
            </a:r>
            <a:endParaRPr lang="en-US" sz="1300" dirty="0"/>
          </a:p>
        </p:txBody>
      </p:sp>
      <p:sp>
        <p:nvSpPr>
          <p:cNvPr id="39" name="measure-card"/>
          <p:cNvSpPr/>
          <p:nvPr/>
        </p:nvSpPr>
        <p:spPr>
          <a:xfrm>
            <a:off x="9372600" y="1783080"/>
            <a:ext cx="2267712" cy="3063240"/>
          </a:xfrm>
          <a:prstGeom prst="roundRect">
            <a:avLst>
              <a:gd name="adj" fmla="val 3226"/>
            </a:avLst>
          </a:prstGeom>
          <a:solidFill>
            <a:schemeClr val="bg2"/>
          </a:solidFill>
          <a:ln w="12700">
            <a:solidFill>
              <a:schemeClr val="bg2"/>
            </a:solidFill>
            <a:prstDash val="solid"/>
          </a:ln>
        </p:spPr>
      </p:sp>
      <p:sp>
        <p:nvSpPr>
          <p:cNvPr id="40" name="Text 38"/>
          <p:cNvSpPr txBox="1"/>
          <p:nvPr/>
        </p:nvSpPr>
        <p:spPr>
          <a:xfrm>
            <a:off x="9509760" y="1920240"/>
            <a:ext cx="2011680" cy="2834640"/>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Base assumption</a:t>
            </a:r>
            <a:endParaRPr lang="en-US" sz="1300" dirty="0"/>
          </a:p>
          <a:p>
            <a:pPr indent="0" marL="0">
              <a:spcAft>
                <a:spcPts val="200"/>
              </a:spcAft>
              <a:buNone/>
            </a:pPr>
            <a:r>
              <a:rPr lang="en-US" sz="1300" dirty="0">
                <a:solidFill>
                  <a:schemeClr val="tx1"/>
                </a:solidFill>
              </a:rPr>
              <a:t>3% yearly soiling loss; 15% of it from track dust; GridMats cuts that dust by 70%.</a:t>
            </a:r>
            <a:endParaRPr lang="en-US" sz="1300" dirty="0"/>
          </a:p>
          <a:p>
            <a:pPr indent="0" marL="0">
              <a:spcAft>
                <a:spcPts val="200"/>
              </a:spcAft>
              <a:buNone/>
            </a:pPr>
            <a:r>
              <a:rPr lang="en-US" sz="600" dirty="0">
                <a:solidFill>
                  <a:schemeClr val="tx1"/>
                </a:solidFill>
              </a:rPr>
              <a:t> </a:t>
            </a:r>
            <a:endParaRPr lang="en-US" sz="1300" dirty="0"/>
          </a:p>
          <a:p>
            <a:pPr indent="0" marL="0">
              <a:spcAft>
                <a:spcPts val="200"/>
              </a:spcAft>
              <a:buNone/>
            </a:pPr>
            <a:r>
              <a:rPr lang="en-US" sz="1300" b="1" dirty="0">
                <a:solidFill>
                  <a:schemeClr val="tx1"/>
                </a:solidFill>
              </a:rPr>
              <a:t>How the pilot measures it</a:t>
            </a:r>
            <a:endParaRPr lang="en-US" sz="1300" dirty="0"/>
          </a:p>
          <a:p>
            <a:pPr indent="0" marL="0">
              <a:spcAft>
                <a:spcPts val="200"/>
              </a:spcAft>
              <a:buNone/>
            </a:pPr>
            <a:r>
              <a:rPr lang="en-US" sz="1300" dirty="0">
                <a:solidFill>
                  <a:schemeClr val="tx1"/>
                </a:solidFill>
              </a:rPr>
              <a:t>Dust gauges and soiling reference cells on rows 10-100 m from the GridMats track and from a WBM control track.</a:t>
            </a:r>
            <a:endParaRPr lang="en-US" sz="1300" dirty="0"/>
          </a:p>
        </p:txBody>
      </p:sp>
      <p:sp>
        <p:nvSpPr>
          <p:cNvPr id="41" name="source"/>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Assumption informed by soiling studies (Gandhinagar 0.37%/day) and Univ. of Johannesburg (2025): soiling highest next to a gravel road, falling with distance.</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Walkways that pay back in 5-8 years</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A generating walkway costs more per kWp than a roof, but it replaces a walkway you would build anyway.</a:t>
            </a:r>
            <a:endParaRPr lang="en-US" sz="1600" dirty="0"/>
          </a:p>
        </p:txBody>
      </p:sp>
      <p:sp>
        <p:nvSpPr>
          <p:cNvPr id="4" name="wk-card"/>
          <p:cNvSpPr/>
          <p:nvPr/>
        </p:nvSpPr>
        <p:spPr>
          <a:xfrm>
            <a:off x="548640" y="1783080"/>
            <a:ext cx="2697480" cy="1645920"/>
          </a:xfrm>
          <a:prstGeom prst="roundRect">
            <a:avLst>
              <a:gd name="adj" fmla="val 4444"/>
            </a:avLst>
          </a:prstGeom>
          <a:solidFill>
            <a:schemeClr val="bg2"/>
          </a:solidFill>
          <a:ln w="12700">
            <a:solidFill>
              <a:schemeClr val="bg2"/>
            </a:solidFill>
            <a:prstDash val="solid"/>
          </a:ln>
        </p:spPr>
      </p:sp>
      <p:sp>
        <p:nvSpPr>
          <p:cNvPr id="5" name="stat-value"/>
          <p:cNvSpPr txBox="1"/>
          <p:nvPr/>
        </p:nvSpPr>
        <p:spPr>
          <a:xfrm>
            <a:off x="749808" y="1947672"/>
            <a:ext cx="2331720" cy="457200"/>
          </a:xfrm>
          <a:prstGeom prst="rect">
            <a:avLst/>
          </a:prstGeom>
          <a:noFill/>
          <a:ln/>
        </p:spPr>
        <p:txBody>
          <a:bodyPr wrap="square" lIns="0" tIns="0" rIns="0" bIns="0" rtlCol="0" anchor="b"/>
          <a:lstStyle/>
          <a:p>
            <a:pPr indent="0" marL="0">
              <a:buNone/>
            </a:pPr>
            <a:r>
              <a:rPr lang="en-US" sz="3000" b="1" dirty="0">
                <a:solidFill>
                  <a:schemeClr val="accent2"/>
                </a:solidFill>
              </a:rPr>
              <a:t>5.6 yrs</a:t>
            </a:r>
            <a:endParaRPr lang="en-US" sz="3000" dirty="0"/>
          </a:p>
        </p:txBody>
      </p:sp>
      <p:sp>
        <p:nvSpPr>
          <p:cNvPr id="6" name="stat-label"/>
          <p:cNvSpPr txBox="1"/>
          <p:nvPr/>
        </p:nvSpPr>
        <p:spPr>
          <a:xfrm>
            <a:off x="749808" y="2450592"/>
            <a:ext cx="2331720" cy="566928"/>
          </a:xfrm>
          <a:prstGeom prst="rect">
            <a:avLst/>
          </a:prstGeom>
          <a:noFill/>
          <a:ln/>
        </p:spPr>
        <p:txBody>
          <a:bodyPr wrap="square" lIns="0" tIns="0" rIns="0" bIns="0" rtlCol="0" anchor="t"/>
          <a:lstStyle/>
          <a:p>
            <a:pPr indent="0" marL="0">
              <a:buNone/>
            </a:pPr>
            <a:r>
              <a:rPr lang="en-US" sz="1300" dirty="0">
                <a:solidFill>
                  <a:schemeClr val="tx2"/>
                </a:solidFill>
              </a:rPr>
              <a:t>payback in Navi Mumbai (grid power about ₹12/kWh)</a:t>
            </a:r>
            <a:endParaRPr lang="en-US" sz="1300" dirty="0"/>
          </a:p>
        </p:txBody>
      </p:sp>
      <p:sp>
        <p:nvSpPr>
          <p:cNvPr id="7" name="wk-card"/>
          <p:cNvSpPr/>
          <p:nvPr/>
        </p:nvSpPr>
        <p:spPr>
          <a:xfrm>
            <a:off x="3429000" y="1783080"/>
            <a:ext cx="2697480" cy="1645920"/>
          </a:xfrm>
          <a:prstGeom prst="roundRect">
            <a:avLst>
              <a:gd name="adj" fmla="val 4444"/>
            </a:avLst>
          </a:prstGeom>
          <a:solidFill>
            <a:schemeClr val="bg2"/>
          </a:solidFill>
          <a:ln w="12700">
            <a:solidFill>
              <a:schemeClr val="bg2"/>
            </a:solidFill>
            <a:prstDash val="solid"/>
          </a:ln>
        </p:spPr>
      </p:sp>
      <p:sp>
        <p:nvSpPr>
          <p:cNvPr id="8" name="stat-value"/>
          <p:cNvSpPr txBox="1"/>
          <p:nvPr/>
        </p:nvSpPr>
        <p:spPr>
          <a:xfrm>
            <a:off x="3630168" y="1947672"/>
            <a:ext cx="2331720" cy="457200"/>
          </a:xfrm>
          <a:prstGeom prst="rect">
            <a:avLst/>
          </a:prstGeom>
          <a:noFill/>
          <a:ln/>
        </p:spPr>
        <p:txBody>
          <a:bodyPr wrap="square" lIns="0" tIns="0" rIns="0" bIns="0" rtlCol="0" anchor="b"/>
          <a:lstStyle/>
          <a:p>
            <a:pPr indent="0" marL="0">
              <a:buNone/>
            </a:pPr>
            <a:r>
              <a:rPr lang="en-US" sz="3000" b="1" dirty="0">
                <a:solidFill>
                  <a:schemeClr val="accent1"/>
                </a:solidFill>
              </a:rPr>
              <a:t>8.1 yrs</a:t>
            </a:r>
            <a:endParaRPr lang="en-US" sz="3000" dirty="0"/>
          </a:p>
        </p:txBody>
      </p:sp>
      <p:sp>
        <p:nvSpPr>
          <p:cNvPr id="9" name="stat-label"/>
          <p:cNvSpPr txBox="1"/>
          <p:nvPr/>
        </p:nvSpPr>
        <p:spPr>
          <a:xfrm>
            <a:off x="3630168" y="2450592"/>
            <a:ext cx="2331720" cy="566928"/>
          </a:xfrm>
          <a:prstGeom prst="rect">
            <a:avLst/>
          </a:prstGeom>
          <a:noFill/>
          <a:ln/>
        </p:spPr>
        <p:txBody>
          <a:bodyPr wrap="square" lIns="0" tIns="0" rIns="0" bIns="0" rtlCol="0" anchor="t"/>
          <a:lstStyle/>
          <a:p>
            <a:pPr indent="0" marL="0">
              <a:buNone/>
            </a:pPr>
            <a:r>
              <a:rPr lang="en-US" sz="1300" dirty="0">
                <a:solidFill>
                  <a:schemeClr val="tx2"/>
                </a:solidFill>
              </a:rPr>
              <a:t>payback at Jamnagar (grid power about ₹7.5/kWh)</a:t>
            </a:r>
            <a:endParaRPr lang="en-US" sz="1300" dirty="0"/>
          </a:p>
        </p:txBody>
      </p:sp>
      <p:sp>
        <p:nvSpPr>
          <p:cNvPr id="10" name="wk-card"/>
          <p:cNvSpPr/>
          <p:nvPr/>
        </p:nvSpPr>
        <p:spPr>
          <a:xfrm>
            <a:off x="548640" y="3611880"/>
            <a:ext cx="2697480" cy="1645920"/>
          </a:xfrm>
          <a:prstGeom prst="roundRect">
            <a:avLst>
              <a:gd name="adj" fmla="val 4444"/>
            </a:avLst>
          </a:prstGeom>
          <a:solidFill>
            <a:schemeClr val="bg2"/>
          </a:solidFill>
          <a:ln w="12700">
            <a:solidFill>
              <a:schemeClr val="bg2"/>
            </a:solidFill>
            <a:prstDash val="solid"/>
          </a:ln>
        </p:spPr>
      </p:sp>
      <p:sp>
        <p:nvSpPr>
          <p:cNvPr id="11" name="stat-value"/>
          <p:cNvSpPr txBox="1"/>
          <p:nvPr/>
        </p:nvSpPr>
        <p:spPr>
          <a:xfrm>
            <a:off x="749808" y="3776472"/>
            <a:ext cx="2331720" cy="457200"/>
          </a:xfrm>
          <a:prstGeom prst="rect">
            <a:avLst/>
          </a:prstGeom>
          <a:noFill/>
          <a:ln/>
        </p:spPr>
        <p:txBody>
          <a:bodyPr wrap="square" lIns="0" tIns="0" rIns="0" bIns="0" rtlCol="0" anchor="b"/>
          <a:lstStyle/>
          <a:p>
            <a:pPr indent="0" marL="0">
              <a:buNone/>
            </a:pPr>
            <a:r>
              <a:rPr lang="en-US" sz="3000" b="1" dirty="0">
                <a:solidFill>
                  <a:schemeClr val="accent2"/>
                </a:solidFill>
              </a:rPr>
              <a:t>19%</a:t>
            </a:r>
            <a:endParaRPr lang="en-US" sz="3000" dirty="0"/>
          </a:p>
        </p:txBody>
      </p:sp>
      <p:sp>
        <p:nvSpPr>
          <p:cNvPr id="12" name="stat-label"/>
          <p:cNvSpPr txBox="1"/>
          <p:nvPr/>
        </p:nvSpPr>
        <p:spPr>
          <a:xfrm>
            <a:off x="749808" y="4279392"/>
            <a:ext cx="2331720" cy="566928"/>
          </a:xfrm>
          <a:prstGeom prst="rect">
            <a:avLst/>
          </a:prstGeom>
          <a:noFill/>
          <a:ln/>
        </p:spPr>
        <p:txBody>
          <a:bodyPr wrap="square" lIns="0" tIns="0" rIns="0" bIns="0" rtlCol="0" anchor="t"/>
          <a:lstStyle/>
          <a:p>
            <a:pPr indent="0" marL="0">
              <a:buNone/>
            </a:pPr>
            <a:r>
              <a:rPr lang="en-US" sz="1300" dirty="0">
                <a:solidFill>
                  <a:schemeClr val="tx2"/>
                </a:solidFill>
              </a:rPr>
              <a:t>pre-tax IRR over 20 years, Navi Mumbai</a:t>
            </a:r>
            <a:endParaRPr lang="en-US" sz="1300" dirty="0"/>
          </a:p>
        </p:txBody>
      </p:sp>
      <p:sp>
        <p:nvSpPr>
          <p:cNvPr id="13" name="wk-card"/>
          <p:cNvSpPr/>
          <p:nvPr/>
        </p:nvSpPr>
        <p:spPr>
          <a:xfrm>
            <a:off x="3429000" y="3611880"/>
            <a:ext cx="2697480" cy="1645920"/>
          </a:xfrm>
          <a:prstGeom prst="roundRect">
            <a:avLst>
              <a:gd name="adj" fmla="val 4444"/>
            </a:avLst>
          </a:prstGeom>
          <a:solidFill>
            <a:schemeClr val="bg2"/>
          </a:solidFill>
          <a:ln w="12700">
            <a:solidFill>
              <a:schemeClr val="bg2"/>
            </a:solidFill>
            <a:prstDash val="solid"/>
          </a:ln>
        </p:spPr>
      </p:sp>
      <p:sp>
        <p:nvSpPr>
          <p:cNvPr id="14" name="stat-value"/>
          <p:cNvSpPr txBox="1"/>
          <p:nvPr/>
        </p:nvSpPr>
        <p:spPr>
          <a:xfrm>
            <a:off x="3630168" y="3776472"/>
            <a:ext cx="2331720" cy="457200"/>
          </a:xfrm>
          <a:prstGeom prst="rect">
            <a:avLst/>
          </a:prstGeom>
          <a:noFill/>
          <a:ln/>
        </p:spPr>
        <p:txBody>
          <a:bodyPr wrap="square" lIns="0" tIns="0" rIns="0" bIns="0" rtlCol="0" anchor="b"/>
          <a:lstStyle/>
          <a:p>
            <a:pPr indent="0" marL="0">
              <a:buNone/>
            </a:pPr>
            <a:r>
              <a:rPr lang="en-US" sz="3000" b="1" dirty="0">
                <a:solidFill>
                  <a:schemeClr val="accent3"/>
                </a:solidFill>
              </a:rPr>
              <a:t>₹2,208</a:t>
            </a:r>
            <a:endParaRPr lang="en-US" sz="3000" dirty="0"/>
          </a:p>
        </p:txBody>
      </p:sp>
      <p:sp>
        <p:nvSpPr>
          <p:cNvPr id="15" name="stat-label"/>
          <p:cNvSpPr txBox="1"/>
          <p:nvPr/>
        </p:nvSpPr>
        <p:spPr>
          <a:xfrm>
            <a:off x="3630168" y="4279392"/>
            <a:ext cx="2331720" cy="566928"/>
          </a:xfrm>
          <a:prstGeom prst="rect">
            <a:avLst/>
          </a:prstGeom>
          <a:noFill/>
          <a:ln/>
        </p:spPr>
        <p:txBody>
          <a:bodyPr wrap="square" lIns="0" tIns="0" rIns="0" bIns="0" rtlCol="0" anchor="t"/>
          <a:lstStyle/>
          <a:p>
            <a:pPr indent="0" marL="0">
              <a:buNone/>
            </a:pPr>
            <a:r>
              <a:rPr lang="en-US" sz="1300" dirty="0">
                <a:solidFill>
                  <a:schemeClr val="tx2"/>
                </a:solidFill>
              </a:rPr>
              <a:t>electricity bill saved per m² in year 1, Navi Mumbai</a:t>
            </a:r>
            <a:endParaRPr lang="en-US" sz="1300" dirty="0"/>
          </a:p>
        </p:txBody>
      </p:sp>
      <p:graphicFrame>
        <p:nvGraphicFramePr>
          <p:cNvPr id="16" name="Chart 0" descr=""/>
          <p:cNvGraphicFramePr/>
          <p:nvPr/>
        </p:nvGraphicFramePr>
        <p:xfrm>
          <a:off x="6583680" y="1691640"/>
          <a:ext cx="5056632" cy="301752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583680" y="4846320"/>
            <a:ext cx="5056632" cy="1005840"/>
          </a:xfrm>
          <a:prstGeom prst="rect">
            <a:avLst/>
          </a:prstGeom>
          <a:noFill/>
          <a:ln/>
        </p:spPr>
        <p:txBody>
          <a:bodyPr wrap="square" lIns="0" tIns="0" rIns="0" bIns="0" rtlCol="0" anchor="t"/>
          <a:lstStyle/>
          <a:p>
            <a:pPr indent="0" marL="0">
              <a:buNone/>
            </a:pPr>
            <a:r>
              <a:rPr lang="en-US" sz="1300" b="1" dirty="0">
                <a:solidFill>
                  <a:schemeClr val="tx1"/>
                </a:solidFill>
              </a:rPr>
              <a:t>Why a walkway: </a:t>
            </a:r>
            <a:pPr indent="0" marL="0">
              <a:buNone/>
            </a:pPr>
            <a:r>
              <a:rPr lang="en-US" sz="1300" dirty="0">
                <a:solidFill>
                  <a:schemeClr val="tx1"/>
                </a:solidFill>
              </a:rPr>
              <a:t>no roof, land or mounting; a 50 m² pilot is about 8 kWp and 9,200 kWh a year. Across Reliance campuses and Jio-bp EV hubs (35,000 m², illustrative), about 5.6 MWp and ₹5.8 Cr a year.</a:t>
            </a:r>
            <a:endParaRPr lang="en-US" sz="1300" dirty="0"/>
          </a:p>
        </p:txBody>
      </p:sp>
      <p:sp>
        <p:nvSpPr>
          <p:cNvPr id="18" name="source"/>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Model sheet 'Solar Walkway'. PV layer ₹9,500/m² (GridMats pilot quote); yield 1,150-1,300 kWh/kWp for flat walk-on modules (assumption); 20-year life; paver walkway ₹1,100/m² avoided.</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Circular, low-carbon, water-wise</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Per 100 MW block over 25 years, base case.</a:t>
            </a:r>
            <a:endParaRPr lang="en-US" sz="1600" dirty="0"/>
          </a:p>
        </p:txBody>
      </p:sp>
      <p:sp>
        <p:nvSpPr>
          <p:cNvPr id="4" name="hex-FaRecycle"/>
          <p:cNvSpPr/>
          <p:nvPr/>
        </p:nvSpPr>
        <p:spPr>
          <a:xfrm>
            <a:off x="548640" y="1874520"/>
            <a:ext cx="658368" cy="579364"/>
          </a:xfrm>
          <a:prstGeom prst="hexagon">
            <a:avLst/>
          </a:prstGeom>
          <a:solidFill>
            <a:schemeClr val="accent2"/>
          </a:solidFill>
          <a:ln w="12700">
            <a:solidFill>
              <a:schemeClr val="accent2"/>
            </a:solidFill>
            <a:prstDash val="solid"/>
          </a:ln>
        </p:spPr>
      </p:sp>
      <p:pic>
        <p:nvPicPr>
          <p:cNvPr id="5" name="Image 0" descr="Recycle">    </p:cNvPr>
          <p:cNvPicPr>
            <a:picLocks noChangeAspect="1"/>
          </p:cNvPicPr>
          <p:nvPr/>
        </p:nvPicPr>
        <p:blipFill>
          <a:blip r:embed="rId1"/>
          <a:stretch>
            <a:fillRect/>
          </a:stretch>
        </p:blipFill>
        <p:spPr>
          <a:xfrm>
            <a:off x="726399" y="2012777"/>
            <a:ext cx="302849" cy="302849"/>
          </a:xfrm>
          <a:prstGeom prst="rect">
            <a:avLst/>
          </a:prstGeom>
        </p:spPr>
      </p:pic>
      <p:sp>
        <p:nvSpPr>
          <p:cNvPr id="6" name="Text 3"/>
          <p:cNvSpPr txBox="1"/>
          <p:nvPr/>
        </p:nvSpPr>
        <p:spPr>
          <a:xfrm>
            <a:off x="1371600" y="1783080"/>
            <a:ext cx="2743200" cy="502920"/>
          </a:xfrm>
          <a:prstGeom prst="rect">
            <a:avLst/>
          </a:prstGeom>
          <a:noFill/>
          <a:ln/>
        </p:spPr>
        <p:txBody>
          <a:bodyPr wrap="square" lIns="0" tIns="0" rIns="0" bIns="0" rtlCol="0" anchor="b"/>
          <a:lstStyle/>
          <a:p>
            <a:pPr indent="0" marL="0">
              <a:buNone/>
            </a:pPr>
            <a:r>
              <a:rPr lang="en-US" sz="2800" b="1" dirty="0">
                <a:solidFill>
                  <a:schemeClr val="tx1"/>
                </a:solidFill>
              </a:rPr>
              <a:t>327 t</a:t>
            </a:r>
            <a:endParaRPr lang="en-US" sz="2800" dirty="0"/>
          </a:p>
        </p:txBody>
      </p:sp>
      <p:sp>
        <p:nvSpPr>
          <p:cNvPr id="7" name="Text 4"/>
          <p:cNvSpPr txBox="1"/>
          <p:nvPr/>
        </p:nvSpPr>
        <p:spPr>
          <a:xfrm>
            <a:off x="1371600" y="2331720"/>
            <a:ext cx="2743200" cy="731520"/>
          </a:xfrm>
          <a:prstGeom prst="rect">
            <a:avLst/>
          </a:prstGeom>
          <a:noFill/>
          <a:ln/>
        </p:spPr>
        <p:txBody>
          <a:bodyPr wrap="square" lIns="0" tIns="0" rIns="0" bIns="0" rtlCol="0" anchor="t"/>
          <a:lstStyle/>
          <a:p>
            <a:pPr indent="0" marL="0">
              <a:buNone/>
            </a:pPr>
            <a:r>
              <a:rPr lang="en-US" sz="1300" dirty="0">
                <a:solidFill>
                  <a:schemeClr val="tx2"/>
                </a:solidFill>
              </a:rPr>
              <a:t>of post-consumer polypropylene turned into road</a:t>
            </a:r>
            <a:endParaRPr lang="en-US" sz="1300" dirty="0"/>
          </a:p>
        </p:txBody>
      </p:sp>
      <p:sp>
        <p:nvSpPr>
          <p:cNvPr id="8" name="hex-FaLeaf"/>
          <p:cNvSpPr/>
          <p:nvPr/>
        </p:nvSpPr>
        <p:spPr>
          <a:xfrm>
            <a:off x="4297680" y="1874520"/>
            <a:ext cx="658368" cy="579364"/>
          </a:xfrm>
          <a:prstGeom prst="hexagon">
            <a:avLst/>
          </a:prstGeom>
          <a:solidFill>
            <a:schemeClr val="accent2"/>
          </a:solidFill>
          <a:ln w="12700">
            <a:solidFill>
              <a:schemeClr val="accent2"/>
            </a:solidFill>
            <a:prstDash val="solid"/>
          </a:ln>
        </p:spPr>
      </p:sp>
      <p:pic>
        <p:nvPicPr>
          <p:cNvPr id="9" name="Image 1" descr="Leaf">    </p:cNvPr>
          <p:cNvPicPr>
            <a:picLocks noChangeAspect="1"/>
          </p:cNvPicPr>
          <p:nvPr/>
        </p:nvPicPr>
        <p:blipFill>
          <a:blip r:embed="rId2"/>
          <a:stretch>
            <a:fillRect/>
          </a:stretch>
        </p:blipFill>
        <p:spPr>
          <a:xfrm>
            <a:off x="4475439" y="2012777"/>
            <a:ext cx="302849" cy="302849"/>
          </a:xfrm>
          <a:prstGeom prst="rect">
            <a:avLst/>
          </a:prstGeom>
        </p:spPr>
      </p:pic>
      <p:sp>
        <p:nvSpPr>
          <p:cNvPr id="10" name="Text 6"/>
          <p:cNvSpPr txBox="1"/>
          <p:nvPr/>
        </p:nvSpPr>
        <p:spPr>
          <a:xfrm>
            <a:off x="5120640" y="1783080"/>
            <a:ext cx="2743200" cy="502920"/>
          </a:xfrm>
          <a:prstGeom prst="rect">
            <a:avLst/>
          </a:prstGeom>
          <a:noFill/>
          <a:ln/>
        </p:spPr>
        <p:txBody>
          <a:bodyPr wrap="square" lIns="0" tIns="0" rIns="0" bIns="0" rtlCol="0" anchor="b"/>
          <a:lstStyle/>
          <a:p>
            <a:pPr indent="0" marL="0">
              <a:buNone/>
            </a:pPr>
            <a:r>
              <a:rPr lang="en-US" sz="2800" b="1" dirty="0">
                <a:solidFill>
                  <a:schemeClr val="tx1"/>
                </a:solidFill>
              </a:rPr>
              <a:t>10,873 t</a:t>
            </a:r>
            <a:endParaRPr lang="en-US" sz="2800" dirty="0"/>
          </a:p>
        </p:txBody>
      </p:sp>
      <p:sp>
        <p:nvSpPr>
          <p:cNvPr id="11" name="Text 7"/>
          <p:cNvSpPr txBox="1"/>
          <p:nvPr/>
        </p:nvSpPr>
        <p:spPr>
          <a:xfrm>
            <a:off x="5120640" y="2331720"/>
            <a:ext cx="2743200" cy="731520"/>
          </a:xfrm>
          <a:prstGeom prst="rect">
            <a:avLst/>
          </a:prstGeom>
          <a:noFill/>
          <a:ln/>
        </p:spPr>
        <p:txBody>
          <a:bodyPr wrap="square" lIns="0" tIns="0" rIns="0" bIns="0" rtlCol="0" anchor="t"/>
          <a:lstStyle/>
          <a:p>
            <a:pPr indent="0" marL="0">
              <a:buNone/>
            </a:pPr>
            <a:r>
              <a:rPr lang="en-US" sz="1300" dirty="0">
                <a:solidFill>
                  <a:schemeClr val="tx2"/>
                </a:solidFill>
              </a:rPr>
              <a:t>CO2e avoided: plastic reuse, bitumen avoided, cleaner energy</a:t>
            </a:r>
            <a:endParaRPr lang="en-US" sz="1300" dirty="0"/>
          </a:p>
        </p:txBody>
      </p:sp>
      <p:sp>
        <p:nvSpPr>
          <p:cNvPr id="12" name="hex-FaBolt"/>
          <p:cNvSpPr/>
          <p:nvPr/>
        </p:nvSpPr>
        <p:spPr>
          <a:xfrm>
            <a:off x="8046720" y="1874520"/>
            <a:ext cx="658368" cy="579364"/>
          </a:xfrm>
          <a:prstGeom prst="hexagon">
            <a:avLst/>
          </a:prstGeom>
          <a:solidFill>
            <a:schemeClr val="accent2"/>
          </a:solidFill>
          <a:ln w="12700">
            <a:solidFill>
              <a:schemeClr val="accent2"/>
            </a:solidFill>
            <a:prstDash val="solid"/>
          </a:ln>
        </p:spPr>
      </p:sp>
      <p:pic>
        <p:nvPicPr>
          <p:cNvPr id="13" name="Image 2" descr="Bolt">    </p:cNvPr>
          <p:cNvPicPr>
            <a:picLocks noChangeAspect="1"/>
          </p:cNvPicPr>
          <p:nvPr/>
        </p:nvPicPr>
        <p:blipFill>
          <a:blip r:embed="rId3"/>
          <a:stretch>
            <a:fillRect/>
          </a:stretch>
        </p:blipFill>
        <p:spPr>
          <a:xfrm>
            <a:off x="8224479" y="2012777"/>
            <a:ext cx="302849" cy="302849"/>
          </a:xfrm>
          <a:prstGeom prst="rect">
            <a:avLst/>
          </a:prstGeom>
        </p:spPr>
      </p:pic>
      <p:sp>
        <p:nvSpPr>
          <p:cNvPr id="14" name="Text 9"/>
          <p:cNvSpPr txBox="1"/>
          <p:nvPr/>
        </p:nvSpPr>
        <p:spPr>
          <a:xfrm>
            <a:off x="8869680" y="1783080"/>
            <a:ext cx="2743200" cy="502920"/>
          </a:xfrm>
          <a:prstGeom prst="rect">
            <a:avLst/>
          </a:prstGeom>
          <a:noFill/>
          <a:ln/>
        </p:spPr>
        <p:txBody>
          <a:bodyPr wrap="square" lIns="0" tIns="0" rIns="0" bIns="0" rtlCol="0" anchor="b"/>
          <a:lstStyle/>
          <a:p>
            <a:pPr indent="0" marL="0">
              <a:buNone/>
            </a:pPr>
            <a:r>
              <a:rPr lang="en-US" sz="2800" b="1" dirty="0">
                <a:solidFill>
                  <a:schemeClr val="tx1"/>
                </a:solidFill>
              </a:rPr>
              <a:t>14,041 MWh</a:t>
            </a:r>
            <a:endParaRPr lang="en-US" sz="2800" dirty="0"/>
          </a:p>
        </p:txBody>
      </p:sp>
      <p:sp>
        <p:nvSpPr>
          <p:cNvPr id="15" name="Text 10"/>
          <p:cNvSpPr txBox="1"/>
          <p:nvPr/>
        </p:nvSpPr>
        <p:spPr>
          <a:xfrm>
            <a:off x="8869680" y="2331720"/>
            <a:ext cx="2743200" cy="731520"/>
          </a:xfrm>
          <a:prstGeom prst="rect">
            <a:avLst/>
          </a:prstGeom>
          <a:noFill/>
          <a:ln/>
        </p:spPr>
        <p:txBody>
          <a:bodyPr wrap="square" lIns="0" tIns="0" rIns="0" bIns="0" rtlCol="0" anchor="t"/>
          <a:lstStyle/>
          <a:p>
            <a:pPr indent="0" marL="0">
              <a:buNone/>
            </a:pPr>
            <a:r>
              <a:rPr lang="en-US" sz="1300" dirty="0">
                <a:solidFill>
                  <a:schemeClr val="tx2"/>
                </a:solidFill>
              </a:rPr>
              <a:t>of extra clean energy from cleaner modules</a:t>
            </a:r>
            <a:endParaRPr lang="en-US" sz="1300" dirty="0"/>
          </a:p>
        </p:txBody>
      </p:sp>
      <p:sp>
        <p:nvSpPr>
          <p:cNvPr id="16" name="hex-FaTint"/>
          <p:cNvSpPr/>
          <p:nvPr/>
        </p:nvSpPr>
        <p:spPr>
          <a:xfrm>
            <a:off x="548640" y="3474720"/>
            <a:ext cx="658368" cy="579364"/>
          </a:xfrm>
          <a:prstGeom prst="hexagon">
            <a:avLst/>
          </a:prstGeom>
          <a:solidFill>
            <a:schemeClr val="accent1"/>
          </a:solidFill>
          <a:ln w="12700">
            <a:solidFill>
              <a:schemeClr val="accent1"/>
            </a:solidFill>
            <a:prstDash val="solid"/>
          </a:ln>
        </p:spPr>
      </p:sp>
      <p:pic>
        <p:nvPicPr>
          <p:cNvPr id="17" name="Image 3" descr="Tint">    </p:cNvPr>
          <p:cNvPicPr>
            <a:picLocks noChangeAspect="1"/>
          </p:cNvPicPr>
          <p:nvPr/>
        </p:nvPicPr>
        <p:blipFill>
          <a:blip r:embed="rId4"/>
          <a:stretch>
            <a:fillRect/>
          </a:stretch>
        </p:blipFill>
        <p:spPr>
          <a:xfrm>
            <a:off x="726399" y="3612977"/>
            <a:ext cx="302849" cy="302849"/>
          </a:xfrm>
          <a:prstGeom prst="rect">
            <a:avLst/>
          </a:prstGeom>
        </p:spPr>
      </p:pic>
      <p:sp>
        <p:nvSpPr>
          <p:cNvPr id="18" name="Text 12"/>
          <p:cNvSpPr txBox="1"/>
          <p:nvPr/>
        </p:nvSpPr>
        <p:spPr>
          <a:xfrm>
            <a:off x="1371600" y="3383280"/>
            <a:ext cx="2743200" cy="502920"/>
          </a:xfrm>
          <a:prstGeom prst="rect">
            <a:avLst/>
          </a:prstGeom>
          <a:noFill/>
          <a:ln/>
        </p:spPr>
        <p:txBody>
          <a:bodyPr wrap="square" lIns="0" tIns="0" rIns="0" bIns="0" rtlCol="0" anchor="b"/>
          <a:lstStyle/>
          <a:p>
            <a:pPr indent="0" marL="0">
              <a:buNone/>
            </a:pPr>
            <a:r>
              <a:rPr lang="en-US" sz="2800" b="1" dirty="0">
                <a:solidFill>
                  <a:schemeClr val="tx1"/>
                </a:solidFill>
              </a:rPr>
              <a:t>8,820 kL</a:t>
            </a:r>
            <a:endParaRPr lang="en-US" sz="2800" dirty="0"/>
          </a:p>
        </p:txBody>
      </p:sp>
      <p:sp>
        <p:nvSpPr>
          <p:cNvPr id="19" name="Text 13"/>
          <p:cNvSpPr txBox="1"/>
          <p:nvPr/>
        </p:nvSpPr>
        <p:spPr>
          <a:xfrm>
            <a:off x="1371600" y="3931920"/>
            <a:ext cx="2743200" cy="731520"/>
          </a:xfrm>
          <a:prstGeom prst="rect">
            <a:avLst/>
          </a:prstGeom>
          <a:noFill/>
          <a:ln/>
        </p:spPr>
        <p:txBody>
          <a:bodyPr wrap="square" lIns="0" tIns="0" rIns="0" bIns="0" rtlCol="0" anchor="t"/>
          <a:lstStyle/>
          <a:p>
            <a:pPr indent="0" marL="0">
              <a:buNone/>
            </a:pPr>
            <a:r>
              <a:rPr lang="en-US" sz="1300" dirty="0">
                <a:solidFill>
                  <a:schemeClr val="tx2"/>
                </a:solidFill>
              </a:rPr>
              <a:t>of dust-suppression water avoided in the build years</a:t>
            </a:r>
            <a:endParaRPr lang="en-US" sz="1300" dirty="0"/>
          </a:p>
        </p:txBody>
      </p:sp>
      <p:sp>
        <p:nvSpPr>
          <p:cNvPr id="20" name="hex-FaCloudRain"/>
          <p:cNvSpPr/>
          <p:nvPr/>
        </p:nvSpPr>
        <p:spPr>
          <a:xfrm>
            <a:off x="4297680" y="3474720"/>
            <a:ext cx="658368" cy="579364"/>
          </a:xfrm>
          <a:prstGeom prst="hexagon">
            <a:avLst/>
          </a:prstGeom>
          <a:solidFill>
            <a:schemeClr val="accent1"/>
          </a:solidFill>
          <a:ln w="12700">
            <a:solidFill>
              <a:schemeClr val="accent1"/>
            </a:solidFill>
            <a:prstDash val="solid"/>
          </a:ln>
        </p:spPr>
      </p:sp>
      <p:pic>
        <p:nvPicPr>
          <p:cNvPr id="21" name="Image 4" descr="CloudRain">    </p:cNvPr>
          <p:cNvPicPr>
            <a:picLocks noChangeAspect="1"/>
          </p:cNvPicPr>
          <p:nvPr/>
        </p:nvPicPr>
        <p:blipFill>
          <a:blip r:embed="rId5"/>
          <a:stretch>
            <a:fillRect/>
          </a:stretch>
        </p:blipFill>
        <p:spPr>
          <a:xfrm>
            <a:off x="4475439" y="3612977"/>
            <a:ext cx="302849" cy="302849"/>
          </a:xfrm>
          <a:prstGeom prst="rect">
            <a:avLst/>
          </a:prstGeom>
        </p:spPr>
      </p:pic>
      <p:sp>
        <p:nvSpPr>
          <p:cNvPr id="22" name="Text 15"/>
          <p:cNvSpPr txBox="1"/>
          <p:nvPr/>
        </p:nvSpPr>
        <p:spPr>
          <a:xfrm>
            <a:off x="5120640" y="3383280"/>
            <a:ext cx="2743200" cy="502920"/>
          </a:xfrm>
          <a:prstGeom prst="rect">
            <a:avLst/>
          </a:prstGeom>
          <a:noFill/>
          <a:ln/>
        </p:spPr>
        <p:txBody>
          <a:bodyPr wrap="square" lIns="0" tIns="0" rIns="0" bIns="0" rtlCol="0" anchor="b"/>
          <a:lstStyle/>
          <a:p>
            <a:pPr indent="0" marL="0">
              <a:buNone/>
            </a:pPr>
            <a:r>
              <a:rPr lang="en-US" sz="2800" b="1" dirty="0">
                <a:solidFill>
                  <a:schemeClr val="tx1"/>
                </a:solidFill>
              </a:rPr>
              <a:t>11,340 m³</a:t>
            </a:r>
            <a:endParaRPr lang="en-US" sz="2800" dirty="0"/>
          </a:p>
        </p:txBody>
      </p:sp>
      <p:sp>
        <p:nvSpPr>
          <p:cNvPr id="23" name="Text 16"/>
          <p:cNvSpPr txBox="1"/>
          <p:nvPr/>
        </p:nvSpPr>
        <p:spPr>
          <a:xfrm>
            <a:off x="5120640" y="3931920"/>
            <a:ext cx="2743200" cy="731520"/>
          </a:xfrm>
          <a:prstGeom prst="rect">
            <a:avLst/>
          </a:prstGeom>
          <a:noFill/>
          <a:ln/>
        </p:spPr>
        <p:txBody>
          <a:bodyPr wrap="square" lIns="0" tIns="0" rIns="0" bIns="0" rtlCol="0" anchor="t"/>
          <a:lstStyle/>
          <a:p>
            <a:pPr indent="0" marL="0">
              <a:buNone/>
            </a:pPr>
            <a:r>
              <a:rPr lang="en-US" sz="1300" dirty="0">
                <a:solidFill>
                  <a:schemeClr val="tx2"/>
                </a:solidFill>
              </a:rPr>
              <a:t>of rain returned to the ground every year on S2 tracks</a:t>
            </a:r>
            <a:endParaRPr lang="en-US" sz="1300" dirty="0"/>
          </a:p>
        </p:txBody>
      </p:sp>
      <p:sp>
        <p:nvSpPr>
          <p:cNvPr id="24" name="hex-FaIndustry"/>
          <p:cNvSpPr/>
          <p:nvPr/>
        </p:nvSpPr>
        <p:spPr>
          <a:xfrm>
            <a:off x="8046720" y="3474720"/>
            <a:ext cx="658368" cy="579364"/>
          </a:xfrm>
          <a:prstGeom prst="hexagon">
            <a:avLst/>
          </a:prstGeom>
          <a:solidFill>
            <a:schemeClr val="accent1"/>
          </a:solidFill>
          <a:ln w="12700">
            <a:solidFill>
              <a:schemeClr val="accent1"/>
            </a:solidFill>
            <a:prstDash val="solid"/>
          </a:ln>
        </p:spPr>
      </p:sp>
      <p:pic>
        <p:nvPicPr>
          <p:cNvPr id="25" name="Image 5" descr="Industry">    </p:cNvPr>
          <p:cNvPicPr>
            <a:picLocks noChangeAspect="1"/>
          </p:cNvPicPr>
          <p:nvPr/>
        </p:nvPicPr>
        <p:blipFill>
          <a:blip r:embed="rId6"/>
          <a:stretch>
            <a:fillRect/>
          </a:stretch>
        </p:blipFill>
        <p:spPr>
          <a:xfrm>
            <a:off x="8224479" y="3612977"/>
            <a:ext cx="302849" cy="302849"/>
          </a:xfrm>
          <a:prstGeom prst="rect">
            <a:avLst/>
          </a:prstGeom>
        </p:spPr>
      </p:pic>
      <p:sp>
        <p:nvSpPr>
          <p:cNvPr id="26" name="Text 18"/>
          <p:cNvSpPr txBox="1"/>
          <p:nvPr/>
        </p:nvSpPr>
        <p:spPr>
          <a:xfrm>
            <a:off x="8869680" y="3383280"/>
            <a:ext cx="2743200" cy="502920"/>
          </a:xfrm>
          <a:prstGeom prst="rect">
            <a:avLst/>
          </a:prstGeom>
          <a:noFill/>
          <a:ln/>
        </p:spPr>
        <p:txBody>
          <a:bodyPr wrap="square" lIns="0" tIns="0" rIns="0" bIns="0" rtlCol="0" anchor="b"/>
          <a:lstStyle/>
          <a:p>
            <a:pPr indent="0" marL="0">
              <a:buNone/>
            </a:pPr>
            <a:r>
              <a:rPr lang="en-US" sz="2800" b="1" dirty="0">
                <a:solidFill>
                  <a:schemeClr val="tx1"/>
                </a:solidFill>
              </a:rPr>
              <a:t>1,553 t</a:t>
            </a:r>
            <a:endParaRPr lang="en-US" sz="2800" dirty="0"/>
          </a:p>
        </p:txBody>
      </p:sp>
      <p:sp>
        <p:nvSpPr>
          <p:cNvPr id="27" name="Text 19"/>
          <p:cNvSpPr txBox="1"/>
          <p:nvPr/>
        </p:nvSpPr>
        <p:spPr>
          <a:xfrm>
            <a:off x="8869680" y="3931920"/>
            <a:ext cx="2743200" cy="731520"/>
          </a:xfrm>
          <a:prstGeom prst="rect">
            <a:avLst/>
          </a:prstGeom>
          <a:noFill/>
          <a:ln/>
        </p:spPr>
        <p:txBody>
          <a:bodyPr wrap="square" lIns="0" tIns="0" rIns="0" bIns="0" rtlCol="0" anchor="t"/>
          <a:lstStyle/>
          <a:p>
            <a:pPr indent="0" marL="0">
              <a:buNone/>
            </a:pPr>
            <a:r>
              <a:rPr lang="en-US" sz="1300" dirty="0">
                <a:solidFill>
                  <a:schemeClr val="tx2"/>
                </a:solidFill>
              </a:rPr>
              <a:t>of cement avoided if main roads would otherwise be concrete</a:t>
            </a:r>
            <a:endParaRPr lang="en-US" sz="1300" dirty="0"/>
          </a:p>
        </p:txBody>
      </p:sp>
      <p:sp>
        <p:nvSpPr>
          <p:cNvPr id="28" name="circ-card"/>
          <p:cNvSpPr/>
          <p:nvPr/>
        </p:nvSpPr>
        <p:spPr>
          <a:xfrm>
            <a:off x="548640" y="5074920"/>
            <a:ext cx="11094415" cy="822960"/>
          </a:xfrm>
          <a:prstGeom prst="roundRect">
            <a:avLst>
              <a:gd name="adj" fmla="val 8889"/>
            </a:avLst>
          </a:prstGeom>
          <a:solidFill>
            <a:schemeClr val="accent5"/>
          </a:solidFill>
          <a:ln w="12700">
            <a:solidFill>
              <a:schemeClr val="accent5"/>
            </a:solidFill>
            <a:prstDash val="solid"/>
          </a:ln>
        </p:spPr>
      </p:sp>
      <p:sp>
        <p:nvSpPr>
          <p:cNvPr id="29" name="Text 21"/>
          <p:cNvSpPr txBox="1"/>
          <p:nvPr/>
        </p:nvSpPr>
        <p:spPr>
          <a:xfrm>
            <a:off x="822960" y="5166360"/>
            <a:ext cx="10545775" cy="640080"/>
          </a:xfrm>
          <a:prstGeom prst="rect">
            <a:avLst/>
          </a:prstGeom>
          <a:noFill/>
          <a:ln/>
        </p:spPr>
        <p:txBody>
          <a:bodyPr wrap="square" lIns="0" tIns="0" rIns="0" bIns="0" rtlCol="0" anchor="ctr"/>
          <a:lstStyle/>
          <a:p>
            <a:pPr indent="0" marL="0">
              <a:buNone/>
            </a:pPr>
            <a:r>
              <a:rPr lang="en-US" sz="1400" b="1" dirty="0">
                <a:solidFill>
                  <a:schemeClr val="accent1"/>
                </a:solidFill>
              </a:rPr>
              <a:t>Fits Reliance's circularity story: </a:t>
            </a:r>
            <a:pPr indent="0" marL="0">
              <a:buNone/>
            </a:pPr>
            <a:r>
              <a:rPr lang="en-US" sz="1400" dirty="0">
                <a:solidFill>
                  <a:schemeClr val="tx1"/>
                </a:solidFill>
              </a:rPr>
              <a:t>GridMats complements ReRoute. ReRoute puts plastic into bituminous roads; GridMats goes where a road must be permeable, cement-free or open the same day.</a:t>
            </a:r>
            <a:endParaRPr lang="en-US" sz="1400" dirty="0"/>
          </a:p>
        </p:txBody>
      </p:sp>
      <p:sp>
        <p:nvSpPr>
          <p:cNvPr id="30" name="source"/>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Model sheet 'Sustainability'. Factors: recycled PP 1.2 kg CO2e/kg; cement 0.65 t/t; bitumen 0.55 t/t; CEA grid factor 0.710 t/MWh; Kutch rainfall 400 mm.</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At Kutch scale, it adds up</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Base-case results scaled from one 100 MW block. Kutch's planned output implies roughly 18-20 GW of solar.</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498080" cy="914400"/>
        </p:xfrm>
        <a:graphic>
          <a:graphicData uri="http://schemas.openxmlformats.org/drawingml/2006/table">
            <a:tbl>
              <a:tblPr/>
              <a:tblGrid>
                <a:gridCol w="3108960"/>
                <a:gridCol w="1097280"/>
                <a:gridCol w="1097280"/>
                <a:gridCol w="1097280"/>
                <a:gridCol w="1097280"/>
              </a:tblGrid>
              <a:tr h="457200">
                <a:tc>
                  <a:txBody>
                    <a:bodyPr/>
                    <a:lstStyle/>
                    <a:p>
                      <a:pPr algn="l" indent="0" marL="0">
                        <a:buNone/>
                      </a:pP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3F3F3F"/>
                    </a:solidFill>
                  </a:tcPr>
                </a:tc>
                <a:tc>
                  <a:txBody>
                    <a:bodyPr/>
                    <a:lstStyle/>
                    <a:p>
                      <a:pPr algn="r" indent="0" marL="0">
                        <a:buNone/>
                      </a:pPr>
                      <a:r>
                        <a:rPr lang="en-US" sz="1400" b="1" dirty="0">
                          <a:solidFill>
                            <a:srgbClr val="FFFFFF"/>
                          </a:solidFill>
                          <a:latin typeface="Arial" pitchFamily="34" charset="0"/>
                          <a:ea typeface="Arial" pitchFamily="34" charset="-122"/>
                          <a:cs typeface="Arial" pitchFamily="34" charset="-120"/>
                        </a:rPr>
                        <a:t>100 MW</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C22935"/>
                    </a:solidFill>
                  </a:tcPr>
                </a:tc>
                <a:tc>
                  <a:txBody>
                    <a:bodyPr/>
                    <a:lstStyle/>
                    <a:p>
                      <a:pPr algn="r" indent="0" marL="0">
                        <a:buNone/>
                      </a:pPr>
                      <a:r>
                        <a:rPr lang="en-US" sz="1400" b="1" dirty="0">
                          <a:solidFill>
                            <a:srgbClr val="FFFFFF"/>
                          </a:solidFill>
                          <a:latin typeface="Arial" pitchFamily="34" charset="0"/>
                          <a:ea typeface="Arial" pitchFamily="34" charset="-122"/>
                          <a:cs typeface="Arial" pitchFamily="34" charset="-120"/>
                        </a:rPr>
                        <a:t>1 GW</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C22935"/>
                    </a:solidFill>
                  </a:tcPr>
                </a:tc>
                <a:tc>
                  <a:txBody>
                    <a:bodyPr/>
                    <a:lstStyle/>
                    <a:p>
                      <a:pPr algn="r" indent="0" marL="0">
                        <a:buNone/>
                      </a:pPr>
                      <a:r>
                        <a:rPr lang="en-US" sz="1400" b="1" dirty="0">
                          <a:solidFill>
                            <a:srgbClr val="FFFFFF"/>
                          </a:solidFill>
                          <a:latin typeface="Arial" pitchFamily="34" charset="0"/>
                          <a:ea typeface="Arial" pitchFamily="34" charset="-122"/>
                          <a:cs typeface="Arial" pitchFamily="34" charset="-120"/>
                        </a:rPr>
                        <a:t>5 GW</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C22935"/>
                    </a:solidFill>
                  </a:tcPr>
                </a:tc>
                <a:tc>
                  <a:txBody>
                    <a:bodyPr/>
                    <a:lstStyle/>
                    <a:p>
                      <a:pPr algn="r" indent="0" marL="0">
                        <a:buNone/>
                      </a:pPr>
                      <a:r>
                        <a:rPr lang="en-US" sz="1400" b="1" dirty="0">
                          <a:solidFill>
                            <a:srgbClr val="FFFFFF"/>
                          </a:solidFill>
                          <a:latin typeface="Arial" pitchFamily="34" charset="0"/>
                          <a:ea typeface="Arial" pitchFamily="34" charset="-122"/>
                          <a:cs typeface="Arial" pitchFamily="34" charset="-120"/>
                        </a:rPr>
                        <a:t>20 GW</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C22935"/>
                    </a:solidFill>
                  </a:tcPr>
                </a:tc>
              </a:tr>
              <a:tr h="457200">
                <a:tc>
                  <a:txBody>
                    <a:bodyPr/>
                    <a:lstStyle/>
                    <a:p>
                      <a:pPr indent="0" marL="0">
                        <a:buNone/>
                      </a:pPr>
                      <a:r>
                        <a:rPr lang="en-US" sz="1400" dirty="0">
                          <a:solidFill>
                            <a:srgbClr val="1A1A1A"/>
                          </a:solidFill>
                          <a:latin typeface="Arial" pitchFamily="34" charset="0"/>
                          <a:ea typeface="Arial" pitchFamily="34" charset="-122"/>
                          <a:cs typeface="Arial" pitchFamily="34" charset="-120"/>
                        </a:rPr>
                        <a:t>Internal road (km)</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500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2,000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Arial" pitchFamily="34" charset="0"/>
                          <a:ea typeface="Arial" pitchFamily="34" charset="-122"/>
                          <a:cs typeface="Arial" pitchFamily="34" charset="-120"/>
                        </a:rPr>
                        <a:t>GridMats area (lakh m²)</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0.5</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5.0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24.8</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99.0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Arial" pitchFamily="34" charset="0"/>
                          <a:ea typeface="Arial" pitchFamily="34" charset="-122"/>
                          <a:cs typeface="Arial" pitchFamily="34" charset="-120"/>
                        </a:rPr>
                        <a:t>Up-front premium (₹ Cr)</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3.5</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34.6</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173.0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691.9</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A1A1A"/>
                          </a:solidFill>
                          <a:latin typeface="Arial" pitchFamily="34" charset="0"/>
                          <a:ea typeface="Arial" pitchFamily="34" charset="-122"/>
                          <a:cs typeface="Arial" pitchFamily="34" charset="-120"/>
                        </a:rPr>
                        <a:t>NPV to Reliance, 25 years (₹ Cr)</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7A3A"/>
                          </a:solidFill>
                          <a:latin typeface="Arial" pitchFamily="34" charset="0"/>
                          <a:ea typeface="Arial" pitchFamily="34" charset="-122"/>
                          <a:cs typeface="Arial" pitchFamily="34" charset="-120"/>
                        </a:rPr>
                        <a:t>4.1</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7A3A"/>
                          </a:solidFill>
                          <a:latin typeface="Arial" pitchFamily="34" charset="0"/>
                          <a:ea typeface="Arial" pitchFamily="34" charset="-122"/>
                          <a:cs typeface="Arial" pitchFamily="34" charset="-120"/>
                        </a:rPr>
                        <a:t>40.9</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7A3A"/>
                          </a:solidFill>
                          <a:latin typeface="Arial" pitchFamily="34" charset="0"/>
                          <a:ea typeface="Arial" pitchFamily="34" charset="-122"/>
                          <a:cs typeface="Arial" pitchFamily="34" charset="-120"/>
                        </a:rPr>
                        <a:t>204.7</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7A3A"/>
                          </a:solidFill>
                          <a:latin typeface="Arial" pitchFamily="34" charset="0"/>
                          <a:ea typeface="Arial" pitchFamily="34" charset="-122"/>
                          <a:cs typeface="Arial" pitchFamily="34" charset="-120"/>
                        </a:rPr>
                        <a:t>819.0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Arial" pitchFamily="34" charset="0"/>
                          <a:ea typeface="Arial" pitchFamily="34" charset="-122"/>
                          <a:cs typeface="Arial" pitchFamily="34" charset="-120"/>
                        </a:rPr>
                        <a:t>Road upkeep avoided, undiscounted (₹ Cr)</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19</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193</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967</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3,869</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Arial" pitchFamily="34" charset="0"/>
                          <a:ea typeface="Arial" pitchFamily="34" charset="-122"/>
                          <a:cs typeface="Arial" pitchFamily="34" charset="-120"/>
                        </a:rPr>
                        <a:t>Recycled PP put to use (t)</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327</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3,267</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16,335</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65,340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A1A1A"/>
                          </a:solidFill>
                          <a:latin typeface="Arial" pitchFamily="34" charset="0"/>
                          <a:ea typeface="Arial" pitchFamily="34" charset="-122"/>
                          <a:cs typeface="Arial" pitchFamily="34" charset="-120"/>
                        </a:rPr>
                        <a:t>CO2e avoided, 25 years (t)</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10,900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1,08,700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5,43,700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Arial" pitchFamily="34" charset="0"/>
                          <a:ea typeface="Arial" pitchFamily="34" charset="-122"/>
                          <a:cs typeface="Arial" pitchFamily="34" charset="-120"/>
                        </a:rPr>
                        <a:t>21,74,600</a:t>
                      </a:r>
                      <a:endParaRPr lang="en-US" sz="14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r>
            </a:tbl>
          </a:graphicData>
        </a:graphic>
      </p:graphicFrame>
      <p:sp>
        <p:nvSpPr>
          <p:cNvPr id="5" name="scale-card"/>
          <p:cNvSpPr/>
          <p:nvPr/>
        </p:nvSpPr>
        <p:spPr>
          <a:xfrm>
            <a:off x="8366760" y="1737360"/>
            <a:ext cx="3273552" cy="3200400"/>
          </a:xfrm>
          <a:prstGeom prst="roundRect">
            <a:avLst>
              <a:gd name="adj" fmla="val 2286"/>
            </a:avLst>
          </a:prstGeom>
          <a:solidFill>
            <a:schemeClr val="bg2"/>
          </a:solidFill>
          <a:ln w="12700">
            <a:solidFill>
              <a:schemeClr val="bg2"/>
            </a:solidFill>
            <a:prstDash val="solid"/>
          </a:ln>
        </p:spPr>
      </p:sp>
      <p:sp>
        <p:nvSpPr>
          <p:cNvPr id="6" name="stat-value"/>
          <p:cNvSpPr txBox="1"/>
          <p:nvPr/>
        </p:nvSpPr>
        <p:spPr>
          <a:xfrm>
            <a:off x="8595360" y="1920240"/>
            <a:ext cx="2834640" cy="518160"/>
          </a:xfrm>
          <a:prstGeom prst="rect">
            <a:avLst/>
          </a:prstGeom>
          <a:noFill/>
          <a:ln/>
        </p:spPr>
        <p:txBody>
          <a:bodyPr wrap="square" lIns="0" tIns="0" rIns="0" bIns="0" rtlCol="0" anchor="b"/>
          <a:lstStyle/>
          <a:p>
            <a:pPr indent="0" marL="0">
              <a:buNone/>
            </a:pPr>
            <a:r>
              <a:rPr lang="en-US" sz="3400" b="1" dirty="0">
                <a:solidFill>
                  <a:schemeClr val="accent2"/>
                </a:solidFill>
              </a:rPr>
              <a:t>₹41 Cr</a:t>
            </a:r>
            <a:endParaRPr lang="en-US" sz="3400" dirty="0"/>
          </a:p>
        </p:txBody>
      </p:sp>
      <p:sp>
        <p:nvSpPr>
          <p:cNvPr id="7" name="stat-label"/>
          <p:cNvSpPr txBox="1"/>
          <p:nvPr/>
        </p:nvSpPr>
        <p:spPr>
          <a:xfrm>
            <a:off x="8595360" y="2484120"/>
            <a:ext cx="2834640" cy="566928"/>
          </a:xfrm>
          <a:prstGeom prst="rect">
            <a:avLst/>
          </a:prstGeom>
          <a:noFill/>
          <a:ln/>
        </p:spPr>
        <p:txBody>
          <a:bodyPr wrap="square" lIns="0" tIns="0" rIns="0" bIns="0" rtlCol="0" anchor="t"/>
          <a:lstStyle/>
          <a:p>
            <a:pPr indent="0" marL="0">
              <a:buNone/>
            </a:pPr>
            <a:r>
              <a:rPr lang="en-US" sz="1300" dirty="0">
                <a:solidFill>
                  <a:schemeClr val="tx2"/>
                </a:solidFill>
              </a:rPr>
              <a:t>NPV for every GW built with GridMats roads</a:t>
            </a:r>
            <a:endParaRPr lang="en-US" sz="1300" dirty="0"/>
          </a:p>
        </p:txBody>
      </p:sp>
      <p:sp>
        <p:nvSpPr>
          <p:cNvPr id="8" name="stat-value"/>
          <p:cNvSpPr txBox="1"/>
          <p:nvPr/>
        </p:nvSpPr>
        <p:spPr>
          <a:xfrm>
            <a:off x="8595360" y="3246120"/>
            <a:ext cx="2834640" cy="457200"/>
          </a:xfrm>
          <a:prstGeom prst="rect">
            <a:avLst/>
          </a:prstGeom>
          <a:noFill/>
          <a:ln/>
        </p:spPr>
        <p:txBody>
          <a:bodyPr wrap="square" lIns="0" tIns="0" rIns="0" bIns="0" rtlCol="0" anchor="b"/>
          <a:lstStyle/>
          <a:p>
            <a:pPr indent="0" marL="0">
              <a:buNone/>
            </a:pPr>
            <a:r>
              <a:rPr lang="en-US" sz="3000" b="1" dirty="0">
                <a:solidFill>
                  <a:schemeClr val="accent1"/>
                </a:solidFill>
              </a:rPr>
              <a:t>3,267 t</a:t>
            </a:r>
            <a:endParaRPr lang="en-US" sz="3000" dirty="0"/>
          </a:p>
        </p:txBody>
      </p:sp>
      <p:sp>
        <p:nvSpPr>
          <p:cNvPr id="9" name="stat-label"/>
          <p:cNvSpPr txBox="1"/>
          <p:nvPr/>
        </p:nvSpPr>
        <p:spPr>
          <a:xfrm>
            <a:off x="8595360" y="3749040"/>
            <a:ext cx="2834640" cy="566928"/>
          </a:xfrm>
          <a:prstGeom prst="rect">
            <a:avLst/>
          </a:prstGeom>
          <a:noFill/>
          <a:ln/>
        </p:spPr>
        <p:txBody>
          <a:bodyPr wrap="square" lIns="0" tIns="0" rIns="0" bIns="0" rtlCol="0" anchor="t"/>
          <a:lstStyle/>
          <a:p>
            <a:pPr indent="0" marL="0">
              <a:buNone/>
            </a:pPr>
            <a:r>
              <a:rPr lang="en-US" sz="1300" dirty="0">
                <a:solidFill>
                  <a:schemeClr val="tx2"/>
                </a:solidFill>
              </a:rPr>
              <a:t>of recycled PP per GW: a real outlet for post-consumer polypropylene</a:t>
            </a:r>
            <a:endParaRPr lang="en-US" sz="1300" dirty="0"/>
          </a:p>
        </p:txBody>
      </p:sp>
      <p:sp>
        <p:nvSpPr>
          <p:cNvPr id="10" name="source"/>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Model sheet 'Scale-up'. Indicative: linear scaling of one block; supply would run on a 12-month park rate contract.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The pilot: 1 km of road + 50 m² of solar</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Built this dry season in a Kutch block, measured through the 2027 monsoon, decided on Reliance's own data.</a:t>
            </a:r>
            <a:endParaRPr lang="en-US" sz="1600" dirty="0"/>
          </a:p>
        </p:txBody>
      </p:sp>
      <p:sp>
        <p:nvSpPr>
          <p:cNvPr id="4" name="hex-FaRoad"/>
          <p:cNvSpPr/>
          <p:nvPr/>
        </p:nvSpPr>
        <p:spPr>
          <a:xfrm>
            <a:off x="548640" y="1737360"/>
            <a:ext cx="566928" cy="498897"/>
          </a:xfrm>
          <a:prstGeom prst="hexagon">
            <a:avLst/>
          </a:prstGeom>
          <a:solidFill>
            <a:schemeClr val="accent1"/>
          </a:solidFill>
          <a:ln w="12700">
            <a:solidFill>
              <a:schemeClr val="accent1"/>
            </a:solidFill>
            <a:prstDash val="solid"/>
          </a:ln>
        </p:spPr>
      </p:sp>
      <p:pic>
        <p:nvPicPr>
          <p:cNvPr id="5" name="Image 0" descr="Road">    </p:cNvPr>
          <p:cNvPicPr>
            <a:picLocks noChangeAspect="1"/>
          </p:cNvPicPr>
          <p:nvPr/>
        </p:nvPicPr>
        <p:blipFill>
          <a:blip r:embed="rId1"/>
          <a:stretch>
            <a:fillRect/>
          </a:stretch>
        </p:blipFill>
        <p:spPr>
          <a:xfrm>
            <a:off x="701711" y="1856415"/>
            <a:ext cx="260787" cy="260787"/>
          </a:xfrm>
          <a:prstGeom prst="rect">
            <a:avLst/>
          </a:prstGeom>
        </p:spPr>
      </p:pic>
      <p:sp>
        <p:nvSpPr>
          <p:cNvPr id="6" name="Text 3"/>
          <p:cNvSpPr txBox="1"/>
          <p:nvPr/>
        </p:nvSpPr>
        <p:spPr>
          <a:xfrm>
            <a:off x="1298448" y="1709928"/>
            <a:ext cx="4480560" cy="310896"/>
          </a:xfrm>
          <a:prstGeom prst="rect">
            <a:avLst/>
          </a:prstGeom>
          <a:noFill/>
          <a:ln/>
        </p:spPr>
        <p:txBody>
          <a:bodyPr wrap="square" lIns="0" tIns="0" rIns="0" bIns="0" rtlCol="0" anchor="t"/>
          <a:lstStyle/>
          <a:p>
            <a:pPr indent="0" marL="0">
              <a:buNone/>
            </a:pPr>
            <a:r>
              <a:rPr lang="en-US" sz="1500" b="1" dirty="0">
                <a:solidFill>
                  <a:schemeClr val="tx1"/>
                </a:solidFill>
              </a:rPr>
              <a:t>A  Solar-park road, 1 km</a:t>
            </a:r>
            <a:endParaRPr lang="en-US" sz="1500" dirty="0"/>
          </a:p>
        </p:txBody>
      </p:sp>
      <p:sp>
        <p:nvSpPr>
          <p:cNvPr id="7" name="Text 4"/>
          <p:cNvSpPr txBox="1"/>
          <p:nvPr/>
        </p:nvSpPr>
        <p:spPr>
          <a:xfrm>
            <a:off x="1298448" y="2048256"/>
            <a:ext cx="4480560" cy="960120"/>
          </a:xfrm>
          <a:prstGeom prst="rect">
            <a:avLst/>
          </a:prstGeom>
          <a:noFill/>
          <a:ln/>
        </p:spPr>
        <p:txBody>
          <a:bodyPr wrap="square" lIns="0" tIns="0" rIns="0" bIns="0" rtlCol="0" anchor="t"/>
          <a:lstStyle/>
          <a:p>
            <a:pPr indent="0" marL="0">
              <a:buNone/>
            </a:pPr>
            <a:r>
              <a:rPr lang="en-US" sz="1300" dirty="0">
                <a:solidFill>
                  <a:schemeClr val="tx2"/>
                </a:solidFill>
              </a:rPr>
              <a:t>0.4 km × 6 m main road in S1 and 0.6 km × 4.5 m O&amp;M track in S2 (5,100 m²), beside WBM and bituminous control sections built by Reliance's EPC.</a:t>
            </a:r>
            <a:endParaRPr lang="en-US" sz="1300" dirty="0"/>
          </a:p>
        </p:txBody>
      </p:sp>
      <p:sp>
        <p:nvSpPr>
          <p:cNvPr id="8" name="hex-FaSolarPanel"/>
          <p:cNvSpPr/>
          <p:nvPr/>
        </p:nvSpPr>
        <p:spPr>
          <a:xfrm>
            <a:off x="548640" y="3108960"/>
            <a:ext cx="566928" cy="498897"/>
          </a:xfrm>
          <a:prstGeom prst="hexagon">
            <a:avLst/>
          </a:prstGeom>
          <a:solidFill>
            <a:schemeClr val="accent3"/>
          </a:solidFill>
          <a:ln w="12700">
            <a:solidFill>
              <a:schemeClr val="accent3"/>
            </a:solidFill>
            <a:prstDash val="solid"/>
          </a:ln>
        </p:spPr>
      </p:sp>
      <p:pic>
        <p:nvPicPr>
          <p:cNvPr id="9" name="Image 1" descr="SolarPanel">    </p:cNvPr>
          <p:cNvPicPr>
            <a:picLocks noChangeAspect="1"/>
          </p:cNvPicPr>
          <p:nvPr/>
        </p:nvPicPr>
        <p:blipFill>
          <a:blip r:embed="rId2"/>
          <a:stretch>
            <a:fillRect/>
          </a:stretch>
        </p:blipFill>
        <p:spPr>
          <a:xfrm>
            <a:off x="701711" y="3228015"/>
            <a:ext cx="260787" cy="260787"/>
          </a:xfrm>
          <a:prstGeom prst="rect">
            <a:avLst/>
          </a:prstGeom>
        </p:spPr>
      </p:pic>
      <p:sp>
        <p:nvSpPr>
          <p:cNvPr id="10" name="Text 6"/>
          <p:cNvSpPr txBox="1"/>
          <p:nvPr/>
        </p:nvSpPr>
        <p:spPr>
          <a:xfrm>
            <a:off x="1298448" y="3081528"/>
            <a:ext cx="4480560" cy="310896"/>
          </a:xfrm>
          <a:prstGeom prst="rect">
            <a:avLst/>
          </a:prstGeom>
          <a:noFill/>
          <a:ln/>
        </p:spPr>
        <p:txBody>
          <a:bodyPr wrap="square" lIns="0" tIns="0" rIns="0" bIns="0" rtlCol="0" anchor="t"/>
          <a:lstStyle/>
          <a:p>
            <a:pPr indent="0" marL="0">
              <a:buNone/>
            </a:pPr>
            <a:r>
              <a:rPr lang="en-US" sz="1500" b="1" dirty="0">
                <a:solidFill>
                  <a:schemeClr val="tx1"/>
                </a:solidFill>
              </a:rPr>
              <a:t>B  Solar Walkway, 50 m²</a:t>
            </a:r>
            <a:endParaRPr lang="en-US" sz="1500" dirty="0"/>
          </a:p>
        </p:txBody>
      </p:sp>
      <p:sp>
        <p:nvSpPr>
          <p:cNvPr id="11" name="Text 7"/>
          <p:cNvSpPr txBox="1"/>
          <p:nvPr/>
        </p:nvSpPr>
        <p:spPr>
          <a:xfrm>
            <a:off x="1298448" y="3419856"/>
            <a:ext cx="4480560" cy="960120"/>
          </a:xfrm>
          <a:prstGeom prst="rect">
            <a:avLst/>
          </a:prstGeom>
          <a:noFill/>
          <a:ln/>
        </p:spPr>
        <p:txBody>
          <a:bodyPr wrap="square" lIns="0" tIns="0" rIns="0" bIns="0" rtlCol="0" anchor="t"/>
          <a:lstStyle/>
          <a:p>
            <a:pPr indent="0" marL="0">
              <a:buNone/>
            </a:pPr>
            <a:r>
              <a:rPr lang="en-US" sz="1300" dirty="0">
                <a:solidFill>
                  <a:schemeClr val="tx2"/>
                </a:solidFill>
              </a:rPr>
              <a:t>About 8 kWp at Reliance Corporate Park, Navi Mumbai (or the Jamnagar Giga Complex), metered.</a:t>
            </a:r>
            <a:endParaRPr lang="en-US" sz="1300" dirty="0"/>
          </a:p>
        </p:txBody>
      </p:sp>
      <p:sp>
        <p:nvSpPr>
          <p:cNvPr id="12" name="hex-FaMicrochip"/>
          <p:cNvSpPr/>
          <p:nvPr/>
        </p:nvSpPr>
        <p:spPr>
          <a:xfrm>
            <a:off x="548640" y="4480560"/>
            <a:ext cx="566928" cy="498897"/>
          </a:xfrm>
          <a:prstGeom prst="hexagon">
            <a:avLst/>
          </a:prstGeom>
          <a:solidFill>
            <a:schemeClr val="accent1"/>
          </a:solidFill>
          <a:ln w="12700">
            <a:solidFill>
              <a:schemeClr val="accent1"/>
            </a:solidFill>
            <a:prstDash val="solid"/>
          </a:ln>
        </p:spPr>
      </p:sp>
      <p:pic>
        <p:nvPicPr>
          <p:cNvPr id="13" name="Image 2" descr="Microchip">    </p:cNvPr>
          <p:cNvPicPr>
            <a:picLocks noChangeAspect="1"/>
          </p:cNvPicPr>
          <p:nvPr/>
        </p:nvPicPr>
        <p:blipFill>
          <a:blip r:embed="rId3"/>
          <a:stretch>
            <a:fillRect/>
          </a:stretch>
        </p:blipFill>
        <p:spPr>
          <a:xfrm>
            <a:off x="701711" y="4599615"/>
            <a:ext cx="260787" cy="260787"/>
          </a:xfrm>
          <a:prstGeom prst="rect">
            <a:avLst/>
          </a:prstGeom>
        </p:spPr>
      </p:pic>
      <p:sp>
        <p:nvSpPr>
          <p:cNvPr id="14" name="Text 9"/>
          <p:cNvSpPr txBox="1"/>
          <p:nvPr/>
        </p:nvSpPr>
        <p:spPr>
          <a:xfrm>
            <a:off x="1298448" y="4453128"/>
            <a:ext cx="4480560" cy="310896"/>
          </a:xfrm>
          <a:prstGeom prst="rect">
            <a:avLst/>
          </a:prstGeom>
          <a:noFill/>
          <a:ln/>
        </p:spPr>
        <p:txBody>
          <a:bodyPr wrap="square" lIns="0" tIns="0" rIns="0" bIns="0" rtlCol="0" anchor="t"/>
          <a:lstStyle/>
          <a:p>
            <a:pPr indent="0" marL="0">
              <a:buNone/>
            </a:pPr>
            <a:r>
              <a:rPr lang="en-US" sz="1500" b="1" dirty="0">
                <a:solidFill>
                  <a:schemeClr val="tx1"/>
                </a:solidFill>
              </a:rPr>
              <a:t>C  Measurement, 12 months</a:t>
            </a:r>
            <a:endParaRPr lang="en-US" sz="1500" dirty="0"/>
          </a:p>
        </p:txBody>
      </p:sp>
      <p:sp>
        <p:nvSpPr>
          <p:cNvPr id="15" name="Text 10"/>
          <p:cNvSpPr txBox="1"/>
          <p:nvPr/>
        </p:nvSpPr>
        <p:spPr>
          <a:xfrm>
            <a:off x="1298448" y="4791456"/>
            <a:ext cx="4480560" cy="960120"/>
          </a:xfrm>
          <a:prstGeom prst="rect">
            <a:avLst/>
          </a:prstGeom>
          <a:noFill/>
          <a:ln/>
        </p:spPr>
        <p:txBody>
          <a:bodyPr wrap="square" lIns="0" tIns="0" rIns="0" bIns="0" rtlCol="0" anchor="t"/>
          <a:lstStyle/>
          <a:p>
            <a:pPr indent="0" marL="0">
              <a:buNone/>
            </a:pPr>
            <a:r>
              <a:rPr lang="en-US" sz="1300" dirty="0">
                <a:solidFill>
                  <a:schemeClr val="tx2"/>
                </a:solidFill>
              </a:rPr>
              <a:t>IoT sensors and live dashboard, dust gauges, soiling reference cells, joint reports at 6 and 12 months.</a:t>
            </a:r>
            <a:endParaRPr lang="en-US" sz="1300" dirty="0"/>
          </a:p>
        </p:txBody>
      </p:sp>
      <p:sp>
        <p:nvSpPr>
          <p:cNvPr id="16" name="Text 11"/>
          <p:cNvSpPr txBox="1"/>
          <p:nvPr/>
        </p:nvSpPr>
        <p:spPr>
          <a:xfrm>
            <a:off x="5989320" y="1691640"/>
            <a:ext cx="1130198" cy="256032"/>
          </a:xfrm>
          <a:prstGeom prst="rect">
            <a:avLst/>
          </a:prstGeom>
          <a:noFill/>
          <a:ln/>
        </p:spPr>
        <p:txBody>
          <a:bodyPr wrap="square" lIns="0" tIns="0" rIns="0" bIns="0" rtlCol="0" anchor="t"/>
          <a:lstStyle/>
          <a:p>
            <a:pPr indent="0" marL="0">
              <a:buNone/>
            </a:pPr>
            <a:r>
              <a:rPr lang="en-US" sz="1100" b="1" dirty="0">
                <a:solidFill>
                  <a:schemeClr val="accent4"/>
                </a:solidFill>
              </a:rPr>
              <a:t>2026</a:t>
            </a:r>
            <a:endParaRPr lang="en-US" sz="1100" dirty="0"/>
          </a:p>
        </p:txBody>
      </p:sp>
      <p:sp>
        <p:nvSpPr>
          <p:cNvPr id="17" name="Text 12"/>
          <p:cNvSpPr txBox="1"/>
          <p:nvPr/>
        </p:nvSpPr>
        <p:spPr>
          <a:xfrm>
            <a:off x="7119518" y="1691640"/>
            <a:ext cx="1506931" cy="256032"/>
          </a:xfrm>
          <a:prstGeom prst="rect">
            <a:avLst/>
          </a:prstGeom>
          <a:noFill/>
          <a:ln/>
        </p:spPr>
        <p:txBody>
          <a:bodyPr wrap="square" lIns="0" tIns="0" rIns="0" bIns="0" rtlCol="0" anchor="t"/>
          <a:lstStyle/>
          <a:p>
            <a:pPr indent="0" marL="0">
              <a:buNone/>
            </a:pPr>
            <a:r>
              <a:rPr lang="en-US" sz="1100" b="1" dirty="0">
                <a:solidFill>
                  <a:schemeClr val="accent4"/>
                </a:solidFill>
              </a:rPr>
              <a:t>2027</a:t>
            </a:r>
            <a:endParaRPr lang="en-US" sz="1100" dirty="0"/>
          </a:p>
        </p:txBody>
      </p:sp>
      <p:sp>
        <p:nvSpPr>
          <p:cNvPr id="18" name="Text 13"/>
          <p:cNvSpPr txBox="1"/>
          <p:nvPr/>
        </p:nvSpPr>
        <p:spPr>
          <a:xfrm>
            <a:off x="5989320"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Oct</a:t>
            </a:r>
            <a:endParaRPr lang="en-US" sz="1000" dirty="0"/>
          </a:p>
        </p:txBody>
      </p:sp>
      <p:sp>
        <p:nvSpPr>
          <p:cNvPr id="19" name="Text 14"/>
          <p:cNvSpPr txBox="1"/>
          <p:nvPr/>
        </p:nvSpPr>
        <p:spPr>
          <a:xfrm>
            <a:off x="6366053"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Nov</a:t>
            </a:r>
            <a:endParaRPr lang="en-US" sz="1000" dirty="0"/>
          </a:p>
        </p:txBody>
      </p:sp>
      <p:sp>
        <p:nvSpPr>
          <p:cNvPr id="20" name="Text 15"/>
          <p:cNvSpPr txBox="1"/>
          <p:nvPr/>
        </p:nvSpPr>
        <p:spPr>
          <a:xfrm>
            <a:off x="6742786"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Dec</a:t>
            </a:r>
            <a:endParaRPr lang="en-US" sz="1000" dirty="0"/>
          </a:p>
        </p:txBody>
      </p:sp>
      <p:sp>
        <p:nvSpPr>
          <p:cNvPr id="21" name="Text 16"/>
          <p:cNvSpPr txBox="1"/>
          <p:nvPr/>
        </p:nvSpPr>
        <p:spPr>
          <a:xfrm>
            <a:off x="7119518"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Jan</a:t>
            </a:r>
            <a:endParaRPr lang="en-US" sz="1000" dirty="0"/>
          </a:p>
        </p:txBody>
      </p:sp>
      <p:sp>
        <p:nvSpPr>
          <p:cNvPr id="22" name="Text 17"/>
          <p:cNvSpPr txBox="1"/>
          <p:nvPr/>
        </p:nvSpPr>
        <p:spPr>
          <a:xfrm>
            <a:off x="7496251"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Feb</a:t>
            </a:r>
            <a:endParaRPr lang="en-US" sz="1000" dirty="0"/>
          </a:p>
        </p:txBody>
      </p:sp>
      <p:sp>
        <p:nvSpPr>
          <p:cNvPr id="23" name="Text 18"/>
          <p:cNvSpPr txBox="1"/>
          <p:nvPr/>
        </p:nvSpPr>
        <p:spPr>
          <a:xfrm>
            <a:off x="7872984"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Mar</a:t>
            </a:r>
            <a:endParaRPr lang="en-US" sz="1000" dirty="0"/>
          </a:p>
        </p:txBody>
      </p:sp>
      <p:sp>
        <p:nvSpPr>
          <p:cNvPr id="24" name="Text 19"/>
          <p:cNvSpPr txBox="1"/>
          <p:nvPr/>
        </p:nvSpPr>
        <p:spPr>
          <a:xfrm>
            <a:off x="8249717"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Apr</a:t>
            </a:r>
            <a:endParaRPr lang="en-US" sz="1000" dirty="0"/>
          </a:p>
        </p:txBody>
      </p:sp>
      <p:sp>
        <p:nvSpPr>
          <p:cNvPr id="25" name="Text 20"/>
          <p:cNvSpPr txBox="1"/>
          <p:nvPr/>
        </p:nvSpPr>
        <p:spPr>
          <a:xfrm>
            <a:off x="8626450"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May</a:t>
            </a:r>
            <a:endParaRPr lang="en-US" sz="1000" dirty="0"/>
          </a:p>
        </p:txBody>
      </p:sp>
      <p:sp>
        <p:nvSpPr>
          <p:cNvPr id="26" name="Text 21"/>
          <p:cNvSpPr txBox="1"/>
          <p:nvPr/>
        </p:nvSpPr>
        <p:spPr>
          <a:xfrm>
            <a:off x="9003182"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Jun</a:t>
            </a:r>
            <a:endParaRPr lang="en-US" sz="1000" dirty="0"/>
          </a:p>
        </p:txBody>
      </p:sp>
      <p:sp>
        <p:nvSpPr>
          <p:cNvPr id="27" name="Text 22"/>
          <p:cNvSpPr txBox="1"/>
          <p:nvPr/>
        </p:nvSpPr>
        <p:spPr>
          <a:xfrm>
            <a:off x="9379915"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Jul</a:t>
            </a:r>
            <a:endParaRPr lang="en-US" sz="1000" dirty="0"/>
          </a:p>
        </p:txBody>
      </p:sp>
      <p:sp>
        <p:nvSpPr>
          <p:cNvPr id="28" name="Text 23"/>
          <p:cNvSpPr txBox="1"/>
          <p:nvPr/>
        </p:nvSpPr>
        <p:spPr>
          <a:xfrm>
            <a:off x="9756648"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Aug</a:t>
            </a:r>
            <a:endParaRPr lang="en-US" sz="1000" dirty="0"/>
          </a:p>
        </p:txBody>
      </p:sp>
      <p:sp>
        <p:nvSpPr>
          <p:cNvPr id="29" name="Text 24"/>
          <p:cNvSpPr txBox="1"/>
          <p:nvPr/>
        </p:nvSpPr>
        <p:spPr>
          <a:xfrm>
            <a:off x="10133381"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Sep</a:t>
            </a:r>
            <a:endParaRPr lang="en-US" sz="1000" dirty="0"/>
          </a:p>
        </p:txBody>
      </p:sp>
      <p:sp>
        <p:nvSpPr>
          <p:cNvPr id="30" name="Text 25"/>
          <p:cNvSpPr txBox="1"/>
          <p:nvPr/>
        </p:nvSpPr>
        <p:spPr>
          <a:xfrm>
            <a:off x="10510114"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Oct</a:t>
            </a:r>
            <a:endParaRPr lang="en-US" sz="1000" dirty="0"/>
          </a:p>
        </p:txBody>
      </p:sp>
      <p:sp>
        <p:nvSpPr>
          <p:cNvPr id="31" name="Text 26"/>
          <p:cNvSpPr txBox="1"/>
          <p:nvPr/>
        </p:nvSpPr>
        <p:spPr>
          <a:xfrm>
            <a:off x="10886846"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Nov</a:t>
            </a:r>
            <a:endParaRPr lang="en-US" sz="1000" dirty="0"/>
          </a:p>
        </p:txBody>
      </p:sp>
      <p:sp>
        <p:nvSpPr>
          <p:cNvPr id="32" name="Text 27"/>
          <p:cNvSpPr txBox="1"/>
          <p:nvPr/>
        </p:nvSpPr>
        <p:spPr>
          <a:xfrm>
            <a:off x="11263579" y="1938528"/>
            <a:ext cx="376733" cy="256032"/>
          </a:xfrm>
          <a:prstGeom prst="rect">
            <a:avLst/>
          </a:prstGeom>
          <a:noFill/>
          <a:ln/>
        </p:spPr>
        <p:txBody>
          <a:bodyPr wrap="square" lIns="0" tIns="0" rIns="0" bIns="0" rtlCol="0" anchor="t"/>
          <a:lstStyle/>
          <a:p>
            <a:pPr algn="ctr" indent="0" marL="0">
              <a:buNone/>
            </a:pPr>
            <a:r>
              <a:rPr lang="en-US" sz="1000" dirty="0">
                <a:solidFill>
                  <a:schemeClr val="accent4"/>
                </a:solidFill>
              </a:rPr>
              <a:t>Dec</a:t>
            </a:r>
            <a:endParaRPr lang="en-US" sz="1000" dirty="0"/>
          </a:p>
        </p:txBody>
      </p:sp>
      <p:sp>
        <p:nvSpPr>
          <p:cNvPr id="33" name="gantt-bar"/>
          <p:cNvSpPr/>
          <p:nvPr/>
        </p:nvSpPr>
        <p:spPr>
          <a:xfrm>
            <a:off x="5989320" y="2286000"/>
            <a:ext cx="452079" cy="274320"/>
          </a:xfrm>
          <a:prstGeom prst="roundRect">
            <a:avLst>
              <a:gd name="adj" fmla="val 20000"/>
            </a:avLst>
          </a:prstGeom>
          <a:solidFill>
            <a:schemeClr val="tx2"/>
          </a:solidFill>
          <a:ln w="12700">
            <a:solidFill>
              <a:schemeClr val="tx2"/>
            </a:solidFill>
            <a:prstDash val="solid"/>
          </a:ln>
        </p:spPr>
      </p:sp>
      <p:sp>
        <p:nvSpPr>
          <p:cNvPr id="34" name="Text 29"/>
          <p:cNvSpPr txBox="1"/>
          <p:nvPr/>
        </p:nvSpPr>
        <p:spPr>
          <a:xfrm>
            <a:off x="6514551" y="2267712"/>
            <a:ext cx="3200400" cy="310896"/>
          </a:xfrm>
          <a:prstGeom prst="rect">
            <a:avLst/>
          </a:prstGeom>
          <a:noFill/>
          <a:ln/>
        </p:spPr>
        <p:txBody>
          <a:bodyPr wrap="square" lIns="0" tIns="0" rIns="0" bIns="0" rtlCol="0" anchor="ctr"/>
          <a:lstStyle/>
          <a:p>
            <a:pPr algn="l" indent="0" marL="0">
              <a:buNone/>
            </a:pPr>
            <a:r>
              <a:rPr lang="en-US" sz="1100" dirty="0">
                <a:solidFill>
                  <a:schemeClr val="tx1"/>
                </a:solidFill>
              </a:rPr>
              <a:t>Site walk, CBR and axle loads, IITPAVE design</a:t>
            </a:r>
            <a:endParaRPr lang="en-US" sz="1100" dirty="0"/>
          </a:p>
        </p:txBody>
      </p:sp>
      <p:sp>
        <p:nvSpPr>
          <p:cNvPr id="35" name="gantt-bar"/>
          <p:cNvSpPr/>
          <p:nvPr/>
        </p:nvSpPr>
        <p:spPr>
          <a:xfrm>
            <a:off x="6215360" y="2715768"/>
            <a:ext cx="301386" cy="274320"/>
          </a:xfrm>
          <a:prstGeom prst="roundRect">
            <a:avLst>
              <a:gd name="adj" fmla="val 20000"/>
            </a:avLst>
          </a:prstGeom>
          <a:solidFill>
            <a:schemeClr val="tx2"/>
          </a:solidFill>
          <a:ln w="12700">
            <a:solidFill>
              <a:schemeClr val="tx2"/>
            </a:solidFill>
            <a:prstDash val="solid"/>
          </a:ln>
        </p:spPr>
      </p:sp>
      <p:sp>
        <p:nvSpPr>
          <p:cNvPr id="36" name="Text 31"/>
          <p:cNvSpPr txBox="1"/>
          <p:nvPr/>
        </p:nvSpPr>
        <p:spPr>
          <a:xfrm>
            <a:off x="6589898" y="2697480"/>
            <a:ext cx="3200400" cy="310896"/>
          </a:xfrm>
          <a:prstGeom prst="rect">
            <a:avLst/>
          </a:prstGeom>
          <a:noFill/>
          <a:ln/>
        </p:spPr>
        <p:txBody>
          <a:bodyPr wrap="square" lIns="0" tIns="0" rIns="0" bIns="0" rtlCol="0" anchor="ctr"/>
          <a:lstStyle/>
          <a:p>
            <a:pPr algn="l" indent="0" marL="0">
              <a:buNone/>
            </a:pPr>
            <a:r>
              <a:rPr lang="en-US" sz="1100" dirty="0">
                <a:solidFill>
                  <a:schemeClr val="tx1"/>
                </a:solidFill>
              </a:rPr>
              <a:t>QAP, test reports, factory visit; PO</a:t>
            </a:r>
            <a:endParaRPr lang="en-US" sz="1100" dirty="0"/>
          </a:p>
        </p:txBody>
      </p:sp>
      <p:sp>
        <p:nvSpPr>
          <p:cNvPr id="37" name="gantt-bar"/>
          <p:cNvSpPr/>
          <p:nvPr/>
        </p:nvSpPr>
        <p:spPr>
          <a:xfrm>
            <a:off x="6516746" y="3145536"/>
            <a:ext cx="376733" cy="274320"/>
          </a:xfrm>
          <a:prstGeom prst="roundRect">
            <a:avLst>
              <a:gd name="adj" fmla="val 20000"/>
            </a:avLst>
          </a:prstGeom>
          <a:solidFill>
            <a:schemeClr val="accent4"/>
          </a:solidFill>
          <a:ln w="12700">
            <a:solidFill>
              <a:schemeClr val="accent4"/>
            </a:solidFill>
            <a:prstDash val="solid"/>
          </a:ln>
        </p:spPr>
      </p:sp>
      <p:sp>
        <p:nvSpPr>
          <p:cNvPr id="38" name="Text 33"/>
          <p:cNvSpPr txBox="1"/>
          <p:nvPr/>
        </p:nvSpPr>
        <p:spPr>
          <a:xfrm>
            <a:off x="6966631" y="3127248"/>
            <a:ext cx="3200400" cy="310896"/>
          </a:xfrm>
          <a:prstGeom prst="rect">
            <a:avLst/>
          </a:prstGeom>
          <a:noFill/>
          <a:ln/>
        </p:spPr>
        <p:txBody>
          <a:bodyPr wrap="square" lIns="0" tIns="0" rIns="0" bIns="0" rtlCol="0" anchor="ctr"/>
          <a:lstStyle/>
          <a:p>
            <a:pPr algn="l" indent="0" marL="0">
              <a:buNone/>
            </a:pPr>
            <a:r>
              <a:rPr lang="en-US" sz="1100" dirty="0">
                <a:solidFill>
                  <a:schemeClr val="tx1"/>
                </a:solidFill>
              </a:rPr>
              <a:t>Supply; dispatch date fixed in the PO</a:t>
            </a:r>
            <a:endParaRPr lang="en-US" sz="1100" dirty="0"/>
          </a:p>
        </p:txBody>
      </p:sp>
      <p:sp>
        <p:nvSpPr>
          <p:cNvPr id="39" name="gantt-bar"/>
          <p:cNvSpPr/>
          <p:nvPr/>
        </p:nvSpPr>
        <p:spPr>
          <a:xfrm>
            <a:off x="6780459" y="3575304"/>
            <a:ext cx="339060" cy="274320"/>
          </a:xfrm>
          <a:prstGeom prst="roundRect">
            <a:avLst>
              <a:gd name="adj" fmla="val 20000"/>
            </a:avLst>
          </a:prstGeom>
          <a:solidFill>
            <a:schemeClr val="accent1"/>
          </a:solidFill>
          <a:ln w="12700">
            <a:solidFill>
              <a:schemeClr val="accent1"/>
            </a:solidFill>
            <a:prstDash val="solid"/>
          </a:ln>
        </p:spPr>
      </p:sp>
      <p:sp>
        <p:nvSpPr>
          <p:cNvPr id="40" name="Text 35"/>
          <p:cNvSpPr txBox="1"/>
          <p:nvPr/>
        </p:nvSpPr>
        <p:spPr>
          <a:xfrm>
            <a:off x="7192670" y="3557016"/>
            <a:ext cx="3200400" cy="310896"/>
          </a:xfrm>
          <a:prstGeom prst="rect">
            <a:avLst/>
          </a:prstGeom>
          <a:noFill/>
          <a:ln/>
        </p:spPr>
        <p:txBody>
          <a:bodyPr wrap="square" lIns="0" tIns="0" rIns="0" bIns="0" rtlCol="0" anchor="ctr"/>
          <a:lstStyle/>
          <a:p>
            <a:pPr algn="l" indent="0" marL="0">
              <a:buNone/>
            </a:pPr>
            <a:r>
              <a:rPr lang="en-US" sz="1100" dirty="0">
                <a:solidFill>
                  <a:schemeClr val="tx1"/>
                </a:solidFill>
              </a:rPr>
              <a:t>Build road (about 15 crew-days) + sensors</a:t>
            </a:r>
            <a:endParaRPr lang="en-US" sz="1100" dirty="0"/>
          </a:p>
        </p:txBody>
      </p:sp>
      <p:sp>
        <p:nvSpPr>
          <p:cNvPr id="41" name="gantt-bar"/>
          <p:cNvSpPr/>
          <p:nvPr/>
        </p:nvSpPr>
        <p:spPr>
          <a:xfrm>
            <a:off x="6968825" y="4005072"/>
            <a:ext cx="376733" cy="274320"/>
          </a:xfrm>
          <a:prstGeom prst="roundRect">
            <a:avLst>
              <a:gd name="adj" fmla="val 20000"/>
            </a:avLst>
          </a:prstGeom>
          <a:solidFill>
            <a:schemeClr val="accent3"/>
          </a:solidFill>
          <a:ln w="12700">
            <a:solidFill>
              <a:schemeClr val="accent3"/>
            </a:solidFill>
            <a:prstDash val="solid"/>
          </a:ln>
        </p:spPr>
      </p:sp>
      <p:sp>
        <p:nvSpPr>
          <p:cNvPr id="42" name="Text 37"/>
          <p:cNvSpPr txBox="1"/>
          <p:nvPr/>
        </p:nvSpPr>
        <p:spPr>
          <a:xfrm>
            <a:off x="7418710" y="3986784"/>
            <a:ext cx="3200400" cy="310896"/>
          </a:xfrm>
          <a:prstGeom prst="rect">
            <a:avLst/>
          </a:prstGeom>
          <a:noFill/>
          <a:ln/>
        </p:spPr>
        <p:txBody>
          <a:bodyPr wrap="square" lIns="0" tIns="0" rIns="0" bIns="0" rtlCol="0" anchor="ctr"/>
          <a:lstStyle/>
          <a:p>
            <a:pPr algn="l" indent="0" marL="0">
              <a:buNone/>
            </a:pPr>
            <a:r>
              <a:rPr lang="en-US" sz="1100" dirty="0">
                <a:solidFill>
                  <a:schemeClr val="tx1"/>
                </a:solidFill>
              </a:rPr>
              <a:t>Solar Walkway built and metered</a:t>
            </a:r>
            <a:endParaRPr lang="en-US" sz="1100" dirty="0"/>
          </a:p>
        </p:txBody>
      </p:sp>
      <p:sp>
        <p:nvSpPr>
          <p:cNvPr id="43" name="gantt-bar"/>
          <p:cNvSpPr/>
          <p:nvPr/>
        </p:nvSpPr>
        <p:spPr>
          <a:xfrm>
            <a:off x="7119518" y="4434840"/>
            <a:ext cx="4520794" cy="274320"/>
          </a:xfrm>
          <a:prstGeom prst="roundRect">
            <a:avLst>
              <a:gd name="adj" fmla="val 20000"/>
            </a:avLst>
          </a:prstGeom>
          <a:solidFill>
            <a:schemeClr val="accent2"/>
          </a:solidFill>
          <a:ln w="12700">
            <a:solidFill>
              <a:schemeClr val="accent2"/>
            </a:solidFill>
            <a:prstDash val="solid"/>
          </a:ln>
        </p:spPr>
      </p:sp>
      <p:sp>
        <p:nvSpPr>
          <p:cNvPr id="44" name="Text 39"/>
          <p:cNvSpPr txBox="1"/>
          <p:nvPr/>
        </p:nvSpPr>
        <p:spPr>
          <a:xfrm>
            <a:off x="7229246" y="4416552"/>
            <a:ext cx="4337914" cy="310896"/>
          </a:xfrm>
          <a:prstGeom prst="rect">
            <a:avLst/>
          </a:prstGeom>
          <a:noFill/>
          <a:ln/>
        </p:spPr>
        <p:txBody>
          <a:bodyPr wrap="square" lIns="0" tIns="0" rIns="0" bIns="0" rtlCol="0" anchor="ctr"/>
          <a:lstStyle/>
          <a:p>
            <a:pPr indent="0" marL="0">
              <a:buNone/>
            </a:pPr>
            <a:r>
              <a:rPr lang="en-US" sz="1100" b="1" dirty="0">
                <a:solidFill>
                  <a:schemeClr val="bg1"/>
                </a:solidFill>
              </a:rPr>
              <a:t>Monitoring through the 2027 monsoon</a:t>
            </a:r>
            <a:endParaRPr lang="en-US" sz="1100" dirty="0"/>
          </a:p>
        </p:txBody>
      </p:sp>
      <p:sp>
        <p:nvSpPr>
          <p:cNvPr id="45" name="gantt-bar"/>
          <p:cNvSpPr/>
          <p:nvPr/>
        </p:nvSpPr>
        <p:spPr>
          <a:xfrm>
            <a:off x="9266895" y="4864608"/>
            <a:ext cx="188366" cy="274320"/>
          </a:xfrm>
          <a:prstGeom prst="roundRect">
            <a:avLst>
              <a:gd name="adj" fmla="val 29126"/>
            </a:avLst>
          </a:prstGeom>
          <a:solidFill>
            <a:schemeClr val="accent1"/>
          </a:solidFill>
          <a:ln w="12700">
            <a:solidFill>
              <a:schemeClr val="accent1"/>
            </a:solidFill>
            <a:prstDash val="solid"/>
          </a:ln>
        </p:spPr>
      </p:sp>
      <p:sp>
        <p:nvSpPr>
          <p:cNvPr id="46" name="Text 41"/>
          <p:cNvSpPr txBox="1"/>
          <p:nvPr/>
        </p:nvSpPr>
        <p:spPr>
          <a:xfrm>
            <a:off x="5975055" y="4846320"/>
            <a:ext cx="3200400" cy="310896"/>
          </a:xfrm>
          <a:prstGeom prst="rect">
            <a:avLst/>
          </a:prstGeom>
          <a:noFill/>
          <a:ln/>
        </p:spPr>
        <p:txBody>
          <a:bodyPr wrap="square" lIns="0" tIns="0" rIns="0" bIns="0" rtlCol="0" anchor="ctr"/>
          <a:lstStyle/>
          <a:p>
            <a:pPr algn="r" indent="0" marL="0">
              <a:buNone/>
            </a:pPr>
            <a:r>
              <a:rPr lang="en-US" sz="1100" dirty="0">
                <a:solidFill>
                  <a:schemeClr val="tx1"/>
                </a:solidFill>
              </a:rPr>
              <a:t>6-month joint report</a:t>
            </a:r>
            <a:endParaRPr lang="en-US" sz="1100" dirty="0"/>
          </a:p>
        </p:txBody>
      </p:sp>
      <p:sp>
        <p:nvSpPr>
          <p:cNvPr id="47" name="gantt-bar"/>
          <p:cNvSpPr/>
          <p:nvPr/>
        </p:nvSpPr>
        <p:spPr>
          <a:xfrm>
            <a:off x="11338926" y="5294376"/>
            <a:ext cx="301386" cy="274320"/>
          </a:xfrm>
          <a:prstGeom prst="roundRect">
            <a:avLst>
              <a:gd name="adj" fmla="val 20000"/>
            </a:avLst>
          </a:prstGeom>
          <a:solidFill>
            <a:schemeClr val="accent1"/>
          </a:solidFill>
          <a:ln w="12700">
            <a:solidFill>
              <a:schemeClr val="accent1"/>
            </a:solidFill>
            <a:prstDash val="solid"/>
          </a:ln>
        </p:spPr>
      </p:sp>
      <p:sp>
        <p:nvSpPr>
          <p:cNvPr id="48" name="Text 43"/>
          <p:cNvSpPr txBox="1"/>
          <p:nvPr/>
        </p:nvSpPr>
        <p:spPr>
          <a:xfrm>
            <a:off x="8047086" y="5276088"/>
            <a:ext cx="3200400" cy="310896"/>
          </a:xfrm>
          <a:prstGeom prst="rect">
            <a:avLst/>
          </a:prstGeom>
          <a:noFill/>
          <a:ln/>
        </p:spPr>
        <p:txBody>
          <a:bodyPr wrap="square" lIns="0" tIns="0" rIns="0" bIns="0" rtlCol="0" anchor="ctr"/>
          <a:lstStyle/>
          <a:p>
            <a:pPr algn="r" indent="0" marL="0">
              <a:buNone/>
            </a:pPr>
            <a:r>
              <a:rPr lang="en-US" sz="1100" dirty="0">
                <a:solidFill>
                  <a:schemeClr val="tx1"/>
                </a:solidFill>
              </a:rPr>
              <a:t>12-month report and rate-contract decision</a:t>
            </a:r>
            <a:endParaRPr lang="en-US" sz="1100" dirty="0"/>
          </a:p>
        </p:txBody>
      </p:sp>
      <p:sp>
        <p:nvSpPr>
          <p:cNvPr id="49" name="source"/>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Indicative dates; supply date is confirmed in the PO once the site is ready. Control sections are built by Reliance's EPC as it would anyway.</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An offer built to say yes to</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List value of the pilot scope against what Reliance pays, ex-GST. Civil works are by Reliance's EPC at its own rates.</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852160" cy="914400"/>
        </p:xfrm>
        <a:graphic>
          <a:graphicData uri="http://schemas.openxmlformats.org/drawingml/2006/table">
            <a:tbl>
              <a:tblPr/>
              <a:tblGrid>
                <a:gridCol w="3200400"/>
                <a:gridCol w="1188720"/>
                <a:gridCol w="1463040"/>
              </a:tblGrid>
              <a:tr h="329184">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Scope</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3F3F3F"/>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List</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C22935"/>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Reliance pays</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C22935"/>
                    </a:solidFill>
                  </a:tcPr>
                </a:tc>
              </a:tr>
              <a:tr h="329184">
                <a:tc>
                  <a:txBody>
                    <a:bodyPr/>
                    <a:lstStyle/>
                    <a:p>
                      <a:pPr indent="0" marL="0">
                        <a:buNone/>
                      </a:pPr>
                      <a:r>
                        <a:rPr lang="en-US" sz="1200" dirty="0">
                          <a:solidFill>
                            <a:srgbClr val="1A1A1A"/>
                          </a:solidFill>
                          <a:latin typeface="Arial" pitchFamily="34" charset="0"/>
                          <a:ea typeface="Arial" pitchFamily="34" charset="-122"/>
                          <a:cs typeface="Arial" pitchFamily="34" charset="-120"/>
                        </a:rPr>
                        <a:t>OC-HD 40 grid, S1 main road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₹22.44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₹21.60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Arial" pitchFamily="34" charset="0"/>
                          <a:ea typeface="Arial" pitchFamily="34" charset="-122"/>
                          <a:cs typeface="Arial" pitchFamily="34" charset="-120"/>
                        </a:rPr>
                        <a:t>OC-HD 40 grid, S2 O&amp;M track</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₹25.25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₹24.30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Arial" pitchFamily="34" charset="0"/>
                          <a:ea typeface="Arial" pitchFamily="34" charset="-122"/>
                          <a:cs typeface="Arial" pitchFamily="34" charset="-120"/>
                        </a:rPr>
                        <a:t>Geotextile, U-nails, freight</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₹6.03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₹6.03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Arial" pitchFamily="34" charset="0"/>
                          <a:ea typeface="Arial" pitchFamily="34" charset="-122"/>
                          <a:cs typeface="Arial" pitchFamily="34" charset="-120"/>
                        </a:rPr>
                        <a:t>Site design, BoQ, method statement, QC</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₹1.50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b="1" dirty="0">
                          <a:solidFill>
                            <a:srgbClr val="1F7A3A"/>
                          </a:solidFill>
                          <a:latin typeface="Arial" pitchFamily="34" charset="0"/>
                          <a:ea typeface="Arial" pitchFamily="34" charset="-122"/>
                          <a:cs typeface="Arial" pitchFamily="34" charset="-120"/>
                        </a:rPr>
                        <a:t>Included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Arial" pitchFamily="34" charset="0"/>
                          <a:ea typeface="Arial" pitchFamily="34" charset="-122"/>
                          <a:cs typeface="Arial" pitchFamily="34" charset="-120"/>
                        </a:rPr>
                        <a:t>Supervisor for the whole build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₹2.25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b="1" dirty="0">
                          <a:solidFill>
                            <a:srgbClr val="1F7A3A"/>
                          </a:solidFill>
                          <a:latin typeface="Arial" pitchFamily="34" charset="0"/>
                          <a:ea typeface="Arial" pitchFamily="34" charset="-122"/>
                          <a:cs typeface="Arial" pitchFamily="34" charset="-120"/>
                        </a:rPr>
                        <a:t>Included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Arial" pitchFamily="34" charset="0"/>
                          <a:ea typeface="Arial" pitchFamily="34" charset="-122"/>
                          <a:cs typeface="Arial" pitchFamily="34" charset="-120"/>
                        </a:rPr>
                        <a:t>Supervisor travel and stay</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₹0.75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b="1" dirty="0">
                          <a:solidFill>
                            <a:srgbClr val="1F7A3A"/>
                          </a:solidFill>
                          <a:latin typeface="Arial" pitchFamily="34" charset="0"/>
                          <a:ea typeface="Arial" pitchFamily="34" charset="-122"/>
                          <a:cs typeface="Arial" pitchFamily="34" charset="-120"/>
                        </a:rPr>
                        <a:t>Included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Arial" pitchFamily="34" charset="0"/>
                          <a:ea typeface="Arial" pitchFamily="34" charset="-122"/>
                          <a:cs typeface="Arial" pitchFamily="34" charset="-120"/>
                        </a:rPr>
                        <a:t>Walkway base, OC-LW 40</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₹0.54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₹0.54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Arial" pitchFamily="34" charset="0"/>
                          <a:ea typeface="Arial" pitchFamily="34" charset="-122"/>
                          <a:cs typeface="Arial" pitchFamily="34" charset="-120"/>
                        </a:rPr>
                        <a:t>Walkway PV layer + inverter</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₹5.75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₹2.88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Arial" pitchFamily="34" charset="0"/>
                          <a:ea typeface="Arial" pitchFamily="34" charset="-122"/>
                          <a:cs typeface="Arial" pitchFamily="34" charset="-120"/>
                        </a:rPr>
                        <a:t>IoT, soiling study, joint reports</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dirty="0">
                          <a:solidFill>
                            <a:srgbClr val="1A1A1A"/>
                          </a:solidFill>
                          <a:latin typeface="Arial" pitchFamily="34" charset="0"/>
                          <a:ea typeface="Arial" pitchFamily="34" charset="-122"/>
                          <a:cs typeface="Arial" pitchFamily="34" charset="-120"/>
                        </a:rPr>
                        <a:t>₹4.00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b="1" dirty="0">
                          <a:solidFill>
                            <a:srgbClr val="1F7A3A"/>
                          </a:solidFill>
                          <a:latin typeface="Arial" pitchFamily="34" charset="0"/>
                          <a:ea typeface="Arial" pitchFamily="34" charset="-122"/>
                          <a:cs typeface="Arial" pitchFamily="34" charset="-120"/>
                        </a:rPr>
                        <a:t>Included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29184">
                <a:tc>
                  <a:txBody>
                    <a:bodyPr/>
                    <a:lstStyle/>
                    <a:p>
                      <a:pPr indent="0" marL="0">
                        <a:buNone/>
                      </a:pPr>
                      <a:r>
                        <a:rPr lang="en-US" sz="1200" b="1" dirty="0">
                          <a:solidFill>
                            <a:srgbClr val="1A1A1A"/>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b="1" dirty="0">
                          <a:solidFill>
                            <a:srgbClr val="1A1A1A"/>
                          </a:solidFill>
                          <a:latin typeface="Arial" pitchFamily="34" charset="0"/>
                          <a:ea typeface="Arial" pitchFamily="34" charset="-122"/>
                          <a:cs typeface="Arial" pitchFamily="34" charset="-120"/>
                        </a:rPr>
                        <a:t>₹68.50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algn="r" indent="0" marL="0">
                        <a:buNone/>
                      </a:pPr>
                      <a:r>
                        <a:rPr lang="en-US" sz="1200" b="1" dirty="0">
                          <a:solidFill>
                            <a:srgbClr val="C22935"/>
                          </a:solidFill>
                          <a:latin typeface="Arial" pitchFamily="34" charset="0"/>
                          <a:ea typeface="Arial" pitchFamily="34" charset="-122"/>
                          <a:cs typeface="Arial" pitchFamily="34" charset="-120"/>
                        </a:rPr>
                        <a:t>₹55.34 L</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bl>
          </a:graphicData>
        </a:graphic>
      </p:graphicFrame>
      <p:sp>
        <p:nvSpPr>
          <p:cNvPr id="5" name="hex-FaRupeeSign"/>
          <p:cNvSpPr/>
          <p:nvPr/>
        </p:nvSpPr>
        <p:spPr>
          <a:xfrm>
            <a:off x="6720840" y="1691640"/>
            <a:ext cx="512064" cy="450616"/>
          </a:xfrm>
          <a:prstGeom prst="hexagon">
            <a:avLst/>
          </a:prstGeom>
          <a:solidFill>
            <a:schemeClr val="accent1"/>
          </a:solidFill>
          <a:ln w="12700">
            <a:solidFill>
              <a:schemeClr val="accent1"/>
            </a:solidFill>
            <a:prstDash val="solid"/>
          </a:ln>
        </p:spPr>
      </p:sp>
      <p:pic>
        <p:nvPicPr>
          <p:cNvPr id="6" name="Image 0" descr="RupeeSign">    </p:cNvPr>
          <p:cNvPicPr>
            <a:picLocks noChangeAspect="1"/>
          </p:cNvPicPr>
          <p:nvPr/>
        </p:nvPicPr>
        <p:blipFill>
          <a:blip r:embed="rId1"/>
          <a:stretch>
            <a:fillRect/>
          </a:stretch>
        </p:blipFill>
        <p:spPr>
          <a:xfrm>
            <a:off x="6859097" y="1799173"/>
            <a:ext cx="235549" cy="235549"/>
          </a:xfrm>
          <a:prstGeom prst="rect">
            <a:avLst/>
          </a:prstGeom>
        </p:spPr>
      </p:pic>
      <p:sp>
        <p:nvSpPr>
          <p:cNvPr id="7" name="Text 3"/>
          <p:cNvSpPr txBox="1"/>
          <p:nvPr/>
        </p:nvSpPr>
        <p:spPr>
          <a:xfrm>
            <a:off x="7406640" y="1673352"/>
            <a:ext cx="4233672" cy="310896"/>
          </a:xfrm>
          <a:prstGeom prst="rect">
            <a:avLst/>
          </a:prstGeom>
          <a:noFill/>
          <a:ln/>
        </p:spPr>
        <p:txBody>
          <a:bodyPr wrap="square" lIns="0" tIns="0" rIns="0" bIns="0" rtlCol="0" anchor="t"/>
          <a:lstStyle/>
          <a:p>
            <a:pPr indent="0" marL="0">
              <a:buNone/>
            </a:pPr>
            <a:r>
              <a:rPr lang="en-US" sz="1400" b="1" dirty="0">
                <a:solidFill>
                  <a:schemeClr val="tx1"/>
                </a:solidFill>
              </a:rPr>
              <a:t>₹900/m² grid: 23% below the 2025 trial</a:t>
            </a:r>
            <a:endParaRPr lang="en-US" sz="1400" dirty="0"/>
          </a:p>
        </p:txBody>
      </p:sp>
      <p:sp>
        <p:nvSpPr>
          <p:cNvPr id="8" name="Text 4"/>
          <p:cNvSpPr txBox="1"/>
          <p:nvPr/>
        </p:nvSpPr>
        <p:spPr>
          <a:xfrm>
            <a:off x="7406640" y="1984248"/>
            <a:ext cx="4233672" cy="457200"/>
          </a:xfrm>
          <a:prstGeom prst="rect">
            <a:avLst/>
          </a:prstGeom>
          <a:noFill/>
          <a:ln/>
        </p:spPr>
        <p:txBody>
          <a:bodyPr wrap="square" lIns="0" tIns="0" rIns="0" bIns="0" rtlCol="0" anchor="t"/>
          <a:lstStyle/>
          <a:p>
            <a:pPr indent="0" marL="0">
              <a:buNone/>
            </a:pPr>
            <a:r>
              <a:rPr lang="en-US" sz="1200" dirty="0">
                <a:solidFill>
                  <a:schemeClr val="tx2"/>
                </a:solidFill>
              </a:rPr>
              <a:t>the annual-contract rate, at pilot size</a:t>
            </a:r>
            <a:endParaRPr lang="en-US" sz="1200" dirty="0"/>
          </a:p>
        </p:txBody>
      </p:sp>
      <p:sp>
        <p:nvSpPr>
          <p:cNvPr id="9" name="hex-FaHandshake"/>
          <p:cNvSpPr/>
          <p:nvPr/>
        </p:nvSpPr>
        <p:spPr>
          <a:xfrm>
            <a:off x="6720840" y="2542032"/>
            <a:ext cx="512064" cy="450616"/>
          </a:xfrm>
          <a:prstGeom prst="hexagon">
            <a:avLst/>
          </a:prstGeom>
          <a:solidFill>
            <a:schemeClr val="accent1"/>
          </a:solidFill>
          <a:ln w="12700">
            <a:solidFill>
              <a:schemeClr val="accent1"/>
            </a:solidFill>
            <a:prstDash val="solid"/>
          </a:ln>
        </p:spPr>
      </p:sp>
      <p:pic>
        <p:nvPicPr>
          <p:cNvPr id="10" name="Image 1" descr="Handshake">    </p:cNvPr>
          <p:cNvPicPr>
            <a:picLocks noChangeAspect="1"/>
          </p:cNvPicPr>
          <p:nvPr/>
        </p:nvPicPr>
        <p:blipFill>
          <a:blip r:embed="rId2"/>
          <a:stretch>
            <a:fillRect/>
          </a:stretch>
        </p:blipFill>
        <p:spPr>
          <a:xfrm>
            <a:off x="6859097" y="2649565"/>
            <a:ext cx="235549" cy="235549"/>
          </a:xfrm>
          <a:prstGeom prst="rect">
            <a:avLst/>
          </a:prstGeom>
        </p:spPr>
      </p:pic>
      <p:sp>
        <p:nvSpPr>
          <p:cNvPr id="11" name="Text 6"/>
          <p:cNvSpPr txBox="1"/>
          <p:nvPr/>
        </p:nvSpPr>
        <p:spPr>
          <a:xfrm>
            <a:off x="7406640" y="2523744"/>
            <a:ext cx="4233672" cy="310896"/>
          </a:xfrm>
          <a:prstGeom prst="rect">
            <a:avLst/>
          </a:prstGeom>
          <a:noFill/>
          <a:ln/>
        </p:spPr>
        <p:txBody>
          <a:bodyPr wrap="square" lIns="0" tIns="0" rIns="0" bIns="0" rtlCol="0" anchor="t"/>
          <a:lstStyle/>
          <a:p>
            <a:pPr indent="0" marL="0">
              <a:buNone/>
            </a:pPr>
            <a:r>
              <a:rPr lang="en-US" sz="1400" b="1" dirty="0">
                <a:solidFill>
                  <a:schemeClr val="tx1"/>
                </a:solidFill>
              </a:rPr>
              <a:t>₹13.2 L of scope included (19%)</a:t>
            </a:r>
            <a:endParaRPr lang="en-US" sz="1400" dirty="0"/>
          </a:p>
        </p:txBody>
      </p:sp>
      <p:sp>
        <p:nvSpPr>
          <p:cNvPr id="12" name="Text 7"/>
          <p:cNvSpPr txBox="1"/>
          <p:nvPr/>
        </p:nvSpPr>
        <p:spPr>
          <a:xfrm>
            <a:off x="7406640" y="2834640"/>
            <a:ext cx="4233672" cy="457200"/>
          </a:xfrm>
          <a:prstGeom prst="rect">
            <a:avLst/>
          </a:prstGeom>
          <a:noFill/>
          <a:ln/>
        </p:spPr>
        <p:txBody>
          <a:bodyPr wrap="square" lIns="0" tIns="0" rIns="0" bIns="0" rtlCol="0" anchor="t"/>
          <a:lstStyle/>
          <a:p>
            <a:pPr indent="0" marL="0">
              <a:buNone/>
            </a:pPr>
            <a:r>
              <a:rPr lang="en-US" sz="1200" dirty="0">
                <a:solidFill>
                  <a:schemeClr val="tx2"/>
                </a:solidFill>
              </a:rPr>
              <a:t>design, full-build supervision and travel, monitoring, half the walkway PV</a:t>
            </a:r>
            <a:endParaRPr lang="en-US" sz="1200" dirty="0"/>
          </a:p>
        </p:txBody>
      </p:sp>
      <p:sp>
        <p:nvSpPr>
          <p:cNvPr id="13" name="hex-FaCalendarCheck"/>
          <p:cNvSpPr/>
          <p:nvPr/>
        </p:nvSpPr>
        <p:spPr>
          <a:xfrm>
            <a:off x="6720840" y="3392424"/>
            <a:ext cx="512064" cy="450616"/>
          </a:xfrm>
          <a:prstGeom prst="hexagon">
            <a:avLst/>
          </a:prstGeom>
          <a:solidFill>
            <a:schemeClr val="accent1"/>
          </a:solidFill>
          <a:ln w="12700">
            <a:solidFill>
              <a:schemeClr val="accent1"/>
            </a:solidFill>
            <a:prstDash val="solid"/>
          </a:ln>
        </p:spPr>
      </p:sp>
      <p:pic>
        <p:nvPicPr>
          <p:cNvPr id="14" name="Image 2" descr="CalendarCheck">    </p:cNvPr>
          <p:cNvPicPr>
            <a:picLocks noChangeAspect="1"/>
          </p:cNvPicPr>
          <p:nvPr/>
        </p:nvPicPr>
        <p:blipFill>
          <a:blip r:embed="rId3"/>
          <a:stretch>
            <a:fillRect/>
          </a:stretch>
        </p:blipFill>
        <p:spPr>
          <a:xfrm>
            <a:off x="6859097" y="3499957"/>
            <a:ext cx="235549" cy="235549"/>
          </a:xfrm>
          <a:prstGeom prst="rect">
            <a:avLst/>
          </a:prstGeom>
        </p:spPr>
      </p:pic>
      <p:sp>
        <p:nvSpPr>
          <p:cNvPr id="15" name="Text 9"/>
          <p:cNvSpPr txBox="1"/>
          <p:nvPr/>
        </p:nvSpPr>
        <p:spPr>
          <a:xfrm>
            <a:off x="7406640" y="3374136"/>
            <a:ext cx="4233672" cy="310896"/>
          </a:xfrm>
          <a:prstGeom prst="rect">
            <a:avLst/>
          </a:prstGeom>
          <a:noFill/>
          <a:ln/>
        </p:spPr>
        <p:txBody>
          <a:bodyPr wrap="square" lIns="0" tIns="0" rIns="0" bIns="0" rtlCol="0" anchor="t"/>
          <a:lstStyle/>
          <a:p>
            <a:pPr indent="0" marL="0">
              <a:buNone/>
            </a:pPr>
            <a:r>
              <a:rPr lang="en-US" sz="1400" b="1" dirty="0">
                <a:solidFill>
                  <a:schemeClr val="tx1"/>
                </a:solidFill>
              </a:rPr>
              <a:t>₹900/m² held for 12 months</a:t>
            </a:r>
            <a:endParaRPr lang="en-US" sz="1400" dirty="0"/>
          </a:p>
        </p:txBody>
      </p:sp>
      <p:sp>
        <p:nvSpPr>
          <p:cNvPr id="16" name="Text 10"/>
          <p:cNvSpPr txBox="1"/>
          <p:nvPr/>
        </p:nvSpPr>
        <p:spPr>
          <a:xfrm>
            <a:off x="7406640" y="3685032"/>
            <a:ext cx="4233672" cy="457200"/>
          </a:xfrm>
          <a:prstGeom prst="rect">
            <a:avLst/>
          </a:prstGeom>
          <a:noFill/>
          <a:ln/>
        </p:spPr>
        <p:txBody>
          <a:bodyPr wrap="square" lIns="0" tIns="0" rIns="0" bIns="0" rtlCol="0" anchor="t"/>
          <a:lstStyle/>
          <a:p>
            <a:pPr indent="0" marL="0">
              <a:buNone/>
            </a:pPr>
            <a:r>
              <a:rPr lang="en-US" sz="1200" dirty="0">
                <a:solidFill>
                  <a:schemeClr val="tx2"/>
                </a:solidFill>
              </a:rPr>
              <a:t>on a park rate contract; 3% year-end rebate above 50,000 m²</a:t>
            </a:r>
            <a:endParaRPr lang="en-US" sz="1200" dirty="0"/>
          </a:p>
        </p:txBody>
      </p:sp>
      <p:sp>
        <p:nvSpPr>
          <p:cNvPr id="17" name="hex-FaCheckCircle"/>
          <p:cNvSpPr/>
          <p:nvPr/>
        </p:nvSpPr>
        <p:spPr>
          <a:xfrm>
            <a:off x="6720840" y="4242816"/>
            <a:ext cx="512064" cy="450616"/>
          </a:xfrm>
          <a:prstGeom prst="hexagon">
            <a:avLst/>
          </a:prstGeom>
          <a:solidFill>
            <a:schemeClr val="accent1"/>
          </a:solidFill>
          <a:ln w="12700">
            <a:solidFill>
              <a:schemeClr val="accent1"/>
            </a:solidFill>
            <a:prstDash val="solid"/>
          </a:ln>
        </p:spPr>
      </p:sp>
      <p:pic>
        <p:nvPicPr>
          <p:cNvPr id="18" name="Image 3" descr="CheckCircle">    </p:cNvPr>
          <p:cNvPicPr>
            <a:picLocks noChangeAspect="1"/>
          </p:cNvPicPr>
          <p:nvPr/>
        </p:nvPicPr>
        <p:blipFill>
          <a:blip r:embed="rId4"/>
          <a:stretch>
            <a:fillRect/>
          </a:stretch>
        </p:blipFill>
        <p:spPr>
          <a:xfrm>
            <a:off x="6859097" y="4350349"/>
            <a:ext cx="235549" cy="235549"/>
          </a:xfrm>
          <a:prstGeom prst="rect">
            <a:avLst/>
          </a:prstGeom>
        </p:spPr>
      </p:pic>
      <p:sp>
        <p:nvSpPr>
          <p:cNvPr id="19" name="Text 12"/>
          <p:cNvSpPr txBox="1"/>
          <p:nvPr/>
        </p:nvSpPr>
        <p:spPr>
          <a:xfrm>
            <a:off x="7406640" y="4224528"/>
            <a:ext cx="4233672" cy="310896"/>
          </a:xfrm>
          <a:prstGeom prst="rect">
            <a:avLst/>
          </a:prstGeom>
          <a:noFill/>
          <a:ln/>
        </p:spPr>
        <p:txBody>
          <a:bodyPr wrap="square" lIns="0" tIns="0" rIns="0" bIns="0" rtlCol="0" anchor="t"/>
          <a:lstStyle/>
          <a:p>
            <a:pPr indent="0" marL="0">
              <a:buNone/>
            </a:pPr>
            <a:r>
              <a:rPr lang="en-US" sz="1400" b="1" dirty="0">
                <a:solidFill>
                  <a:schemeClr val="tx1"/>
                </a:solidFill>
              </a:rPr>
              <a:t>₹4.6 L credited back</a:t>
            </a:r>
            <a:endParaRPr lang="en-US" sz="1400" dirty="0"/>
          </a:p>
        </p:txBody>
      </p:sp>
      <p:sp>
        <p:nvSpPr>
          <p:cNvPr id="20" name="Text 13"/>
          <p:cNvSpPr txBox="1"/>
          <p:nvPr/>
        </p:nvSpPr>
        <p:spPr>
          <a:xfrm>
            <a:off x="7406640" y="4535424"/>
            <a:ext cx="4233672" cy="457200"/>
          </a:xfrm>
          <a:prstGeom prst="rect">
            <a:avLst/>
          </a:prstGeom>
          <a:noFill/>
          <a:ln/>
        </p:spPr>
        <p:txBody>
          <a:bodyPr wrap="square" lIns="0" tIns="0" rIns="0" bIns="0" rtlCol="0" anchor="t"/>
          <a:lstStyle/>
          <a:p>
            <a:pPr indent="0" marL="0">
              <a:buNone/>
            </a:pPr>
            <a:r>
              <a:rPr lang="en-US" sz="1200" dirty="0">
                <a:solidFill>
                  <a:schemeClr val="tx2"/>
                </a:solidFill>
              </a:rPr>
              <a:t>10% of pilot grid value off the first order of 25,000 m² or more</a:t>
            </a:r>
            <a:endParaRPr lang="en-US" sz="1200" dirty="0"/>
          </a:p>
        </p:txBody>
      </p:sp>
      <p:sp>
        <p:nvSpPr>
          <p:cNvPr id="21" name="hex-FaShieldAlt"/>
          <p:cNvSpPr/>
          <p:nvPr/>
        </p:nvSpPr>
        <p:spPr>
          <a:xfrm>
            <a:off x="6720840" y="5093208"/>
            <a:ext cx="512064" cy="450616"/>
          </a:xfrm>
          <a:prstGeom prst="hexagon">
            <a:avLst/>
          </a:prstGeom>
          <a:solidFill>
            <a:schemeClr val="accent2"/>
          </a:solidFill>
          <a:ln w="12700">
            <a:solidFill>
              <a:schemeClr val="accent2"/>
            </a:solidFill>
            <a:prstDash val="solid"/>
          </a:ln>
        </p:spPr>
      </p:sp>
      <p:pic>
        <p:nvPicPr>
          <p:cNvPr id="22" name="Image 4" descr="ShieldAlt">    </p:cNvPr>
          <p:cNvPicPr>
            <a:picLocks noChangeAspect="1"/>
          </p:cNvPicPr>
          <p:nvPr/>
        </p:nvPicPr>
        <p:blipFill>
          <a:blip r:embed="rId5"/>
          <a:stretch>
            <a:fillRect/>
          </a:stretch>
        </p:blipFill>
        <p:spPr>
          <a:xfrm>
            <a:off x="6859097" y="5200741"/>
            <a:ext cx="235549" cy="235549"/>
          </a:xfrm>
          <a:prstGeom prst="rect">
            <a:avLst/>
          </a:prstGeom>
        </p:spPr>
      </p:pic>
      <p:sp>
        <p:nvSpPr>
          <p:cNvPr id="23" name="Text 15"/>
          <p:cNvSpPr txBox="1"/>
          <p:nvPr/>
        </p:nvSpPr>
        <p:spPr>
          <a:xfrm>
            <a:off x="7406640" y="5074920"/>
            <a:ext cx="4233672" cy="310896"/>
          </a:xfrm>
          <a:prstGeom prst="rect">
            <a:avLst/>
          </a:prstGeom>
          <a:noFill/>
          <a:ln/>
        </p:spPr>
        <p:txBody>
          <a:bodyPr wrap="square" lIns="0" tIns="0" rIns="0" bIns="0" rtlCol="0" anchor="t"/>
          <a:lstStyle/>
          <a:p>
            <a:pPr indent="0" marL="0">
              <a:buNone/>
            </a:pPr>
            <a:r>
              <a:rPr lang="en-US" sz="1400" b="1" dirty="0">
                <a:solidFill>
                  <a:schemeClr val="tx1"/>
                </a:solidFill>
              </a:rPr>
              <a:t>Pilot road saves ₹27.7 L (PV)</a:t>
            </a:r>
            <a:endParaRPr lang="en-US" sz="1400" dirty="0"/>
          </a:p>
        </p:txBody>
      </p:sp>
      <p:sp>
        <p:nvSpPr>
          <p:cNvPr id="24" name="Text 16"/>
          <p:cNvSpPr txBox="1"/>
          <p:nvPr/>
        </p:nvSpPr>
        <p:spPr>
          <a:xfrm>
            <a:off x="7406640" y="5385816"/>
            <a:ext cx="4233672" cy="457200"/>
          </a:xfrm>
          <a:prstGeom prst="rect">
            <a:avLst/>
          </a:prstGeom>
          <a:noFill/>
          <a:ln/>
        </p:spPr>
        <p:txBody>
          <a:bodyPr wrap="square" lIns="0" tIns="0" rIns="0" bIns="0" rtlCol="0" anchor="t"/>
          <a:lstStyle/>
          <a:p>
            <a:pPr indent="0" marL="0">
              <a:buNone/>
            </a:pPr>
            <a:r>
              <a:rPr lang="en-US" sz="1200" dirty="0">
                <a:solidFill>
                  <a:schemeClr val="tx2"/>
                </a:solidFill>
              </a:rPr>
              <a:t>over 25 years against building the same 1 km conventionally</a:t>
            </a:r>
            <a:endParaRPr lang="en-US" sz="1200" dirty="0"/>
          </a:p>
        </p:txBody>
      </p:sp>
      <p:sp>
        <p:nvSpPr>
          <p:cNvPr id="25" name="source"/>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Civil works by Reliance's EPC, indicative ₹42.3 L; total pilot budget about ₹97.7 L. 12-month defect liability with joint inspections at 6 and 12 months. GST extra.</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How we will judge success</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Agreed up front, measured jointly, reported at 6 and 12 months against the control sections.</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2011680"/>
                <a:gridCol w="4572000"/>
              </a:tblGrid>
              <a:tr h="475488">
                <a:tc>
                  <a:txBody>
                    <a:bodyPr/>
                    <a:lstStyle/>
                    <a:p>
                      <a:pPr indent="0" marL="0">
                        <a:buNone/>
                      </a:pPr>
                      <a:r>
                        <a:rPr lang="en-US" sz="1300" b="1" dirty="0">
                          <a:solidFill>
                            <a:srgbClr val="FFFFFF"/>
                          </a:solidFill>
                          <a:latin typeface="Arial" pitchFamily="34" charset="0"/>
                          <a:ea typeface="Arial" pitchFamily="34" charset="-122"/>
                          <a:cs typeface="Arial" pitchFamily="34" charset="-120"/>
                        </a:rPr>
                        <a:t>Measure</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3F3F3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Success looks like</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C22935"/>
                    </a:solidFill>
                  </a:tcPr>
                </a:tc>
              </a:tr>
              <a:tr h="475488">
                <a:tc>
                  <a:txBody>
                    <a:bodyPr/>
                    <a:lstStyle/>
                    <a:p>
                      <a:pPr indent="0" marL="0">
                        <a:buNone/>
                      </a:pPr>
                      <a:r>
                        <a:rPr lang="en-US" sz="1300" b="1" dirty="0">
                          <a:solidFill>
                            <a:srgbClr val="1A1A1A"/>
                          </a:solidFill>
                          <a:latin typeface="Arial" pitchFamily="34" charset="0"/>
                          <a:ea typeface="Arial" pitchFamily="34" charset="-122"/>
                          <a:cs typeface="Arial" pitchFamily="34" charset="-120"/>
                        </a:rPr>
                        <a:t>Rut depth</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 10 mm at 12 months</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475488">
                <a:tc>
                  <a:txBody>
                    <a:bodyPr/>
                    <a:lstStyle/>
                    <a:p>
                      <a:pPr indent="0" marL="0">
                        <a:buNone/>
                      </a:pPr>
                      <a:r>
                        <a:rPr lang="en-US" sz="1300" b="1" dirty="0">
                          <a:solidFill>
                            <a:srgbClr val="1A1A1A"/>
                          </a:solidFill>
                          <a:latin typeface="Arial" pitchFamily="34" charset="0"/>
                          <a:ea typeface="Arial" pitchFamily="34" charset="-122"/>
                          <a:cs typeface="Arial" pitchFamily="34" charset="-120"/>
                        </a:rPr>
                        <a:t>Exposed cell tops</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 5% of area</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475488">
                <a:tc>
                  <a:txBody>
                    <a:bodyPr/>
                    <a:lstStyle/>
                    <a:p>
                      <a:pPr indent="0" marL="0">
                        <a:buNone/>
                      </a:pPr>
                      <a:r>
                        <a:rPr lang="en-US" sz="1300" b="1" dirty="0">
                          <a:solidFill>
                            <a:srgbClr val="1A1A1A"/>
                          </a:solidFill>
                          <a:latin typeface="Arial" pitchFamily="34" charset="0"/>
                          <a:ea typeface="Arial" pitchFamily="34" charset="-122"/>
                          <a:cs typeface="Arial" pitchFamily="34" charset="-120"/>
                        </a:rPr>
                        <a:t>Drainage</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No standing water 1 hour after rain</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475488">
                <a:tc>
                  <a:txBody>
                    <a:bodyPr/>
                    <a:lstStyle/>
                    <a:p>
                      <a:pPr indent="0" marL="0">
                        <a:buNone/>
                      </a:pPr>
                      <a:r>
                        <a:rPr lang="en-US" sz="1300" b="1" dirty="0">
                          <a:solidFill>
                            <a:srgbClr val="1A1A1A"/>
                          </a:solidFill>
                          <a:latin typeface="Arial" pitchFamily="34" charset="0"/>
                          <a:ea typeface="Arial" pitchFamily="34" charset="-122"/>
                          <a:cs typeface="Arial" pitchFamily="34" charset="-120"/>
                        </a:rPr>
                        <a:t>Cracking</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None crossing more than 3 cells</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475488">
                <a:tc>
                  <a:txBody>
                    <a:bodyPr/>
                    <a:lstStyle/>
                    <a:p>
                      <a:pPr indent="0" marL="0">
                        <a:buNone/>
                      </a:pPr>
                      <a:r>
                        <a:rPr lang="en-US" sz="1300" b="1" dirty="0">
                          <a:solidFill>
                            <a:srgbClr val="1A1A1A"/>
                          </a:solidFill>
                          <a:latin typeface="Arial" pitchFamily="34" charset="0"/>
                          <a:ea typeface="Arial" pitchFamily="34" charset="-122"/>
                          <a:cs typeface="Arial" pitchFamily="34" charset="-120"/>
                        </a:rPr>
                        <a:t>Dust and soiling</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Lower dust deposition and soiling on rows near GridMats than near WBM</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475488">
                <a:tc>
                  <a:txBody>
                    <a:bodyPr/>
                    <a:lstStyle/>
                    <a:p>
                      <a:pPr indent="0" marL="0">
                        <a:buNone/>
                      </a:pPr>
                      <a:r>
                        <a:rPr lang="en-US" sz="1300" b="1" dirty="0">
                          <a:solidFill>
                            <a:srgbClr val="1A1A1A"/>
                          </a:solidFill>
                          <a:latin typeface="Arial" pitchFamily="34" charset="0"/>
                          <a:ea typeface="Arial" pitchFamily="34" charset="-122"/>
                          <a:cs typeface="Arial" pitchFamily="34" charset="-120"/>
                        </a:rPr>
                        <a:t>Upkeep</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Fewer maintenance events and lower cost than control sections</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475488">
                <a:tc>
                  <a:txBody>
                    <a:bodyPr/>
                    <a:lstStyle/>
                    <a:p>
                      <a:pPr indent="0" marL="0">
                        <a:buNone/>
                      </a:pPr>
                      <a:r>
                        <a:rPr lang="en-US" sz="1300" b="1" dirty="0">
                          <a:solidFill>
                            <a:srgbClr val="1A1A1A"/>
                          </a:solidFill>
                          <a:latin typeface="Arial" pitchFamily="34" charset="0"/>
                          <a:ea typeface="Arial" pitchFamily="34" charset="-122"/>
                          <a:cs typeface="Arial" pitchFamily="34" charset="-120"/>
                        </a:rPr>
                        <a:t>Solar Walkway</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Measured W/m², kWh/m²/day, module heat, grip, uptime</a:t>
                      </a:r>
                      <a:endParaRPr lang="en-US" sz="13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bl>
          </a:graphicData>
        </a:graphic>
      </p:graphicFrame>
      <p:sp>
        <p:nvSpPr>
          <p:cNvPr id="5" name="dash-card"/>
          <p:cNvSpPr/>
          <p:nvPr/>
        </p:nvSpPr>
        <p:spPr>
          <a:xfrm>
            <a:off x="7498080" y="1691640"/>
            <a:ext cx="4142232" cy="3703320"/>
          </a:xfrm>
          <a:prstGeom prst="roundRect">
            <a:avLst>
              <a:gd name="adj" fmla="val 1975"/>
            </a:avLst>
          </a:prstGeom>
          <a:solidFill>
            <a:schemeClr val="tx1"/>
          </a:solidFill>
          <a:ln w="12700">
            <a:solidFill>
              <a:schemeClr val="tx1"/>
            </a:solidFill>
            <a:prstDash val="solid"/>
          </a:ln>
        </p:spPr>
      </p:sp>
      <p:sp>
        <p:nvSpPr>
          <p:cNvPr id="6" name="hex-FaMicrochip"/>
          <p:cNvSpPr/>
          <p:nvPr/>
        </p:nvSpPr>
        <p:spPr>
          <a:xfrm>
            <a:off x="7726680" y="1874520"/>
            <a:ext cx="566928" cy="498897"/>
          </a:xfrm>
          <a:prstGeom prst="hexagon">
            <a:avLst/>
          </a:prstGeom>
          <a:solidFill>
            <a:schemeClr val="accent1"/>
          </a:solidFill>
          <a:ln w="12700">
            <a:solidFill>
              <a:schemeClr val="accent1"/>
            </a:solidFill>
            <a:prstDash val="solid"/>
          </a:ln>
        </p:spPr>
      </p:sp>
      <p:pic>
        <p:nvPicPr>
          <p:cNvPr id="7" name="Image 0" descr="Microchip">    </p:cNvPr>
          <p:cNvPicPr>
            <a:picLocks noChangeAspect="1"/>
          </p:cNvPicPr>
          <p:nvPr/>
        </p:nvPicPr>
        <p:blipFill>
          <a:blip r:embed="rId1"/>
          <a:stretch>
            <a:fillRect/>
          </a:stretch>
        </p:blipFill>
        <p:spPr>
          <a:xfrm>
            <a:off x="7879751" y="1993575"/>
            <a:ext cx="260787" cy="260787"/>
          </a:xfrm>
          <a:prstGeom prst="rect">
            <a:avLst/>
          </a:prstGeom>
        </p:spPr>
      </p:pic>
      <p:sp>
        <p:nvSpPr>
          <p:cNvPr id="8" name="Text 4"/>
          <p:cNvSpPr txBox="1"/>
          <p:nvPr/>
        </p:nvSpPr>
        <p:spPr>
          <a:xfrm>
            <a:off x="8458200" y="1920240"/>
            <a:ext cx="3017520" cy="457200"/>
          </a:xfrm>
          <a:prstGeom prst="rect">
            <a:avLst/>
          </a:prstGeom>
          <a:noFill/>
          <a:ln/>
        </p:spPr>
        <p:txBody>
          <a:bodyPr wrap="square" lIns="0" tIns="0" rIns="0" bIns="0" rtlCol="0" anchor="ctr"/>
          <a:lstStyle/>
          <a:p>
            <a:pPr indent="0" marL="0">
              <a:buNone/>
            </a:pPr>
            <a:r>
              <a:rPr lang="en-US" sz="1800" b="1" dirty="0">
                <a:solidFill>
                  <a:schemeClr val="bg1"/>
                </a:solidFill>
              </a:rPr>
              <a:t>Live pilot dashboard</a:t>
            </a:r>
            <a:endParaRPr lang="en-US" sz="1800" dirty="0"/>
          </a:p>
        </p:txBody>
      </p:sp>
      <p:sp>
        <p:nvSpPr>
          <p:cNvPr id="9" name="Text 5"/>
          <p:cNvSpPr txBox="1"/>
          <p:nvPr/>
        </p:nvSpPr>
        <p:spPr>
          <a:xfrm>
            <a:off x="7726680" y="2651760"/>
            <a:ext cx="374904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Temperature, humidity and subgrade moisture</a:t>
            </a:r>
            <a:endParaRPr lang="en-US" sz="1400" dirty="0"/>
          </a:p>
          <a:p>
            <a:pPr marL="342900" indent="-342900">
              <a:spcAft>
                <a:spcPts val="600"/>
              </a:spcAft>
              <a:buSzPct val="100000"/>
              <a:buChar char="•"/>
            </a:pPr>
            <a:r>
              <a:rPr lang="en-US" sz="1400" dirty="0">
                <a:solidFill>
                  <a:schemeClr val="bg1"/>
                </a:solidFill>
              </a:rPr>
              <a:t>Vibration from passing trucks</a:t>
            </a:r>
            <a:endParaRPr lang="en-US" sz="1400" dirty="0"/>
          </a:p>
          <a:p>
            <a:pPr marL="342900" indent="-342900">
              <a:spcAft>
                <a:spcPts val="600"/>
              </a:spcAft>
              <a:buSzPct val="100000"/>
              <a:buChar char="•"/>
            </a:pPr>
            <a:r>
              <a:rPr lang="en-US" sz="1400" dirty="0">
                <a:solidFill>
                  <a:schemeClr val="bg1"/>
                </a:solidFill>
              </a:rPr>
              <a:t>Rainfall and flood alerts</a:t>
            </a:r>
            <a:endParaRPr lang="en-US" sz="1400" dirty="0"/>
          </a:p>
          <a:p>
            <a:pPr marL="342900" indent="-342900">
              <a:spcAft>
                <a:spcPts val="600"/>
              </a:spcAft>
              <a:buSzPct val="100000"/>
              <a:buChar char="•"/>
            </a:pPr>
            <a:r>
              <a:rPr lang="en-US" sz="1400" dirty="0">
                <a:solidFill>
                  <a:schemeClr val="bg1"/>
                </a:solidFill>
              </a:rPr>
              <a:t>Site map with every sensor</a:t>
            </a:r>
            <a:endParaRPr lang="en-US" sz="1400" dirty="0"/>
          </a:p>
          <a:p>
            <a:pPr marL="342900" indent="-342900">
              <a:spcAft>
                <a:spcPts val="600"/>
              </a:spcAft>
              <a:buSzPct val="100000"/>
              <a:buChar char="•"/>
            </a:pPr>
            <a:r>
              <a:rPr lang="en-US" sz="1400" dirty="0">
                <a:solidFill>
                  <a:schemeClr val="bg1"/>
                </a:solidFill>
              </a:rPr>
              <a:t>Readings Reliance can export at any time</a:t>
            </a:r>
            <a:endParaRPr lang="en-US" sz="1400" dirty="0"/>
          </a:p>
        </p:txBody>
      </p:sp>
      <p:sp>
        <p:nvSpPr>
          <p:cNvPr id="10" name="Text 6"/>
          <p:cNvSpPr txBox="1"/>
          <p:nvPr/>
        </p:nvSpPr>
        <p:spPr>
          <a:xfrm>
            <a:off x="7726680" y="4663440"/>
            <a:ext cx="3749040" cy="548640"/>
          </a:xfrm>
          <a:prstGeom prst="rect">
            <a:avLst/>
          </a:prstGeom>
          <a:noFill/>
          <a:ln/>
        </p:spPr>
        <p:txBody>
          <a:bodyPr wrap="square" lIns="0" tIns="0" rIns="0" bIns="0" rtlCol="0" anchor="t"/>
          <a:lstStyle/>
          <a:p>
            <a:pPr indent="0" marL="0">
              <a:buNone/>
            </a:pPr>
            <a:r>
              <a:rPr lang="en-US" sz="1200" i="1" dirty="0">
                <a:solidFill>
                  <a:schemeClr val="bg2"/>
                </a:solidFill>
              </a:rPr>
              <a:t>GridMats Pavement Monitor, already running on GridMats sites.</a:t>
            </a:r>
            <a:endParaRPr lang="en-US" sz="1200" dirty="0"/>
          </a:p>
        </p:txBody>
      </p:sp>
      <p:sp>
        <p:nvSpPr>
          <p:cNvPr id="11" name="source"/>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Thresholds from the GridMats Systems Manual maintenance limits. Dashboard: GridMats Pavement Monitor (temperature, humidity, moisture, CO2, vibration, rainfall, light, flood).</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Lessons from 2025, built in</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What we changed so the pilot runs to plan.</a:t>
            </a:r>
            <a:endParaRPr lang="en-US" sz="1600" dirty="0"/>
          </a:p>
        </p:txBody>
      </p:sp>
      <p:sp>
        <p:nvSpPr>
          <p:cNvPr id="4" name="hex-FaCalendarCheck"/>
          <p:cNvSpPr/>
          <p:nvPr/>
        </p:nvSpPr>
        <p:spPr>
          <a:xfrm>
            <a:off x="548640" y="1783080"/>
            <a:ext cx="603504" cy="531084"/>
          </a:xfrm>
          <a:prstGeom prst="hexagon">
            <a:avLst/>
          </a:prstGeom>
          <a:solidFill>
            <a:schemeClr val="accent1"/>
          </a:solidFill>
          <a:ln w="12700">
            <a:solidFill>
              <a:schemeClr val="accent1"/>
            </a:solidFill>
            <a:prstDash val="solid"/>
          </a:ln>
        </p:spPr>
      </p:sp>
      <p:pic>
        <p:nvPicPr>
          <p:cNvPr id="5" name="Image 0" descr="CalendarCheck">    </p:cNvPr>
          <p:cNvPicPr>
            <a:picLocks noChangeAspect="1"/>
          </p:cNvPicPr>
          <p:nvPr/>
        </p:nvPicPr>
        <p:blipFill>
          <a:blip r:embed="rId1"/>
          <a:stretch>
            <a:fillRect/>
          </a:stretch>
        </p:blipFill>
        <p:spPr>
          <a:xfrm>
            <a:off x="711586" y="1909816"/>
            <a:ext cx="277612" cy="277612"/>
          </a:xfrm>
          <a:prstGeom prst="rect">
            <a:avLst/>
          </a:prstGeom>
        </p:spPr>
      </p:pic>
      <p:sp>
        <p:nvSpPr>
          <p:cNvPr id="6" name="Text 3"/>
          <p:cNvSpPr txBox="1"/>
          <p:nvPr/>
        </p:nvSpPr>
        <p:spPr>
          <a:xfrm>
            <a:off x="1353312" y="1764792"/>
            <a:ext cx="4572000" cy="329184"/>
          </a:xfrm>
          <a:prstGeom prst="rect">
            <a:avLst/>
          </a:prstGeom>
          <a:noFill/>
          <a:ln/>
        </p:spPr>
        <p:txBody>
          <a:bodyPr wrap="square" lIns="0" tIns="0" rIns="0" bIns="0" rtlCol="0" anchor="t"/>
          <a:lstStyle/>
          <a:p>
            <a:pPr indent="0" marL="0">
              <a:buNone/>
            </a:pPr>
            <a:r>
              <a:rPr lang="en-US" sz="1600" b="1" dirty="0">
                <a:solidFill>
                  <a:schemeClr val="tx1"/>
                </a:solidFill>
              </a:rPr>
              <a:t>Supply on time</a:t>
            </a:r>
            <a:endParaRPr lang="en-US" sz="1600" dirty="0"/>
          </a:p>
        </p:txBody>
      </p:sp>
      <p:sp>
        <p:nvSpPr>
          <p:cNvPr id="7" name="Text 4"/>
          <p:cNvSpPr txBox="1"/>
          <p:nvPr/>
        </p:nvSpPr>
        <p:spPr>
          <a:xfrm>
            <a:off x="1353312" y="2112264"/>
            <a:ext cx="4572000" cy="868680"/>
          </a:xfrm>
          <a:prstGeom prst="rect">
            <a:avLst/>
          </a:prstGeom>
          <a:noFill/>
          <a:ln/>
        </p:spPr>
        <p:txBody>
          <a:bodyPr wrap="square" lIns="0" tIns="0" rIns="0" bIns="0" rtlCol="0" anchor="t"/>
          <a:lstStyle/>
          <a:p>
            <a:pPr indent="0" marL="0">
              <a:buNone/>
            </a:pPr>
            <a:r>
              <a:rPr lang="en-US" sz="1300" dirty="0">
                <a:solidFill>
                  <a:schemeClr val="tx2"/>
                </a:solidFill>
              </a:rPr>
              <a:t>QAP, test reports and a factory-inspection slot are cleared before the PO, and the dispatch date is fixed in the PO once the site is ready.</a:t>
            </a:r>
            <a:endParaRPr lang="en-US" sz="1300" dirty="0"/>
          </a:p>
        </p:txBody>
      </p:sp>
      <p:sp>
        <p:nvSpPr>
          <p:cNvPr id="8" name="hex-FaCubes"/>
          <p:cNvSpPr/>
          <p:nvPr/>
        </p:nvSpPr>
        <p:spPr>
          <a:xfrm>
            <a:off x="548640" y="3154680"/>
            <a:ext cx="603504" cy="531084"/>
          </a:xfrm>
          <a:prstGeom prst="hexagon">
            <a:avLst/>
          </a:prstGeom>
          <a:solidFill>
            <a:schemeClr val="accent1"/>
          </a:solidFill>
          <a:ln w="12700">
            <a:solidFill>
              <a:schemeClr val="accent1"/>
            </a:solidFill>
            <a:prstDash val="solid"/>
          </a:ln>
        </p:spPr>
      </p:sp>
      <p:pic>
        <p:nvPicPr>
          <p:cNvPr id="9" name="Image 1" descr="Cubes">    </p:cNvPr>
          <p:cNvPicPr>
            <a:picLocks noChangeAspect="1"/>
          </p:cNvPicPr>
          <p:nvPr/>
        </p:nvPicPr>
        <p:blipFill>
          <a:blip r:embed="rId2"/>
          <a:stretch>
            <a:fillRect/>
          </a:stretch>
        </p:blipFill>
        <p:spPr>
          <a:xfrm>
            <a:off x="711586" y="3281416"/>
            <a:ext cx="277612" cy="277612"/>
          </a:xfrm>
          <a:prstGeom prst="rect">
            <a:avLst/>
          </a:prstGeom>
        </p:spPr>
      </p:pic>
      <p:sp>
        <p:nvSpPr>
          <p:cNvPr id="10" name="Text 6"/>
          <p:cNvSpPr txBox="1"/>
          <p:nvPr/>
        </p:nvSpPr>
        <p:spPr>
          <a:xfrm>
            <a:off x="1353312" y="3136392"/>
            <a:ext cx="4572000" cy="329184"/>
          </a:xfrm>
          <a:prstGeom prst="rect">
            <a:avLst/>
          </a:prstGeom>
          <a:noFill/>
          <a:ln/>
        </p:spPr>
        <p:txBody>
          <a:bodyPr wrap="square" lIns="0" tIns="0" rIns="0" bIns="0" rtlCol="0" anchor="t"/>
          <a:lstStyle/>
          <a:p>
            <a:pPr indent="0" marL="0">
              <a:buNone/>
            </a:pPr>
            <a:r>
              <a:rPr lang="en-US" sz="1600" b="1" dirty="0">
                <a:solidFill>
                  <a:schemeClr val="tx1"/>
                </a:solidFill>
              </a:rPr>
              <a:t>Right aggregate</a:t>
            </a:r>
            <a:endParaRPr lang="en-US" sz="1600" dirty="0"/>
          </a:p>
        </p:txBody>
      </p:sp>
      <p:sp>
        <p:nvSpPr>
          <p:cNvPr id="11" name="Text 7"/>
          <p:cNvSpPr txBox="1"/>
          <p:nvPr/>
        </p:nvSpPr>
        <p:spPr>
          <a:xfrm>
            <a:off x="1353312" y="3483864"/>
            <a:ext cx="4572000" cy="868680"/>
          </a:xfrm>
          <a:prstGeom prst="rect">
            <a:avLst/>
          </a:prstGeom>
          <a:noFill/>
          <a:ln/>
        </p:spPr>
        <p:txBody>
          <a:bodyPr wrap="square" lIns="0" tIns="0" rIns="0" bIns="0" rtlCol="0" anchor="t"/>
          <a:lstStyle/>
          <a:p>
            <a:pPr indent="0" marL="0">
              <a:buNone/>
            </a:pPr>
            <a:r>
              <a:rPr lang="en-US" sz="1300" dirty="0">
                <a:solidFill>
                  <a:schemeClr val="tx2"/>
                </a:solidFill>
              </a:rPr>
              <a:t>8-12 mm chip gradation agreed and sample-tested before dispatch; low fines so chips lock in and stay dust-free.</a:t>
            </a:r>
            <a:endParaRPr lang="en-US" sz="1300" dirty="0"/>
          </a:p>
        </p:txBody>
      </p:sp>
      <p:sp>
        <p:nvSpPr>
          <p:cNvPr id="12" name="hex-FaFlask"/>
          <p:cNvSpPr/>
          <p:nvPr/>
        </p:nvSpPr>
        <p:spPr>
          <a:xfrm>
            <a:off x="548640" y="4526280"/>
            <a:ext cx="603504" cy="531084"/>
          </a:xfrm>
          <a:prstGeom prst="hexagon">
            <a:avLst/>
          </a:prstGeom>
          <a:solidFill>
            <a:schemeClr val="accent1"/>
          </a:solidFill>
          <a:ln w="12700">
            <a:solidFill>
              <a:schemeClr val="accent1"/>
            </a:solidFill>
            <a:prstDash val="solid"/>
          </a:ln>
        </p:spPr>
      </p:sp>
      <p:pic>
        <p:nvPicPr>
          <p:cNvPr id="13" name="Image 2" descr="Flask">    </p:cNvPr>
          <p:cNvPicPr>
            <a:picLocks noChangeAspect="1"/>
          </p:cNvPicPr>
          <p:nvPr/>
        </p:nvPicPr>
        <p:blipFill>
          <a:blip r:embed="rId3"/>
          <a:stretch>
            <a:fillRect/>
          </a:stretch>
        </p:blipFill>
        <p:spPr>
          <a:xfrm>
            <a:off x="711586" y="4653016"/>
            <a:ext cx="277612" cy="277612"/>
          </a:xfrm>
          <a:prstGeom prst="rect">
            <a:avLst/>
          </a:prstGeom>
        </p:spPr>
      </p:pic>
      <p:sp>
        <p:nvSpPr>
          <p:cNvPr id="14" name="Text 9"/>
          <p:cNvSpPr txBox="1"/>
          <p:nvPr/>
        </p:nvSpPr>
        <p:spPr>
          <a:xfrm>
            <a:off x="1353312" y="4507992"/>
            <a:ext cx="4572000" cy="329184"/>
          </a:xfrm>
          <a:prstGeom prst="rect">
            <a:avLst/>
          </a:prstGeom>
          <a:noFill/>
          <a:ln/>
        </p:spPr>
        <p:txBody>
          <a:bodyPr wrap="square" lIns="0" tIns="0" rIns="0" bIns="0" rtlCol="0" anchor="t"/>
          <a:lstStyle/>
          <a:p>
            <a:pPr indent="0" marL="0">
              <a:buNone/>
            </a:pPr>
            <a:r>
              <a:rPr lang="en-US" sz="1600" b="1" dirty="0">
                <a:solidFill>
                  <a:schemeClr val="tx1"/>
                </a:solidFill>
              </a:rPr>
              <a:t>Design on measured soil</a:t>
            </a:r>
            <a:endParaRPr lang="en-US" sz="1600" dirty="0"/>
          </a:p>
        </p:txBody>
      </p:sp>
      <p:sp>
        <p:nvSpPr>
          <p:cNvPr id="15" name="Text 10"/>
          <p:cNvSpPr txBox="1"/>
          <p:nvPr/>
        </p:nvSpPr>
        <p:spPr>
          <a:xfrm>
            <a:off x="1353312" y="4855464"/>
            <a:ext cx="4572000" cy="868680"/>
          </a:xfrm>
          <a:prstGeom prst="rect">
            <a:avLst/>
          </a:prstGeom>
          <a:noFill/>
          <a:ln/>
        </p:spPr>
        <p:txBody>
          <a:bodyPr wrap="square" lIns="0" tIns="0" rIns="0" bIns="0" rtlCol="0" anchor="t"/>
          <a:lstStyle/>
          <a:p>
            <a:pPr indent="0" marL="0">
              <a:buNone/>
            </a:pPr>
            <a:r>
              <a:rPr lang="en-US" sz="1300" dirty="0">
                <a:solidFill>
                  <a:schemeClr val="tx2"/>
                </a:solidFill>
              </a:rPr>
              <a:t>Sections from IITPAVE on the pilot block's measured CBR; WMM added where CBR is below 5%.</a:t>
            </a:r>
            <a:endParaRPr lang="en-US" sz="1300" dirty="0"/>
          </a:p>
        </p:txBody>
      </p:sp>
      <p:sp>
        <p:nvSpPr>
          <p:cNvPr id="16" name="hex-FaHardHat"/>
          <p:cNvSpPr/>
          <p:nvPr/>
        </p:nvSpPr>
        <p:spPr>
          <a:xfrm>
            <a:off x="6217920" y="1783080"/>
            <a:ext cx="603504" cy="531084"/>
          </a:xfrm>
          <a:prstGeom prst="hexagon">
            <a:avLst/>
          </a:prstGeom>
          <a:solidFill>
            <a:schemeClr val="accent1"/>
          </a:solidFill>
          <a:ln w="12700">
            <a:solidFill>
              <a:schemeClr val="accent1"/>
            </a:solidFill>
            <a:prstDash val="solid"/>
          </a:ln>
        </p:spPr>
      </p:sp>
      <p:pic>
        <p:nvPicPr>
          <p:cNvPr id="17" name="Image 3" descr="HardHat">    </p:cNvPr>
          <p:cNvPicPr>
            <a:picLocks noChangeAspect="1"/>
          </p:cNvPicPr>
          <p:nvPr/>
        </p:nvPicPr>
        <p:blipFill>
          <a:blip r:embed="rId4"/>
          <a:stretch>
            <a:fillRect/>
          </a:stretch>
        </p:blipFill>
        <p:spPr>
          <a:xfrm>
            <a:off x="6380866" y="1909816"/>
            <a:ext cx="277612" cy="277612"/>
          </a:xfrm>
          <a:prstGeom prst="rect">
            <a:avLst/>
          </a:prstGeom>
        </p:spPr>
      </p:pic>
      <p:sp>
        <p:nvSpPr>
          <p:cNvPr id="18" name="Text 12"/>
          <p:cNvSpPr txBox="1"/>
          <p:nvPr/>
        </p:nvSpPr>
        <p:spPr>
          <a:xfrm>
            <a:off x="7022592" y="1764792"/>
            <a:ext cx="4572000" cy="329184"/>
          </a:xfrm>
          <a:prstGeom prst="rect">
            <a:avLst/>
          </a:prstGeom>
          <a:noFill/>
          <a:ln/>
        </p:spPr>
        <p:txBody>
          <a:bodyPr wrap="square" lIns="0" tIns="0" rIns="0" bIns="0" rtlCol="0" anchor="t"/>
          <a:lstStyle/>
          <a:p>
            <a:pPr indent="0" marL="0">
              <a:buNone/>
            </a:pPr>
            <a:r>
              <a:rPr lang="en-US" sz="1600" b="1" dirty="0">
                <a:solidFill>
                  <a:schemeClr val="tx1"/>
                </a:solidFill>
              </a:rPr>
              <a:t>Supervision end to end</a:t>
            </a:r>
            <a:endParaRPr lang="en-US" sz="1600" dirty="0"/>
          </a:p>
        </p:txBody>
      </p:sp>
      <p:sp>
        <p:nvSpPr>
          <p:cNvPr id="19" name="Text 13"/>
          <p:cNvSpPr txBox="1"/>
          <p:nvPr/>
        </p:nvSpPr>
        <p:spPr>
          <a:xfrm>
            <a:off x="7022592" y="2112264"/>
            <a:ext cx="4572000" cy="868680"/>
          </a:xfrm>
          <a:prstGeom prst="rect">
            <a:avLst/>
          </a:prstGeom>
          <a:noFill/>
          <a:ln/>
        </p:spPr>
        <p:txBody>
          <a:bodyPr wrap="square" lIns="0" tIns="0" rIns="0" bIns="0" rtlCol="0" anchor="t"/>
          <a:lstStyle/>
          <a:p>
            <a:pPr indent="0" marL="0">
              <a:buNone/>
            </a:pPr>
            <a:r>
              <a:rPr lang="en-US" sz="1300" dirty="0">
                <a:solidFill>
                  <a:schemeClr val="tx2"/>
                </a:solidFill>
              </a:rPr>
              <a:t>A GridMats engineer on site for the whole build with hold-point QC at every layer, not just the first days.</a:t>
            </a:r>
            <a:endParaRPr lang="en-US" sz="1300" dirty="0"/>
          </a:p>
        </p:txBody>
      </p:sp>
      <p:sp>
        <p:nvSpPr>
          <p:cNvPr id="20" name="hex-FaEye"/>
          <p:cNvSpPr/>
          <p:nvPr/>
        </p:nvSpPr>
        <p:spPr>
          <a:xfrm>
            <a:off x="6217920" y="3154680"/>
            <a:ext cx="603504" cy="531084"/>
          </a:xfrm>
          <a:prstGeom prst="hexagon">
            <a:avLst/>
          </a:prstGeom>
          <a:solidFill>
            <a:schemeClr val="accent1"/>
          </a:solidFill>
          <a:ln w="12700">
            <a:solidFill>
              <a:schemeClr val="accent1"/>
            </a:solidFill>
            <a:prstDash val="solid"/>
          </a:ln>
        </p:spPr>
      </p:sp>
      <p:pic>
        <p:nvPicPr>
          <p:cNvPr id="21" name="Image 4" descr="Eye">    </p:cNvPr>
          <p:cNvPicPr>
            <a:picLocks noChangeAspect="1"/>
          </p:cNvPicPr>
          <p:nvPr/>
        </p:nvPicPr>
        <p:blipFill>
          <a:blip r:embed="rId5"/>
          <a:stretch>
            <a:fillRect/>
          </a:stretch>
        </p:blipFill>
        <p:spPr>
          <a:xfrm>
            <a:off x="6380866" y="3281416"/>
            <a:ext cx="277612" cy="277612"/>
          </a:xfrm>
          <a:prstGeom prst="rect">
            <a:avLst/>
          </a:prstGeom>
        </p:spPr>
      </p:pic>
      <p:sp>
        <p:nvSpPr>
          <p:cNvPr id="22" name="Text 15"/>
          <p:cNvSpPr txBox="1"/>
          <p:nvPr/>
        </p:nvSpPr>
        <p:spPr>
          <a:xfrm>
            <a:off x="7022592" y="3136392"/>
            <a:ext cx="4572000" cy="329184"/>
          </a:xfrm>
          <a:prstGeom prst="rect">
            <a:avLst/>
          </a:prstGeom>
          <a:noFill/>
          <a:ln/>
        </p:spPr>
        <p:txBody>
          <a:bodyPr wrap="square" lIns="0" tIns="0" rIns="0" bIns="0" rtlCol="0" anchor="t"/>
          <a:lstStyle/>
          <a:p>
            <a:pPr indent="0" marL="0">
              <a:buNone/>
            </a:pPr>
            <a:r>
              <a:rPr lang="en-US" sz="1600" b="1" dirty="0">
                <a:solidFill>
                  <a:schemeClr val="tx1"/>
                </a:solidFill>
              </a:rPr>
              <a:t>Data, not anecdotes</a:t>
            </a:r>
            <a:endParaRPr lang="en-US" sz="1600" dirty="0"/>
          </a:p>
        </p:txBody>
      </p:sp>
      <p:sp>
        <p:nvSpPr>
          <p:cNvPr id="23" name="Text 16"/>
          <p:cNvSpPr txBox="1"/>
          <p:nvPr/>
        </p:nvSpPr>
        <p:spPr>
          <a:xfrm>
            <a:off x="7022592" y="3483864"/>
            <a:ext cx="4572000" cy="868680"/>
          </a:xfrm>
          <a:prstGeom prst="rect">
            <a:avLst/>
          </a:prstGeom>
          <a:noFill/>
          <a:ln/>
        </p:spPr>
        <p:txBody>
          <a:bodyPr wrap="square" lIns="0" tIns="0" rIns="0" bIns="0" rtlCol="0" anchor="t"/>
          <a:lstStyle/>
          <a:p>
            <a:pPr indent="0" marL="0">
              <a:buNone/>
            </a:pPr>
            <a:r>
              <a:rPr lang="en-US" sz="1300" dirty="0">
                <a:solidFill>
                  <a:schemeClr val="tx2"/>
                </a:solidFill>
              </a:rPr>
              <a:t>Control sections, sensors and joint inspections at 6 and 12 months, so the result is Reliance's own evidence.</a:t>
            </a:r>
            <a:endParaRPr lang="en-US" sz="1300" dirty="0"/>
          </a:p>
        </p:txBody>
      </p:sp>
      <p:sp>
        <p:nvSpPr>
          <p:cNvPr id="24" name="dlp-card"/>
          <p:cNvSpPr/>
          <p:nvPr/>
        </p:nvSpPr>
        <p:spPr>
          <a:xfrm>
            <a:off x="6217920" y="4526280"/>
            <a:ext cx="5422392" cy="1234440"/>
          </a:xfrm>
          <a:prstGeom prst="roundRect">
            <a:avLst>
              <a:gd name="adj" fmla="val 5926"/>
            </a:avLst>
          </a:prstGeom>
          <a:solidFill>
            <a:schemeClr val="accent5"/>
          </a:solidFill>
          <a:ln w="12700">
            <a:solidFill>
              <a:schemeClr val="accent5"/>
            </a:solidFill>
            <a:prstDash val="solid"/>
          </a:ln>
        </p:spPr>
      </p:sp>
      <p:sp>
        <p:nvSpPr>
          <p:cNvPr id="25" name="Text 18"/>
          <p:cNvSpPr txBox="1"/>
          <p:nvPr/>
        </p:nvSpPr>
        <p:spPr>
          <a:xfrm>
            <a:off x="6446520" y="4617720"/>
            <a:ext cx="4983480" cy="1051560"/>
          </a:xfrm>
          <a:prstGeom prst="rect">
            <a:avLst/>
          </a:prstGeom>
          <a:noFill/>
          <a:ln/>
        </p:spPr>
        <p:txBody>
          <a:bodyPr wrap="square" lIns="0" tIns="0" rIns="0" bIns="0" rtlCol="0" anchor="ctr"/>
          <a:lstStyle/>
          <a:p>
            <a:pPr indent="0" marL="0">
              <a:buNone/>
            </a:pPr>
            <a:r>
              <a:rPr lang="en-US" sz="1400" b="1" dirty="0">
                <a:solidFill>
                  <a:schemeClr val="accent1"/>
                </a:solidFill>
              </a:rPr>
              <a:t>Assurance: </a:t>
            </a:r>
            <a:pPr indent="0" marL="0">
              <a:buNone/>
            </a:pPr>
            <a:r>
              <a:rPr lang="en-US" sz="1400" dirty="0">
                <a:solidFill>
                  <a:schemeClr val="tx1"/>
                </a:solidFill>
              </a:rPr>
              <a:t>12-month defect liability from handover with joint inspections at 6 and 12 months; repairs are cell by cell, with no traffic diversion.</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lIns="0" tIns="0" rIns="0" bIns="0" rtlCol="0" anchor="ctr"/>
          <a:lstStyle/>
          <a:p>
            <a:pPr algn="l" indent="0" marL="0">
              <a:buNone/>
            </a:pPr>
            <a:r>
              <a:rPr lang="en-US" sz="3800" b="1" dirty="0">
                <a:solidFill>
                  <a:schemeClr val="bg1"/>
                </a:solidFill>
              </a:rPr>
              <a:t>Next steps</a:t>
            </a:r>
            <a:endParaRPr lang="en-US" sz="3800" dirty="0"/>
          </a:p>
        </p:txBody>
      </p:sp>
      <p:sp>
        <p:nvSpPr>
          <p:cNvPr id="3" name="Text 0"/>
          <p:cNvSpPr/>
          <p:nvPr>
            <p:ph idx="101" type="body" hasCustomPrompt="1"/>
          </p:nvPr>
        </p:nvSpPr>
        <p:spPr>
          <a:xfrm>
            <a:off x="548640" y="1280160"/>
            <a:ext cx="11094415" cy="457200"/>
          </a:xfrm>
          <a:prstGeom prst="rect">
            <a:avLst/>
          </a:prstGeom>
          <a:noFill/>
          <a:ln/>
        </p:spPr>
        <p:txBody>
          <a:bodyPr wrap="square" lIns="0" tIns="0" rIns="0" bIns="0" rtlCol="0" anchor="t"/>
          <a:lstStyle/>
          <a:p>
            <a:pPr indent="0" marL="0">
              <a:buNone/>
            </a:pPr>
            <a:r>
              <a:rPr lang="en-US" sz="1600" dirty="0">
                <a:solidFill>
                  <a:schemeClr val="bg2"/>
                </a:solidFill>
              </a:rPr>
              <a:t>Five steps from this conversation to a measured result.</a:t>
            </a:r>
            <a:endParaRPr lang="en-US" sz="1600" dirty="0"/>
          </a:p>
        </p:txBody>
      </p:sp>
      <p:sp>
        <p:nvSpPr>
          <p:cNvPr id="4" name="step-hex"/>
          <p:cNvSpPr/>
          <p:nvPr/>
        </p:nvSpPr>
        <p:spPr>
          <a:xfrm>
            <a:off x="548640" y="2148840"/>
            <a:ext cx="822960" cy="722376"/>
          </a:xfrm>
          <a:prstGeom prst="hexagon">
            <a:avLst/>
          </a:prstGeom>
          <a:solidFill>
            <a:schemeClr val="accent1"/>
          </a:solidFill>
          <a:ln w="12700">
            <a:solidFill>
              <a:schemeClr val="tx1"/>
            </a:solidFill>
            <a:prstDash val="solid"/>
          </a:ln>
        </p:spPr>
      </p:sp>
      <p:sp>
        <p:nvSpPr>
          <p:cNvPr id="5" name="Text 3"/>
          <p:cNvSpPr txBox="1"/>
          <p:nvPr/>
        </p:nvSpPr>
        <p:spPr>
          <a:xfrm>
            <a:off x="548640" y="2148840"/>
            <a:ext cx="822960" cy="722376"/>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548640" y="3063240"/>
            <a:ext cx="2011680" cy="365760"/>
          </a:xfrm>
          <a:prstGeom prst="rect">
            <a:avLst/>
          </a:prstGeom>
          <a:noFill/>
          <a:ln/>
        </p:spPr>
        <p:txBody>
          <a:bodyPr wrap="square" lIns="0" tIns="0" rIns="0" bIns="0" rtlCol="0" anchor="t"/>
          <a:lstStyle/>
          <a:p>
            <a:pPr indent="0" marL="0">
              <a:buNone/>
            </a:pPr>
            <a:r>
              <a:rPr lang="en-US" sz="1500" b="1" dirty="0">
                <a:solidFill>
                  <a:schemeClr val="bg1"/>
                </a:solidFill>
              </a:rPr>
              <a:t>This month</a:t>
            </a:r>
            <a:endParaRPr lang="en-US" sz="1500" dirty="0"/>
          </a:p>
        </p:txBody>
      </p:sp>
      <p:sp>
        <p:nvSpPr>
          <p:cNvPr id="7" name="Text 5"/>
          <p:cNvSpPr txBox="1"/>
          <p:nvPr/>
        </p:nvSpPr>
        <p:spPr>
          <a:xfrm>
            <a:off x="548640" y="3474720"/>
            <a:ext cx="2011680" cy="1371600"/>
          </a:xfrm>
          <a:prstGeom prst="rect">
            <a:avLst/>
          </a:prstGeom>
          <a:noFill/>
          <a:ln/>
        </p:spPr>
        <p:txBody>
          <a:bodyPr wrap="square" lIns="0" tIns="0" rIns="0" bIns="0" rtlCol="0" anchor="t"/>
          <a:lstStyle/>
          <a:p>
            <a:pPr indent="0" marL="0">
              <a:buNone/>
            </a:pPr>
            <a:r>
              <a:rPr lang="en-US" sz="1400" dirty="0">
                <a:solidFill>
                  <a:schemeClr val="bg2"/>
                </a:solidFill>
              </a:rPr>
              <a:t>Name the pilot block and walkway site, and a Reliance sponsor</a:t>
            </a:r>
            <a:endParaRPr lang="en-US" sz="1400" dirty="0"/>
          </a:p>
        </p:txBody>
      </p:sp>
      <p:sp>
        <p:nvSpPr>
          <p:cNvPr id="8" name="step-hex"/>
          <p:cNvSpPr/>
          <p:nvPr/>
        </p:nvSpPr>
        <p:spPr>
          <a:xfrm>
            <a:off x="2788920" y="2148840"/>
            <a:ext cx="822960" cy="722376"/>
          </a:xfrm>
          <a:prstGeom prst="hexagon">
            <a:avLst/>
          </a:prstGeom>
          <a:solidFill>
            <a:schemeClr val="accent1"/>
          </a:solidFill>
          <a:ln w="12700">
            <a:solidFill>
              <a:schemeClr val="tx1"/>
            </a:solidFill>
            <a:prstDash val="solid"/>
          </a:ln>
        </p:spPr>
      </p:sp>
      <p:sp>
        <p:nvSpPr>
          <p:cNvPr id="9" name="Text 7"/>
          <p:cNvSpPr txBox="1"/>
          <p:nvPr/>
        </p:nvSpPr>
        <p:spPr>
          <a:xfrm>
            <a:off x="2788920" y="2148840"/>
            <a:ext cx="822960" cy="722376"/>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0" name="Text 8"/>
          <p:cNvSpPr txBox="1"/>
          <p:nvPr/>
        </p:nvSpPr>
        <p:spPr>
          <a:xfrm>
            <a:off x="2788920" y="3063240"/>
            <a:ext cx="2011680" cy="365760"/>
          </a:xfrm>
          <a:prstGeom prst="rect">
            <a:avLst/>
          </a:prstGeom>
          <a:noFill/>
          <a:ln/>
        </p:spPr>
        <p:txBody>
          <a:bodyPr wrap="square" lIns="0" tIns="0" rIns="0" bIns="0" rtlCol="0" anchor="t"/>
          <a:lstStyle/>
          <a:p>
            <a:pPr indent="0" marL="0">
              <a:buNone/>
            </a:pPr>
            <a:r>
              <a:rPr lang="en-US" sz="1500" b="1" dirty="0">
                <a:solidFill>
                  <a:schemeClr val="bg1"/>
                </a:solidFill>
              </a:rPr>
              <a:t>Oct-Nov 2026</a:t>
            </a:r>
            <a:endParaRPr lang="en-US" sz="1500" dirty="0"/>
          </a:p>
        </p:txBody>
      </p:sp>
      <p:sp>
        <p:nvSpPr>
          <p:cNvPr id="11" name="Text 9"/>
          <p:cNvSpPr txBox="1"/>
          <p:nvPr/>
        </p:nvSpPr>
        <p:spPr>
          <a:xfrm>
            <a:off x="2788920" y="3474720"/>
            <a:ext cx="2011680" cy="1371600"/>
          </a:xfrm>
          <a:prstGeom prst="rect">
            <a:avLst/>
          </a:prstGeom>
          <a:noFill/>
          <a:ln/>
        </p:spPr>
        <p:txBody>
          <a:bodyPr wrap="square" lIns="0" tIns="0" rIns="0" bIns="0" rtlCol="0" anchor="t"/>
          <a:lstStyle/>
          <a:p>
            <a:pPr indent="0" marL="0">
              <a:buNone/>
            </a:pPr>
            <a:r>
              <a:rPr lang="en-US" sz="1400" dirty="0">
                <a:solidFill>
                  <a:schemeClr val="bg2"/>
                </a:solidFill>
              </a:rPr>
              <a:t>Site walk, CBR and axle-load data; IITPAVE design and BoQ</a:t>
            </a:r>
            <a:endParaRPr lang="en-US" sz="1400" dirty="0"/>
          </a:p>
        </p:txBody>
      </p:sp>
      <p:sp>
        <p:nvSpPr>
          <p:cNvPr id="12" name="step-hex"/>
          <p:cNvSpPr/>
          <p:nvPr/>
        </p:nvSpPr>
        <p:spPr>
          <a:xfrm>
            <a:off x="5029200" y="2148840"/>
            <a:ext cx="822960" cy="722376"/>
          </a:xfrm>
          <a:prstGeom prst="hexagon">
            <a:avLst/>
          </a:prstGeom>
          <a:solidFill>
            <a:schemeClr val="accent1"/>
          </a:solidFill>
          <a:ln w="12700">
            <a:solidFill>
              <a:schemeClr val="tx1"/>
            </a:solidFill>
            <a:prstDash val="solid"/>
          </a:ln>
        </p:spPr>
      </p:sp>
      <p:sp>
        <p:nvSpPr>
          <p:cNvPr id="13" name="Text 11"/>
          <p:cNvSpPr txBox="1"/>
          <p:nvPr/>
        </p:nvSpPr>
        <p:spPr>
          <a:xfrm>
            <a:off x="5029200" y="2148840"/>
            <a:ext cx="822960" cy="722376"/>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Text 12"/>
          <p:cNvSpPr txBox="1"/>
          <p:nvPr/>
        </p:nvSpPr>
        <p:spPr>
          <a:xfrm>
            <a:off x="5029200" y="3063240"/>
            <a:ext cx="2011680" cy="365760"/>
          </a:xfrm>
          <a:prstGeom prst="rect">
            <a:avLst/>
          </a:prstGeom>
          <a:noFill/>
          <a:ln/>
        </p:spPr>
        <p:txBody>
          <a:bodyPr wrap="square" lIns="0" tIns="0" rIns="0" bIns="0" rtlCol="0" anchor="t"/>
          <a:lstStyle/>
          <a:p>
            <a:pPr indent="0" marL="0">
              <a:buNone/>
            </a:pPr>
            <a:r>
              <a:rPr lang="en-US" sz="1500" b="1" dirty="0">
                <a:solidFill>
                  <a:schemeClr val="bg1"/>
                </a:solidFill>
              </a:rPr>
              <a:t>Nov 2026</a:t>
            </a:r>
            <a:endParaRPr lang="en-US" sz="1500" dirty="0"/>
          </a:p>
        </p:txBody>
      </p:sp>
      <p:sp>
        <p:nvSpPr>
          <p:cNvPr id="15" name="Text 13"/>
          <p:cNvSpPr txBox="1"/>
          <p:nvPr/>
        </p:nvSpPr>
        <p:spPr>
          <a:xfrm>
            <a:off x="5029200" y="3474720"/>
            <a:ext cx="2011680" cy="1371600"/>
          </a:xfrm>
          <a:prstGeom prst="rect">
            <a:avLst/>
          </a:prstGeom>
          <a:noFill/>
          <a:ln/>
        </p:spPr>
        <p:txBody>
          <a:bodyPr wrap="square" lIns="0" tIns="0" rIns="0" bIns="0" rtlCol="0" anchor="t"/>
          <a:lstStyle/>
          <a:p>
            <a:pPr indent="0" marL="0">
              <a:buNone/>
            </a:pPr>
            <a:r>
              <a:rPr lang="en-US" sz="1400" dirty="0">
                <a:solidFill>
                  <a:schemeClr val="bg2"/>
                </a:solidFill>
              </a:rPr>
              <a:t>QAP and tests cleared; pilot PO with the dispatch date fixed</a:t>
            </a:r>
            <a:endParaRPr lang="en-US" sz="1400" dirty="0"/>
          </a:p>
        </p:txBody>
      </p:sp>
      <p:sp>
        <p:nvSpPr>
          <p:cNvPr id="16" name="step-hex"/>
          <p:cNvSpPr/>
          <p:nvPr/>
        </p:nvSpPr>
        <p:spPr>
          <a:xfrm>
            <a:off x="7269480" y="2148840"/>
            <a:ext cx="822960" cy="722376"/>
          </a:xfrm>
          <a:prstGeom prst="hexagon">
            <a:avLst/>
          </a:prstGeom>
          <a:solidFill>
            <a:schemeClr val="accent1"/>
          </a:solidFill>
          <a:ln w="12700">
            <a:solidFill>
              <a:schemeClr val="tx1"/>
            </a:solidFill>
            <a:prstDash val="solid"/>
          </a:ln>
        </p:spPr>
      </p:sp>
      <p:sp>
        <p:nvSpPr>
          <p:cNvPr id="17" name="Text 15"/>
          <p:cNvSpPr txBox="1"/>
          <p:nvPr/>
        </p:nvSpPr>
        <p:spPr>
          <a:xfrm>
            <a:off x="7269480" y="2148840"/>
            <a:ext cx="822960" cy="722376"/>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8" name="Text 16"/>
          <p:cNvSpPr txBox="1"/>
          <p:nvPr/>
        </p:nvSpPr>
        <p:spPr>
          <a:xfrm>
            <a:off x="7269480" y="3063240"/>
            <a:ext cx="2011680" cy="365760"/>
          </a:xfrm>
          <a:prstGeom prst="rect">
            <a:avLst/>
          </a:prstGeom>
          <a:noFill/>
          <a:ln/>
        </p:spPr>
        <p:txBody>
          <a:bodyPr wrap="square" lIns="0" tIns="0" rIns="0" bIns="0" rtlCol="0" anchor="t"/>
          <a:lstStyle/>
          <a:p>
            <a:pPr indent="0" marL="0">
              <a:buNone/>
            </a:pPr>
            <a:r>
              <a:rPr lang="en-US" sz="1500" b="1" dirty="0">
                <a:solidFill>
                  <a:schemeClr val="bg1"/>
                </a:solidFill>
              </a:rPr>
              <a:t>Dec 2026-Jan 2027</a:t>
            </a:r>
            <a:endParaRPr lang="en-US" sz="1500" dirty="0"/>
          </a:p>
        </p:txBody>
      </p:sp>
      <p:sp>
        <p:nvSpPr>
          <p:cNvPr id="19" name="Text 17"/>
          <p:cNvSpPr txBox="1"/>
          <p:nvPr/>
        </p:nvSpPr>
        <p:spPr>
          <a:xfrm>
            <a:off x="7269480" y="3474720"/>
            <a:ext cx="2011680" cy="1371600"/>
          </a:xfrm>
          <a:prstGeom prst="rect">
            <a:avLst/>
          </a:prstGeom>
          <a:noFill/>
          <a:ln/>
        </p:spPr>
        <p:txBody>
          <a:bodyPr wrap="square" lIns="0" tIns="0" rIns="0" bIns="0" rtlCol="0" anchor="t"/>
          <a:lstStyle/>
          <a:p>
            <a:pPr indent="0" marL="0">
              <a:buNone/>
            </a:pPr>
            <a:r>
              <a:rPr lang="en-US" sz="1400" dirty="0">
                <a:solidFill>
                  <a:schemeClr val="bg2"/>
                </a:solidFill>
              </a:rPr>
              <a:t>Build 1 km of road and the 50 m² Solar Walkway; sensors live</a:t>
            </a:r>
            <a:endParaRPr lang="en-US" sz="1400" dirty="0"/>
          </a:p>
        </p:txBody>
      </p:sp>
      <p:sp>
        <p:nvSpPr>
          <p:cNvPr id="20" name="step-hex"/>
          <p:cNvSpPr/>
          <p:nvPr/>
        </p:nvSpPr>
        <p:spPr>
          <a:xfrm>
            <a:off x="9509760" y="2148840"/>
            <a:ext cx="822960" cy="722376"/>
          </a:xfrm>
          <a:prstGeom prst="hexagon">
            <a:avLst/>
          </a:prstGeom>
          <a:solidFill>
            <a:schemeClr val="accent2"/>
          </a:solidFill>
          <a:ln w="12700">
            <a:solidFill>
              <a:schemeClr val="tx1"/>
            </a:solidFill>
            <a:prstDash val="solid"/>
          </a:ln>
        </p:spPr>
      </p:sp>
      <p:sp>
        <p:nvSpPr>
          <p:cNvPr id="21" name="Text 19"/>
          <p:cNvSpPr txBox="1"/>
          <p:nvPr/>
        </p:nvSpPr>
        <p:spPr>
          <a:xfrm>
            <a:off x="9509760" y="2148840"/>
            <a:ext cx="822960" cy="722376"/>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2" name="Text 20"/>
          <p:cNvSpPr txBox="1"/>
          <p:nvPr/>
        </p:nvSpPr>
        <p:spPr>
          <a:xfrm>
            <a:off x="9509760" y="3063240"/>
            <a:ext cx="2011680" cy="365760"/>
          </a:xfrm>
          <a:prstGeom prst="rect">
            <a:avLst/>
          </a:prstGeom>
          <a:noFill/>
          <a:ln/>
        </p:spPr>
        <p:txBody>
          <a:bodyPr wrap="square" lIns="0" tIns="0" rIns="0" bIns="0" rtlCol="0" anchor="t"/>
          <a:lstStyle/>
          <a:p>
            <a:pPr indent="0" marL="0">
              <a:buNone/>
            </a:pPr>
            <a:r>
              <a:rPr lang="en-US" sz="1500" b="1" dirty="0">
                <a:solidFill>
                  <a:schemeClr val="bg1"/>
                </a:solidFill>
              </a:rPr>
              <a:t>Jun and Dec 2027</a:t>
            </a:r>
            <a:endParaRPr lang="en-US" sz="1500" dirty="0"/>
          </a:p>
        </p:txBody>
      </p:sp>
      <p:sp>
        <p:nvSpPr>
          <p:cNvPr id="23" name="Text 21"/>
          <p:cNvSpPr txBox="1"/>
          <p:nvPr/>
        </p:nvSpPr>
        <p:spPr>
          <a:xfrm>
            <a:off x="9509760" y="3474720"/>
            <a:ext cx="2011680" cy="1371600"/>
          </a:xfrm>
          <a:prstGeom prst="rect">
            <a:avLst/>
          </a:prstGeom>
          <a:noFill/>
          <a:ln/>
        </p:spPr>
        <p:txBody>
          <a:bodyPr wrap="square" lIns="0" tIns="0" rIns="0" bIns="0" rtlCol="0" anchor="t"/>
          <a:lstStyle/>
          <a:p>
            <a:pPr indent="0" marL="0">
              <a:buNone/>
            </a:pPr>
            <a:r>
              <a:rPr lang="en-US" sz="1400" dirty="0">
                <a:solidFill>
                  <a:schemeClr val="bg2"/>
                </a:solidFill>
              </a:rPr>
              <a:t>Joint reports; decide the park-wide rate contract</a:t>
            </a:r>
            <a:endParaRPr lang="en-US" sz="1400" dirty="0"/>
          </a:p>
        </p:txBody>
      </p:sp>
      <p:sp>
        <p:nvSpPr>
          <p:cNvPr id="24" name="Text 22"/>
          <p:cNvSpPr txBox="1"/>
          <p:nvPr/>
        </p:nvSpPr>
        <p:spPr>
          <a:xfrm>
            <a:off x="548640" y="5212080"/>
            <a:ext cx="8229600" cy="731520"/>
          </a:xfrm>
          <a:prstGeom prst="rect">
            <a:avLst/>
          </a:prstGeom>
          <a:noFill/>
          <a:ln/>
        </p:spPr>
        <p:txBody>
          <a:bodyPr wrap="square" lIns="0" tIns="0" rIns="0" bIns="0" rtlCol="0" anchor="t"/>
          <a:lstStyle/>
          <a:p>
            <a:pPr indent="0" marL="0">
              <a:buNone/>
            </a:pPr>
            <a:r>
              <a:rPr lang="en-US" sz="1400" b="1" dirty="0">
                <a:solidFill>
                  <a:schemeClr val="bg1"/>
                </a:solidFill>
              </a:rPr>
              <a:t>GridMats  ·  GroundReality Enterprises Pvt Ltd, Bengaluru</a:t>
            </a:r>
            <a:endParaRPr lang="en-US" sz="1400" dirty="0"/>
          </a:p>
          <a:p>
            <a:pPr indent="0" marL="0">
              <a:buNone/>
            </a:pPr>
            <a:r>
              <a:rPr lang="en-US" sz="1400" dirty="0">
                <a:solidFill>
                  <a:schemeClr val="bg1"/>
                </a:solidFill>
              </a:rPr>
              <a:t>sales@gridmats.com  ·  +91 63626 46287  ·  www.gridmats.com</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Key assumptions and sources</a:t>
            </a:r>
            <a:endParaRPr lang="en-US" sz="3400" dirty="0"/>
          </a:p>
        </p:txBody>
      </p:sp>
      <p:sp>
        <p:nvSpPr>
          <p:cNvPr id="3" name="Text 0"/>
          <p:cNvSpPr/>
          <p:nvPr>
            <p:ph idx="101" type="body" hasCustomPrompt="1"/>
          </p:nvPr>
        </p:nvSpPr>
        <p:spPr>
          <a:xfrm>
            <a:off x="548640" y="100584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All inputs are editable in the companion model (sheet 'Inputs'). Money ex-GST, 2026 prices.</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657600"/>
                <a:gridCol w="3383280"/>
                <a:gridCol w="4050792"/>
              </a:tblGrid>
              <a:tr h="374904">
                <a:tc>
                  <a:txBody>
                    <a:bodyPr/>
                    <a:lstStyle/>
                    <a:p>
                      <a:pPr indent="0" marL="0">
                        <a:buNone/>
                      </a:pPr>
                      <a:r>
                        <a:rPr lang="en-US" sz="1200" b="1" dirty="0">
                          <a:solidFill>
                            <a:srgbClr val="FFFFFF"/>
                          </a:solidFill>
                          <a:latin typeface="Arial" pitchFamily="34" charset="0"/>
                          <a:ea typeface="Arial" pitchFamily="34" charset="-122"/>
                          <a:cs typeface="Arial" pitchFamily="34" charset="-120"/>
                        </a:rPr>
                        <a:t>Assumption</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3F3F3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Base value</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C22935"/>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Source / basis</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3F3F3F"/>
                    </a:solidFill>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Discount rate; cost escalation</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10%; 5% a year</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Assumption; 8-12% tested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Road per 100 MW; main share</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10 km; 30%</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GridMats parks flier (8-12 km)</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WBM; bitumen; concrete build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₹600; ₹2,000; ₹3,200 /m²</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TN G.O.; CPWD DSR 2023; GridMats pitch</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GridMats S1; S2 installed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₹2,029; ₹1,682 /m²</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Bottom-up, Design Engine 73 rates, grid ₹900</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WBM upkeep</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₹40/m²/yr + ₹250 every 4 yrs</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Assumption; TRL/World Bank</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Bitumen upkeep</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₹20/m²/yr + ₹450 every 5 yrs</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IRC:82-2015</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Yield; energy value</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1,870 kWh/kWp; ₹2.70/kWh</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Gujarat plant data; SECI/NTPC PPAs</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Soiling; track-dust share; cut</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3%; 15%; 70%</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Assumption; measured in the pilot</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Carbon value; grid factor</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₹700/t; 0.710 t/MWh</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India CCTS range; CEA v21.0</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r h="374904">
                <a:tc>
                  <a:txBody>
                    <a:bodyPr/>
                    <a:lstStyle/>
                    <a:p>
                      <a:pPr indent="0" marL="0">
                        <a:buNone/>
                      </a:pPr>
                      <a:r>
                        <a:rPr lang="en-US" sz="1200" b="1" dirty="0">
                          <a:solidFill>
                            <a:srgbClr val="1A1A1A"/>
                          </a:solidFill>
                          <a:latin typeface="Arial" pitchFamily="34" charset="0"/>
                          <a:ea typeface="Arial" pitchFamily="34" charset="-122"/>
                          <a:cs typeface="Arial" pitchFamily="34" charset="-120"/>
                        </a:rPr>
                        <a:t>Walkway power; PV price; yield</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160 W/m²; ₹9,500/m²; 1,150-1,300</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GridMats flier and quote; assumption</a:t>
                      </a:r>
                      <a:endParaRPr lang="en-US" sz="12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tcPr>
                </a:tc>
              </a:tr>
            </a:tbl>
          </a:graphicData>
        </a:graphic>
      </p:graphicFrame>
      <p:sp>
        <p:nvSpPr>
          <p:cNvPr id="5" name="source"/>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000" i="1" dirty="0">
                <a:solidFill>
                  <a:schemeClr val="accent4"/>
                </a:solidFill>
              </a:rPr>
              <a:t>Full source list on the model's 'Sources' sheet: GridMats master data and price ladder (Sep 2026), Systems Manual, Design Engine 73, Reliance PO/WO (2025), RIL AGM 2026 coverage, CEA, GERC/MERC, SECI, IRC.</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GridMats">
  <a:themeElements>
    <a:clrScheme name="GridMats">
      <a:dk1>
        <a:srgbClr val="1A1A1A"/>
      </a:dk1>
      <a:lt1>
        <a:srgbClr val="FFFFFF"/>
      </a:lt1>
      <a:dk2>
        <a:srgbClr val="3F3F3F"/>
      </a:dk2>
      <a:lt2>
        <a:srgbClr val="F6F6F4"/>
      </a:lt2>
      <a:accent1>
        <a:srgbClr val="C22935"/>
      </a:accent1>
      <a:accent2>
        <a:srgbClr val="1F7A3A"/>
      </a:accent2>
      <a:accent3>
        <a:srgbClr val="B87503"/>
      </a:accent3>
      <a:accent4>
        <a:srgbClr val="6F6F6F"/>
      </a:accent4>
      <a:accent5>
        <a:srgbClr val="FBEAEC"/>
      </a:accent5>
      <a:accent6>
        <a:srgbClr val="A11F2A"/>
      </a:accent6>
      <a:hlink>
        <a:srgbClr val="C22935"/>
      </a:hlink>
      <a:folHlink>
        <a:srgbClr val="A11F2A"/>
      </a:folHlink>
    </a:clrScheme>
    <a:fontScheme name="GridMat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GridMats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GridMats Solar x Reliance: cost-benefit case and pilot proposal</dc:title>
  <dc:subject>Solar-park roads, solar walkways and a pilot offer for Reliance New Energy</dc:subject>
  <dc:creator>GridMats (GroundReality Enterprises Pvt Ltd)</dc:creator>
  <cp:lastModifiedBy>GridMats (GroundReality Enterprises Pvt Ltd)</cp:lastModifiedBy>
  <cp:revision>1</cp:revision>
  <dcterms:created xsi:type="dcterms:W3CDTF">2026-10-07T07:39:46Z</dcterms:created>
  <dcterms:modified xsi:type="dcterms:W3CDTF">2026-10-07T07:39:46Z</dcterms:modified>
</cp:coreProperties>
</file>